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7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04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CeylonGo is an AI-powered tourism platform for Sri Lanka. It combines trip recommendations, itinerary planning and route-safety support in one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Tourists currently use different services to plan one trip. Our main stakeholders are tourists, hotels, activity providers and tour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apps usually focus on booking or maps. Our research connects personalized recommendations, itinerary optimization and route safety in one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 application sends trip details to the Express backend. Recommendation, itinerary and safety services process the request using Neo4j, Python AI, road data and OSRM.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contains four connected research components: smart recommendations, AI itinerary optimization, safe-route guidance and a travel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can support tourists and tourism businesses. Our next steps are user testing, better data coverage, improved model accuracy and industry partnerships.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ready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29260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50447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CeylonGo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04672" y="1437164"/>
            <a:ext cx="2528316" cy="0"/>
          </a:xfrm>
          <a:prstGeom prst="line">
            <a:avLst/>
          </a:prstGeom>
          <a:noFill/>
          <a:ln w="508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2470436"/>
            <a:ext cx="6720840" cy="102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AI-POWERED UNIFIED SRI LANKAN TOURISM PLATFORM </a:t>
            </a:r>
            <a:br>
              <a:rPr lang="en-US" sz="2700" b="1" dirty="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</a:br>
            <a:endParaRPr lang="en-US" sz="2700" b="1" dirty="0">
              <a:solidFill>
                <a:srgbClr val="146C9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/>
            <a:endParaRPr lang="en-US" sz="2700" b="1" dirty="0">
              <a:solidFill>
                <a:srgbClr val="146C9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34930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0738A"/>
                </a:solidFill>
              </a:rPr>
              <a:t>Progress Presentation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9E0"/>
                </a:solidFill>
              </a:rPr>
              <a:t>Group ID : R26-IT-050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0" y="14173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EAF4FF"/>
          </a:solidFill>
          <a:ln w="1778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634BA8-2170-143C-4C4B-9C0FA104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205" y="1388029"/>
            <a:ext cx="3558875" cy="3558875"/>
          </a:xfrm>
          <a:prstGeom prst="rect">
            <a:avLst/>
          </a:prstGeom>
        </p:spPr>
      </p:pic>
      <p:sp>
        <p:nvSpPr>
          <p:cNvPr id="28" name="Shape 8">
            <a:extLst>
              <a:ext uri="{FF2B5EF4-FFF2-40B4-BE49-F238E27FC236}">
                <a16:creationId xmlns:a16="http://schemas.microsoft.com/office/drawing/2014/main" id="{4EE8F339-5897-1121-2AFA-272B4ACC5B8E}"/>
              </a:ext>
            </a:extLst>
          </p:cNvPr>
          <p:cNvSpPr/>
          <p:nvPr/>
        </p:nvSpPr>
        <p:spPr>
          <a:xfrm>
            <a:off x="461772" y="5073364"/>
            <a:ext cx="10744200" cy="1115568"/>
          </a:xfrm>
          <a:prstGeom prst="roundRect">
            <a:avLst>
              <a:gd name="adj" fmla="val 9836"/>
            </a:avLst>
          </a:prstGeom>
          <a:solidFill>
            <a:srgbClr val="102A4C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B9C5CAF-9301-5FBC-760B-6A85432C14BF}"/>
              </a:ext>
            </a:extLst>
          </p:cNvPr>
          <p:cNvSpPr/>
          <p:nvPr/>
        </p:nvSpPr>
        <p:spPr>
          <a:xfrm>
            <a:off x="681228" y="52562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B942"/>
                </a:solidFill>
              </a:rPr>
              <a:t>IT22895196</a:t>
            </a:r>
            <a:endParaRPr lang="en-US" sz="10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05BF5BD0-BB40-E11A-CABC-BA505D76907C}"/>
              </a:ext>
            </a:extLst>
          </p:cNvPr>
          <p:cNvSpPr/>
          <p:nvPr/>
        </p:nvSpPr>
        <p:spPr>
          <a:xfrm>
            <a:off x="681228" y="54848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Deniyawatte D.G.A.D.N</a:t>
            </a:r>
            <a:endParaRPr lang="en-US" sz="10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772FB975-C3BE-99D6-87E8-0BF0C241B10E}"/>
              </a:ext>
            </a:extLst>
          </p:cNvPr>
          <p:cNvSpPr/>
          <p:nvPr/>
        </p:nvSpPr>
        <p:spPr>
          <a:xfrm>
            <a:off x="681228" y="57317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Intelligent Tour Package Generation</a:t>
            </a: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CDD4AC0A-2ED8-7206-64BA-D088FB898B50}"/>
              </a:ext>
            </a:extLst>
          </p:cNvPr>
          <p:cNvSpPr/>
          <p:nvPr/>
        </p:nvSpPr>
        <p:spPr>
          <a:xfrm>
            <a:off x="3332988" y="52562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B942"/>
                </a:solidFill>
              </a:rPr>
              <a:t>IT22555458</a:t>
            </a:r>
            <a:endParaRPr lang="en-US" sz="10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8534A62-9C08-DC28-E989-FEF92360A247}"/>
              </a:ext>
            </a:extLst>
          </p:cNvPr>
          <p:cNvSpPr/>
          <p:nvPr/>
        </p:nvSpPr>
        <p:spPr>
          <a:xfrm>
            <a:off x="3332988" y="54848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Wijesinghe I.D.W.</a:t>
            </a:r>
            <a:endParaRPr lang="en-US" sz="10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5938DD00-F6D3-ABAF-1C45-07F045EF6638}"/>
              </a:ext>
            </a:extLst>
          </p:cNvPr>
          <p:cNvSpPr/>
          <p:nvPr/>
        </p:nvSpPr>
        <p:spPr>
          <a:xfrm>
            <a:off x="3332988" y="57317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Intelligent Mobility, Route-Risk &amp; Vehicle Selection</a:t>
            </a: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063F86CE-94FA-49AF-7844-C82D1D45A048}"/>
              </a:ext>
            </a:extLst>
          </p:cNvPr>
          <p:cNvSpPr/>
          <p:nvPr/>
        </p:nvSpPr>
        <p:spPr>
          <a:xfrm>
            <a:off x="5984748" y="52562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B942"/>
                </a:solidFill>
              </a:rPr>
              <a:t>IT22224866</a:t>
            </a:r>
            <a:endParaRPr lang="en-US" sz="10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84A9185D-F430-812B-0C93-042A31F0E984}"/>
              </a:ext>
            </a:extLst>
          </p:cNvPr>
          <p:cNvSpPr/>
          <p:nvPr/>
        </p:nvSpPr>
        <p:spPr>
          <a:xfrm>
            <a:off x="5984748" y="54848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Kumarasinghe K.G.A.M.S.D.C.</a:t>
            </a:r>
            <a:endParaRPr lang="en-US" sz="10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4AA4D48-5138-A420-15A0-021151A60CF4}"/>
              </a:ext>
            </a:extLst>
          </p:cNvPr>
          <p:cNvSpPr/>
          <p:nvPr/>
        </p:nvSpPr>
        <p:spPr>
          <a:xfrm>
            <a:off x="5984748" y="57317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Context-Aware Itinerary Optimizer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82841487-040E-B7D7-B586-892B27E3FAB8}"/>
              </a:ext>
            </a:extLst>
          </p:cNvPr>
          <p:cNvSpPr/>
          <p:nvPr/>
        </p:nvSpPr>
        <p:spPr>
          <a:xfrm>
            <a:off x="8636508" y="52562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B942"/>
                </a:solidFill>
              </a:rPr>
              <a:t>IT22214720</a:t>
            </a:r>
            <a:endParaRPr lang="en-US" sz="10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F9FF54FF-CD61-1032-19C3-382E595E78BD}"/>
              </a:ext>
            </a:extLst>
          </p:cNvPr>
          <p:cNvSpPr/>
          <p:nvPr/>
        </p:nvSpPr>
        <p:spPr>
          <a:xfrm>
            <a:off x="8636508" y="54848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Madushan M.</a:t>
            </a:r>
            <a:endParaRPr lang="en-US" sz="10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C9449D49-4B53-50EE-6B91-DA61D6E8E1A7}"/>
              </a:ext>
            </a:extLst>
          </p:cNvPr>
          <p:cNvSpPr/>
          <p:nvPr/>
        </p:nvSpPr>
        <p:spPr>
          <a:xfrm>
            <a:off x="8636508" y="57317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AI Landmark Recognition &amp; Tourist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023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Stakeholders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27080" y="384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74650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69E0"/>
                </a:solidFill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1901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B3A"/>
                </a:solidFill>
              </a:rPr>
              <a:t>Tourists use several services to plan one trip.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69E0"/>
                </a:solidFill>
              </a:rPr>
              <a:t>•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B3A"/>
                </a:solidFill>
              </a:rPr>
              <a:t>Manual trip planning takes time and effort.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4652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Key Stakeholders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74650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69E0"/>
                </a:solidFill>
              </a:rPr>
              <a:t>•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12280" y="19019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B3A"/>
                </a:solidFill>
              </a:rPr>
              <a:t>Local and foreign tourists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69E0"/>
                </a:solidFill>
              </a:rPr>
              <a:t>•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12280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D2B3A"/>
                </a:solidFill>
              </a:rPr>
              <a:t>Hotels, activity providers and tour operators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Observed Issues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21538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43708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Recommendations, itineraries and safety are not connected.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50109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Route safety is often ignored during trip planning.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023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27080" y="384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Existing apps focus on booking, maps or general travel information.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3591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34086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Few systems combine personalized recommendations, itinerary optimization and route safety.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1455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1272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Trip planning is not connected from user preferences to a final plan.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9E0"/>
                </a:solidFill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9136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D2B3A"/>
                </a:solidFill>
              </a:rPr>
              <a:t>Limited integration exists between mobile apps, GraphRAG, AI models, graph databases and live route services.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05840" y="5074920"/>
            <a:ext cx="9875520" cy="0"/>
          </a:xfrm>
          <a:prstGeom prst="line">
            <a:avLst/>
          </a:prstGeom>
          <a:noFill/>
          <a:ln w="1524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5440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69E0"/>
                </a:solidFill>
              </a:rPr>
              <a:t>Our focus: one connected trip-planning journey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023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27080" y="384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00600" y="1216152"/>
            <a:ext cx="2560320" cy="438912"/>
          </a:xfrm>
          <a:prstGeom prst="roundRect">
            <a:avLst>
              <a:gd name="adj" fmla="val 18750"/>
            </a:avLst>
          </a:prstGeom>
          <a:solidFill>
            <a:srgbClr val="0B2A4A"/>
          </a:solidFill>
          <a:ln w="1397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89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Traveler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EAF4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947672"/>
            <a:ext cx="5212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</a:rPr>
              <a:t>CeylonGo 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</a:rPr>
              <a:t>React Native / Expo + React Navigation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2880360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F5FA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53512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A4A"/>
                </a:solidFill>
              </a:rPr>
              <a:t>Express API :5001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80760" y="1664208"/>
            <a:ext cx="0" cy="201168"/>
          </a:xfrm>
          <a:prstGeom prst="line">
            <a:avLst/>
          </a:prstGeom>
          <a:noFill/>
          <a:ln w="1524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0760" y="2468880"/>
            <a:ext cx="0" cy="384048"/>
          </a:xfrm>
          <a:prstGeom prst="line">
            <a:avLst/>
          </a:prstGeom>
          <a:noFill/>
          <a:ln w="1524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2697480" y="3364993"/>
            <a:ext cx="3383280" cy="502919"/>
          </a:xfrm>
          <a:prstGeom prst="line">
            <a:avLst/>
          </a:prstGeom>
          <a:noFill/>
          <a:ln w="1270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4937760" y="3401568"/>
            <a:ext cx="1143000" cy="466345"/>
          </a:xfrm>
          <a:prstGeom prst="line">
            <a:avLst/>
          </a:prstGeom>
          <a:noFill/>
          <a:ln w="1270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3401568"/>
            <a:ext cx="1005840" cy="502920"/>
          </a:xfrm>
          <a:prstGeom prst="line">
            <a:avLst/>
          </a:prstGeom>
          <a:noFill/>
          <a:ln w="1270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3401568"/>
            <a:ext cx="3566160" cy="502920"/>
          </a:xfrm>
          <a:prstGeom prst="line">
            <a:avLst/>
          </a:prstGeom>
          <a:noFill/>
          <a:ln w="12700">
            <a:solidFill>
              <a:srgbClr val="6073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80160" y="3950208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Package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IT22895196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89888" y="472744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Ollama llama3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Neo4j graph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554480" y="4572000"/>
            <a:ext cx="1371600" cy="0"/>
          </a:xfrm>
          <a:prstGeom prst="line">
            <a:avLst/>
          </a:prstGeom>
          <a:noFill/>
          <a:ln w="1905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0" y="3950208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947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Mobility / Safety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IT22555458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67328" y="472744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OSRM + Nominatim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Road/Vehicle CSV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Gradient Boosting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31920" y="4572000"/>
            <a:ext cx="1371600" cy="0"/>
          </a:xfrm>
          <a:prstGeom prst="line">
            <a:avLst/>
          </a:prstGeom>
          <a:noFill/>
          <a:ln w="1905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3950208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Itinerary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IT22224866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6208" y="472744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Flask :5002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places.csv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Cosine + GA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4572000"/>
            <a:ext cx="1371600" cy="0"/>
          </a:xfrm>
          <a:prstGeom prst="line">
            <a:avLst/>
          </a:prstGeom>
          <a:noFill/>
          <a:ln w="1905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86800" y="3950208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397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239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Landmark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69E0"/>
                </a:solidFill>
              </a:rPr>
              <a:t>IT22214720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96528" y="472744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Flask /predict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B3A"/>
                </a:solidFill>
              </a:rPr>
              <a:t>TFLite + CSV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61120" y="4572000"/>
            <a:ext cx="1371600" cy="0"/>
          </a:xfrm>
          <a:prstGeom prst="line">
            <a:avLst/>
          </a:prstGeom>
          <a:noFill/>
          <a:ln w="1905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614476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38A"/>
                </a:solidFill>
              </a:rPr>
              <a:t>Data layer: Neo4j, optional MongoDB, CSV datasets, joblib/TFLite artifacts   |   External APIs: OSRM, Nominatim, Geocodio, OpenWeather, Gemini, Ollama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29260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023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Components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27080" y="384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4538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9E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Intelligent Tour Package Generation</a:t>
            </a:r>
          </a:p>
        </p:txBody>
      </p:sp>
      <p:sp>
        <p:nvSpPr>
          <p:cNvPr id="9" name="Text 7"/>
          <p:cNvSpPr/>
          <p:nvPr/>
        </p:nvSpPr>
        <p:spPr>
          <a:xfrm>
            <a:off x="5669280" y="1453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2B3A"/>
                </a:solidFill>
              </a:rPr>
              <a:t>Hotels and activities using GraphRAG.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2075688"/>
            <a:ext cx="9875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5511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9E0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/>
              <a:t>Context-Aware Itinerary Optimizer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25511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2B3A"/>
                </a:solidFill>
              </a:rPr>
              <a:t>Schedules based on time and interests.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60120" y="3172968"/>
            <a:ext cx="9875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6484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9E0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/>
              <a:t>Intelligent Mobility &amp; Vehicle Selection</a:t>
            </a:r>
          </a:p>
        </p:txBody>
      </p:sp>
      <p:sp>
        <p:nvSpPr>
          <p:cNvPr id="17" name="Text 15"/>
          <p:cNvSpPr/>
          <p:nvPr/>
        </p:nvSpPr>
        <p:spPr>
          <a:xfrm>
            <a:off x="5669280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2B3A"/>
                </a:solidFill>
              </a:rPr>
              <a:t>Route-risk class and vehicle guidance.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60120" y="4270248"/>
            <a:ext cx="9875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7457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9E0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AI Landmark Recognition &amp; Tourist Information</a:t>
            </a:r>
          </a:p>
        </p:txBody>
      </p:sp>
      <p:sp>
        <p:nvSpPr>
          <p:cNvPr id="21" name="Text 19"/>
          <p:cNvSpPr/>
          <p:nvPr/>
        </p:nvSpPr>
        <p:spPr>
          <a:xfrm>
            <a:off x="5669280" y="4745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2B3A"/>
                </a:solidFill>
              </a:rPr>
              <a:t>One connected trip-planning experience.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023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27080" y="3840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B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Target Users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165506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Local and foreign tourists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368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350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Tour operators and travel agencies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935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Hotels and activity providers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Value Proposition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65506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801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One connected trip-planning platform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368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2350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Personalized plans with route-safety support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9E0"/>
                </a:solidFill>
              </a:rPr>
              <a:t>Adoption Plan / Next Steps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4398264"/>
            <a:ext cx="2743200" cy="0"/>
          </a:xfrm>
          <a:prstGeom prst="line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5445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45262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Pilot test with real users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" y="5111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50932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Improve data coverage and model accuracy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56784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</a:rPr>
              <a:t>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34440" y="56601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B3A"/>
                </a:solidFill>
              </a:rPr>
              <a:t>Partner with tourism businesses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800600" y="3429000"/>
            <a:ext cx="2606040" cy="0"/>
          </a:xfrm>
          <a:prstGeom prst="line">
            <a:avLst/>
          </a:prstGeom>
          <a:noFill/>
          <a:ln w="50800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569</Words>
  <Application>Microsoft Macintosh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CeylonGo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CeylonGo PP2 White Blue Clear Redesign</dc:title>
  <dc:subject>CeylonGo PP2 redesigned white and blue deck</dc:subject>
  <dc:creator>OpenAI</dc:creator>
  <cp:lastModifiedBy>WIJESINGHE I.D.W. it22555458</cp:lastModifiedBy>
  <cp:revision>3</cp:revision>
  <dcterms:created xsi:type="dcterms:W3CDTF">2026-08-30T16:48:59Z</dcterms:created>
  <dcterms:modified xsi:type="dcterms:W3CDTF">2026-08-31T07:17:50Z</dcterms:modified>
</cp:coreProperties>
</file>