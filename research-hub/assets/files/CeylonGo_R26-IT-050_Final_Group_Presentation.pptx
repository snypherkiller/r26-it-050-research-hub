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8"/>
    <p:sldId id="258" r:id="rId7"/>
    <p:sldId id="259" r:id="rId6"/>
    <p:sldId id="260" r:id="rId5"/>
    <p:sldId id="261" r:id="rId4"/>
    <p:sldId id="262" r:id="rId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79"/>
    <p:restoredTop sz="94610"/>
  </p:normalViewPr>
  <p:slideViewPr>
    <p:cSldViewPr snapToGrid="0" snapToObjects="1">
      <p:cViewPr varScale="1">
        <p:scale>
          <a:sx n="127" d="100"/>
          <a:sy n="127" d="100"/>
        </p:scale>
        <p:origin x="4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044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We are research group R26-IT-050, and our project is CeylonGo: an AI-powered unified Sri Lankan tourism platform. The four of us worked on tour package generation, mobility and route-risk assessment, itinerary optimization, and landmark recognition. We will present our research problem, implementation, verified experimental results and limitations.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group has four research members. The first component generates hotel-centred tour packages, the second evaluates historical route-risk severity and matches vehicles, the third builds feasible itineraries, and the fourth recognises landmarks and provides visitor information. Each has its own evaluation method and technical contribution.</a:t>
            </a:r>
          </a:p>
          <a:p/>
          <a:p>
            <a:r>
              <a:t>Repository evidence: README.md; PP2 title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Tour planning currently involves several disconnected decisions. A traveller may choose hotels, points of interest and transport independently, although these choices affect each other. Sri Lankan tourism data is incomplete in some locations, and trip timing, affordability and historical hazard conditions need context. CeylonGo connects these decisions in one research prototype.</a:t>
            </a:r>
          </a:p>
          <a:p/>
          <a:p>
            <a:r>
              <a:t>Repository evidence: Codex extraction §1, §3; PP2 problem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objective is to design and evaluate a unified Sri Lankan tourism platform. Each component addresses a related research need: graph-backed preference matching, time-constrained itinerary construction, evidence-qualified mobility recommendations, and image-based landmark guidance. These are project design motivations, not a claim that other applications never provide these capabilities.</a:t>
            </a:r>
          </a:p>
          <a:p/>
          <a:p>
            <a:r>
              <a:t>Repository evidence: Codex extraction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Expo application is the shared frontend. Tour package generation uses Express, Ollama and Neo4j. Mobility calls Express and a Python classification model, alongside routing and graph evidence. Itinerary generation uses Express and a Flask optimization service. Landmark recognition is reached through a direct Flask API from its scanner screen. Importantly, selected hotels and ordered itinerary stops can be handed to mobility, but the four components are not one fully automatic sequential chain.</a:t>
            </a:r>
          </a:p>
          <a:p/>
          <a:p>
            <a:r>
              <a:t>Repository evidence: frontend/App.js; backend/src/app.js; Codex extraction §3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package component uses 1,830 hotel rows and 2,000 activity rows. Mobility has 1,000 roads, 598 disaster rows and 200 vehicle rows, with 598 derived training cases. Itinerary currently loads 158 active, source-traced Central Province points of interest and was evaluated for relevance with a much narrower set. Landmark experiments used 5,500 images across 17 classes with a train-validation split. These numbers measure different things and must not be added into one platform accuracy.</a:t>
            </a:r>
          </a:p>
          <a:p/>
          <a:p>
            <a:r>
              <a:t>Repository evidence: Hotel CSV; Activities-Rag.csv; model_comparison_results.csv; central_province_runtime_verified_v3.csv; Landmark_Recognition.ipynb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component translates traveller requests into structured tourism preferences, such as district, hotel category and suitable activities. It uses a language model, but then validates its output against known schema values. Neo4j connects hotels with activities and package candidates. The selected-hotel step also leads to availability-aware pricing and mobility.</a:t>
            </a:r>
          </a:p>
          <a:p/>
          <a:p>
            <a:r>
              <a:t>Repository evidence: package.service.js; llm/extractor.service.js; hotelData.controller.js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implementation extracts and validates preferences, retrieves graph-linked hotels and activities, then deterministically ranks and returns up to three packages. The dataset has 1,830 hotel rows and 2,000 activities. These are data coverage facts, not recommendation accuracy. Limitations include approximate district-based activity relationships and unmeasured package relevance.</a:t>
            </a:r>
          </a:p>
          <a:p/>
          <a:p>
            <a:r>
              <a:t>Repository evidence: backend/src/services/package.service.js; backend/src/services/liteApiHotelPricing.service.js; backend/tests/liteapi-hotel-pricing.test.js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component supports travellers in selecting routes and vehicles while being explicit about uncertainty. It uses historical hazard and road evidence with a Gradient Boosting model to classify low, medium or high severity. It can consider OSRM alternatives and only claim a meaningful comparison when sufficient distinct evidence exists. Vehicle recommendations also consider passenger count and total budget.</a:t>
            </a:r>
          </a:p>
          <a:p/>
          <a:p>
            <a:r>
              <a:t>Repository evidence: safetyAnalysis.service.js; train_models_v2.py; itinerarySafety.controller.js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stored route-group held-out evaluation reports 88.20 percent accuracy, 0.8780 macro F1 and 0.9074 macro recall for three-class severity prediction. Inputs include road and terrain attributes, hazard occurrence, season and data availability. OSRM supplies route alternatives, while deterministic constraints handle vehicle capacity and estimated cost. Weather is an advisory rather than a trained model feature. Missing road evidence and label limitations mean we must not claim a route is guaranteed safe.</a:t>
            </a:r>
          </a:p>
          <a:p/>
          <a:p>
            <a:r>
              <a:t>Repository evidence: backend/src/ai-engine/data/model_comparison_results.csv; safetyAnalysis.service.js; backend/src/ai-engine/scripts/train_models_v2.py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component creates preference-relevant itineraries while checking practical time constraints. A frozen Linear SVM relevance gate and a content-based fallback determine which attractions match the traveller. A genetic search selects stops, and the road-time scheduler checks departure times, travel times, breaks and other available constraints. Regeneration can retain accepted stops.</a:t>
            </a:r>
          </a:p>
          <a:p/>
          <a:p>
            <a:r>
              <a:t>Repository evidence: backend/src/ai_service/model.py; backend/src/ai_service/road_routing.py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active itinerary catalogue has 158 source-traced points of interest: 60 in Kandy, 53 in Matale and 45 in Nuwara Eliya. The default relevance model is a frozen Linear SVM, not a claimed high-accuracy new model. In a narrow v1 human-reviewed evaluation with 60 pairs, accuracy was 68.33 percent and macro F1 was 0.5196. The genetic step searches stop combinations and the OSRM stage schedules the trip. We do not claim global optimality or measured field-trip reliability.</a:t>
            </a:r>
          </a:p>
          <a:p/>
          <a:p>
            <a:r>
              <a:t>Repository evidence: backend/src/ai_service/data/verified/central_province_runtime_verified_v3.csv; user_poi_relevance_model_report_v1.md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component lets travellers capture or upload an image and obtain a supported Sri Lankan landmark prediction. A MobileNetV2 feature extractor is paired with an SVM, with a separate TFLite fallback path. The predicted class is matched to structured tourism information and optionally a contextual conversational guide. This does not mean the model recognises all Sri Lankan landmarks.</a:t>
            </a:r>
          </a:p>
          <a:p/>
          <a:p>
            <a:r>
              <a:t>Repository evidence: backend/src/ai_service/landmark_routes.py; Landmark_Recognition.ipynb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landmark experiment used 5,500 images from 17 classes with 4,400 training and 1,100 validation images. In the notebook, the SVM approach reported 93.18 percent validation accuracy and 93.23 percent weighted F1. The deployed inference code has a possible feature-extractor mismatch compared with the notebook, so we cannot present these numbers as live deployed accuracy. The application also links predicted landmark classes to a 381-row information CSV and offers contextual assistance.</a:t>
            </a:r>
          </a:p>
          <a:p/>
          <a:p>
            <a:r>
              <a:t>Repository evidence: data-scripts/Landmark_Recognition.ipynb; backend/src/ai_service/landmark_routes.py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connected journey goes from traveller preferences through hotel and activity recommendations to selected-hotel mobility inputs. The second sends an ordered itinerary to safety analysis for leg-by-leg risk summaries and whole-plan vehicle matching. Landmark recognition opens separately in the same application and adds tourist information. Tests and source inspection support this wiring, but a newly reproduced full live integration pass was not part of the Codex audit.</a:t>
            </a:r>
          </a:p>
          <a:p/>
          <a:p>
            <a:r>
              <a:t>Repository evidence: frontend/App.js; backend/tests/itinerary-safety.integration.test.js; Codex extraction §3 and §5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report separate verified evidence per component. The first component shows dataset coverage but no measured recommendation accuracy. The mobility Gradient Boosting model has route-group held-out classification results. The itinerary relevance classifier has a narrow evaluation with reviewed pairs. The landmark numbers are notebook validation results, not deployment accuracy. For these reasons we never combine the numbers into a single platform accuracy.</a:t>
            </a:r>
          </a:p>
          <a:p/>
          <a:p>
            <a:r>
              <a:t>Repository evidence: Codex extraction §5; source experiment reports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prototype could eventually serve domestic and international travellers, travel operators, and tourism businesses. Its value is connecting planning, risk context and landmark information. Potential monetisation includes business subscriptions, referral partnerships and API licensing. These are future business proposals: this project does not yet have measured commercial demand, proven revenue, or verified customer adoption.</a:t>
            </a:r>
          </a:p>
          <a:p/>
          <a:p>
            <a:r>
              <a:t>Repository evidence: PP2 commercialization slide; Codex extraction §6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system remains a research prototype. Package recommendation quality has not yet been formally measured; mobility risk labels rely on limited road evidence and should not be interpreted as accident probabilities. Itinerary relevance evaluation is narrow, and real-world schedule outcomes need observation. For landmarks, deployed feature extraction needs to match the experiment and be independently tested. Future work includes field trials, broader reviewed datasets, reproducibility and stronger privacy practices.</a:t>
            </a:r>
          </a:p>
          <a:p/>
          <a:p>
            <a:r>
              <a:t>Repository evidence: Codex extraction §2 limitations and §7</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CeylonGo demonstrates four integrated tourism capabilities: graph-backed packages, evidence-based mobility recommendations, time-aware itineraries, and landmark recognition linked to tourist guidance. We have documented component-level numerical evidence and have been clear about which results are dataset counts, held-out predictions or notebook validation. The next stage is rigorous deployment verification and real-user field evaluation. Thank you, and we welcome your questions.</a:t>
            </a:r>
          </a:p>
          <a:p/>
          <a:p>
            <a:r>
              <a:t>Repository evidence: Codex extraction §7</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146304"/>
          </a:xfrm>
          <a:prstGeom prst="rect">
            <a:avLst/>
          </a:prstGeom>
          <a:solidFill>
            <a:srgbClr val="1769E0"/>
          </a:solidFill>
          <a:ln w="12700">
            <a:solidFill>
              <a:srgbClr val="1769E0">
                <a:alpha val="0"/>
              </a:srgbClr>
            </a:solidFill>
            <a:prstDash val="solid"/>
          </a:ln>
        </p:spPr>
        <p:txBody>
          <a:bodyPr/>
          <a:lstStyle/>
          <a:p>
            <a:endParaRPr lang="en-US"/>
          </a:p>
        </p:txBody>
      </p:sp>
      <p:sp>
        <p:nvSpPr>
          <p:cNvPr id="4" name="Text 2"/>
          <p:cNvSpPr/>
          <p:nvPr/>
        </p:nvSpPr>
        <p:spPr>
          <a:xfrm>
            <a:off x="804672" y="504476"/>
            <a:ext cx="5943600" cy="822960"/>
          </a:xfrm>
          <a:prstGeom prst="rect">
            <a:avLst/>
          </a:prstGeom>
          <a:noFill/>
          <a:ln/>
        </p:spPr>
        <p:txBody>
          <a:bodyPr wrap="square" lIns="0" tIns="0" rIns="0" bIns="0" rtlCol="0" anchor="ctr"/>
          <a:lstStyle/>
          <a:p>
            <a:pPr marL="0" indent="0">
              <a:buNone/>
            </a:pPr>
            <a:r>
              <a:rPr lang="en-US" sz="5000" b="1" dirty="0">
                <a:solidFill>
                  <a:srgbClr val="0B2A4A"/>
                </a:solidFill>
                <a:latin typeface="Aptos Display" pitchFamily="34" charset="0"/>
                <a:ea typeface="Aptos Display" pitchFamily="34" charset="-122"/>
                <a:cs typeface="Aptos Display" pitchFamily="34" charset="-120"/>
              </a:rPr>
              <a:t>CeylonGo</a:t>
            </a:r>
            <a:endParaRPr lang="en-US" sz="5000" dirty="0"/>
          </a:p>
        </p:txBody>
      </p:sp>
      <p:sp>
        <p:nvSpPr>
          <p:cNvPr id="5" name="Shape 3"/>
          <p:cNvSpPr/>
          <p:nvPr/>
        </p:nvSpPr>
        <p:spPr>
          <a:xfrm>
            <a:off x="804672" y="1437164"/>
            <a:ext cx="2528316" cy="0"/>
          </a:xfrm>
          <a:prstGeom prst="line">
            <a:avLst/>
          </a:prstGeom>
          <a:noFill/>
          <a:ln w="50800">
            <a:solidFill>
              <a:srgbClr val="1769E0"/>
            </a:solidFill>
            <a:prstDash val="solid"/>
          </a:ln>
        </p:spPr>
        <p:txBody>
          <a:bodyPr/>
          <a:lstStyle/>
          <a:p>
            <a:endParaRPr lang="en-US"/>
          </a:p>
        </p:txBody>
      </p:sp>
      <p:sp>
        <p:nvSpPr>
          <p:cNvPr id="6" name="Text 4"/>
          <p:cNvSpPr/>
          <p:nvPr/>
        </p:nvSpPr>
        <p:spPr>
          <a:xfrm>
            <a:off x="411480" y="2470436"/>
            <a:ext cx="6720840" cy="1022572"/>
          </a:xfrm>
          <a:prstGeom prst="rect">
            <a:avLst/>
          </a:prstGeom>
          <a:noFill/>
          <a:ln/>
        </p:spPr>
        <p:txBody>
          <a:bodyPr wrap="square" lIns="0" tIns="0" rIns="0" bIns="0" rtlCol="0" anchor="ctr"/>
          <a:lstStyle/>
          <a:p>
            <a:pPr algn="ctr"/>
            <a:r>
              <a:rPr sz="2300" b="1">
                <a:solidFill>
                  <a:srgbClr val="146C94"/>
                </a:solidFill>
                <a:latin typeface="Poppins"/>
              </a:rPr>
              <a:t>AI-POWERED UNIFIED SRI LANKAN</a:t>
            </a:r>
          </a:p>
          <a:p>
            <a:pPr algn="ctr"/>
            <a:r>
              <a:rPr sz="2300" b="1">
                <a:solidFill>
                  <a:srgbClr val="146C94"/>
                </a:solidFill>
                <a:latin typeface="Poppins"/>
              </a:rPr>
              <a:t>TOURISM PLATFORM</a:t>
            </a:r>
          </a:p>
        </p:txBody>
      </p:sp>
      <p:sp>
        <p:nvSpPr>
          <p:cNvPr id="7" name="Text 5"/>
          <p:cNvSpPr/>
          <p:nvPr/>
        </p:nvSpPr>
        <p:spPr>
          <a:xfrm>
            <a:off x="804672" y="3493008"/>
            <a:ext cx="5029200" cy="329184"/>
          </a:xfrm>
          <a:prstGeom prst="rect">
            <a:avLst/>
          </a:prstGeom>
          <a:noFill/>
          <a:ln/>
        </p:spPr>
        <p:txBody>
          <a:bodyPr wrap="square" lIns="0" tIns="0" rIns="0" bIns="0" rtlCol="0" anchor="ctr"/>
          <a:lstStyle/>
          <a:p>
            <a:r>
              <a:rPr sz="2000">
                <a:solidFill>
                  <a:srgbClr val="60738A"/>
                </a:solidFill>
                <a:latin typeface="Aptos"/>
              </a:rPr>
              <a:t>Final Group Research Presentation</a:t>
            </a:r>
          </a:p>
        </p:txBody>
      </p:sp>
      <p:sp>
        <p:nvSpPr>
          <p:cNvPr id="8" name="Text 6"/>
          <p:cNvSpPr/>
          <p:nvPr/>
        </p:nvSpPr>
        <p:spPr>
          <a:xfrm>
            <a:off x="804672" y="4041648"/>
            <a:ext cx="3749040" cy="310896"/>
          </a:xfrm>
          <a:prstGeom prst="rect">
            <a:avLst/>
          </a:prstGeom>
          <a:noFill/>
          <a:ln/>
        </p:spPr>
        <p:txBody>
          <a:bodyPr wrap="square" lIns="0" tIns="0" rIns="0" bIns="0" rtlCol="0" anchor="ctr"/>
          <a:lstStyle/>
          <a:p>
            <a:pPr marL="0" indent="0">
              <a:buNone/>
            </a:pPr>
            <a:r>
              <a:rPr lang="en-US" sz="1800" b="1" dirty="0">
                <a:solidFill>
                  <a:srgbClr val="1769E0"/>
                </a:solidFill>
              </a:rPr>
              <a:t>Group ID : R26-IT-050</a:t>
            </a:r>
            <a:endParaRPr lang="en-US" sz="1800" dirty="0"/>
          </a:p>
        </p:txBody>
      </p:sp>
      <p:sp>
        <p:nvSpPr>
          <p:cNvPr id="9" name="Shape 7"/>
          <p:cNvSpPr/>
          <p:nvPr/>
        </p:nvSpPr>
        <p:spPr>
          <a:xfrm>
            <a:off x="7315200" y="1417320"/>
            <a:ext cx="3611880" cy="3383280"/>
          </a:xfrm>
          <a:prstGeom prst="roundRect">
            <a:avLst>
              <a:gd name="adj" fmla="val 3243"/>
            </a:avLst>
          </a:prstGeom>
          <a:solidFill>
            <a:srgbClr val="EAF4FF"/>
          </a:solidFill>
          <a:ln w="17780">
            <a:solidFill>
              <a:srgbClr val="B8D8FF"/>
            </a:solidFill>
            <a:prstDash val="solid"/>
          </a:ln>
        </p:spPr>
        <p:txBody>
          <a:bodyPr/>
          <a:lstStyle/>
          <a:p>
            <a:endParaRPr lang="en-US"/>
          </a:p>
        </p:txBody>
      </p:sp>
      <p:pic>
        <p:nvPicPr>
          <p:cNvPr id="14" name="Picture 13">
            <a:extLst>
              <a:ext uri="{FF2B5EF4-FFF2-40B4-BE49-F238E27FC236}">
                <a16:creationId xmlns:a16="http://schemas.microsoft.com/office/drawing/2014/main" id="{8F634BA8-2170-143C-4C4B-9C0FA1043B90}"/>
              </a:ext>
            </a:extLst>
          </p:cNvPr>
          <p:cNvPicPr>
            <a:picLocks noChangeAspect="1"/>
          </p:cNvPicPr>
          <p:nvPr/>
        </p:nvPicPr>
        <p:blipFill>
          <a:blip r:embed="rId3"/>
          <a:stretch>
            <a:fillRect/>
          </a:stretch>
        </p:blipFill>
        <p:spPr>
          <a:xfrm>
            <a:off x="7368205" y="1388029"/>
            <a:ext cx="3558875" cy="3558875"/>
          </a:xfrm>
          <a:prstGeom prst="rect">
            <a:avLst/>
          </a:prstGeom>
        </p:spPr>
      </p:pic>
      <p:sp>
        <p:nvSpPr>
          <p:cNvPr id="28" name="Shape 8">
            <a:extLst>
              <a:ext uri="{FF2B5EF4-FFF2-40B4-BE49-F238E27FC236}">
                <a16:creationId xmlns:a16="http://schemas.microsoft.com/office/drawing/2014/main" id="{4EE8F339-5897-1121-2AFA-272B4ACC5B8E}"/>
              </a:ext>
            </a:extLst>
          </p:cNvPr>
          <p:cNvSpPr/>
          <p:nvPr/>
        </p:nvSpPr>
        <p:spPr>
          <a:xfrm>
            <a:off x="461772" y="5073364"/>
            <a:ext cx="10744200" cy="1115568"/>
          </a:xfrm>
          <a:prstGeom prst="roundRect">
            <a:avLst>
              <a:gd name="adj" fmla="val 9836"/>
            </a:avLst>
          </a:prstGeom>
          <a:solidFill>
            <a:srgbClr val="102A4C"/>
          </a:solidFill>
          <a:ln w="12700">
            <a:solidFill>
              <a:srgbClr val="234D7A"/>
            </a:solidFill>
            <a:prstDash val="solid"/>
          </a:ln>
        </p:spPr>
        <p:txBody>
          <a:bodyPr/>
          <a:lstStyle/>
          <a:p>
            <a:endParaRPr lang="en-US" dirty="0"/>
          </a:p>
        </p:txBody>
      </p:sp>
      <p:sp>
        <p:nvSpPr>
          <p:cNvPr id="29" name="Text 9">
            <a:extLst>
              <a:ext uri="{FF2B5EF4-FFF2-40B4-BE49-F238E27FC236}">
                <a16:creationId xmlns:a16="http://schemas.microsoft.com/office/drawing/2014/main" id="{3B9C5CAF-9301-5FBC-760B-6A85432C14BF}"/>
              </a:ext>
            </a:extLst>
          </p:cNvPr>
          <p:cNvSpPr/>
          <p:nvPr/>
        </p:nvSpPr>
        <p:spPr>
          <a:xfrm>
            <a:off x="681228" y="5256244"/>
            <a:ext cx="1188720" cy="164592"/>
          </a:xfrm>
          <a:prstGeom prst="rect">
            <a:avLst/>
          </a:prstGeom>
          <a:noFill/>
          <a:ln/>
        </p:spPr>
        <p:txBody>
          <a:bodyPr wrap="square" lIns="0" tIns="0" rIns="0" bIns="0" rtlCol="0" anchor="ctr"/>
          <a:lstStyle/>
          <a:p>
            <a:pPr marL="0" indent="0">
              <a:buNone/>
            </a:pPr>
            <a:r>
              <a:rPr lang="en-US" sz="1000" b="1" dirty="0">
                <a:solidFill>
                  <a:srgbClr val="F5B942"/>
                </a:solidFill>
              </a:rPr>
              <a:t>IT22895196</a:t>
            </a:r>
            <a:endParaRPr lang="en-US" sz="1000" dirty="0"/>
          </a:p>
        </p:txBody>
      </p:sp>
      <p:sp>
        <p:nvSpPr>
          <p:cNvPr id="30" name="Text 10">
            <a:extLst>
              <a:ext uri="{FF2B5EF4-FFF2-40B4-BE49-F238E27FC236}">
                <a16:creationId xmlns:a16="http://schemas.microsoft.com/office/drawing/2014/main" id="{05BF5BD0-BB40-E11A-CABC-BA505D76907C}"/>
              </a:ext>
            </a:extLst>
          </p:cNvPr>
          <p:cNvSpPr/>
          <p:nvPr/>
        </p:nvSpPr>
        <p:spPr>
          <a:xfrm>
            <a:off x="681228" y="5484844"/>
            <a:ext cx="2331720" cy="182880"/>
          </a:xfrm>
          <a:prstGeom prst="rect">
            <a:avLst/>
          </a:prstGeom>
          <a:noFill/>
          <a:ln/>
        </p:spPr>
        <p:txBody>
          <a:bodyPr wrap="square" lIns="0" tIns="0" rIns="0" bIns="0" rtlCol="0" anchor="ctr">
            <a:normAutofit/>
          </a:bodyPr>
          <a:lstStyle/>
          <a:p>
            <a:pPr marL="0" indent="0">
              <a:buNone/>
            </a:pPr>
            <a:r>
              <a:rPr lang="en-US" sz="1000" b="1" dirty="0">
                <a:solidFill>
                  <a:srgbClr val="FFFFFF"/>
                </a:solidFill>
              </a:rPr>
              <a:t>Deniyawatte D.G.A.D.N</a:t>
            </a:r>
            <a:endParaRPr lang="en-US" sz="1000" dirty="0"/>
          </a:p>
        </p:txBody>
      </p:sp>
      <p:sp>
        <p:nvSpPr>
          <p:cNvPr id="31" name="Text 11">
            <a:extLst>
              <a:ext uri="{FF2B5EF4-FFF2-40B4-BE49-F238E27FC236}">
                <a16:creationId xmlns:a16="http://schemas.microsoft.com/office/drawing/2014/main" id="{772FB975-C3BE-99D6-87E8-0BF0C241B10E}"/>
              </a:ext>
            </a:extLst>
          </p:cNvPr>
          <p:cNvSpPr/>
          <p:nvPr/>
        </p:nvSpPr>
        <p:spPr>
          <a:xfrm>
            <a:off x="681228" y="5731732"/>
            <a:ext cx="2331720" cy="256032"/>
          </a:xfrm>
          <a:prstGeom prst="rect">
            <a:avLst/>
          </a:prstGeom>
          <a:noFill/>
          <a:ln/>
        </p:spPr>
        <p:txBody>
          <a:bodyPr wrap="square" lIns="0" tIns="0" rIns="0" bIns="0" rtlCol="0" anchor="ctr">
            <a:normAutofit/>
          </a:bodyPr>
          <a:lstStyle/>
          <a:p>
            <a:r>
              <a:rPr lang="en-US" sz="1000" b="1" dirty="0">
                <a:solidFill>
                  <a:schemeClr val="bg1"/>
                </a:solidFill>
              </a:rPr>
              <a:t>Intelligent Tour Package Generation</a:t>
            </a:r>
          </a:p>
        </p:txBody>
      </p:sp>
      <p:sp>
        <p:nvSpPr>
          <p:cNvPr id="32" name="Text 12">
            <a:extLst>
              <a:ext uri="{FF2B5EF4-FFF2-40B4-BE49-F238E27FC236}">
                <a16:creationId xmlns:a16="http://schemas.microsoft.com/office/drawing/2014/main" id="{CDD4AC0A-2ED8-7206-64BA-D088FB898B50}"/>
              </a:ext>
            </a:extLst>
          </p:cNvPr>
          <p:cNvSpPr/>
          <p:nvPr/>
        </p:nvSpPr>
        <p:spPr>
          <a:xfrm>
            <a:off x="3332988" y="5256244"/>
            <a:ext cx="1188720" cy="164592"/>
          </a:xfrm>
          <a:prstGeom prst="rect">
            <a:avLst/>
          </a:prstGeom>
          <a:noFill/>
          <a:ln/>
        </p:spPr>
        <p:txBody>
          <a:bodyPr wrap="square" lIns="0" tIns="0" rIns="0" bIns="0" rtlCol="0" anchor="ctr"/>
          <a:lstStyle/>
          <a:p>
            <a:pPr marL="0" indent="0">
              <a:buNone/>
            </a:pPr>
            <a:r>
              <a:rPr lang="en-US" sz="1000" b="1" dirty="0">
                <a:solidFill>
                  <a:srgbClr val="F5B942"/>
                </a:solidFill>
              </a:rPr>
              <a:t>IT22555458</a:t>
            </a:r>
            <a:endParaRPr lang="en-US" sz="1000" dirty="0"/>
          </a:p>
        </p:txBody>
      </p:sp>
      <p:sp>
        <p:nvSpPr>
          <p:cNvPr id="33" name="Text 13">
            <a:extLst>
              <a:ext uri="{FF2B5EF4-FFF2-40B4-BE49-F238E27FC236}">
                <a16:creationId xmlns:a16="http://schemas.microsoft.com/office/drawing/2014/main" id="{F8534A62-9C08-DC28-E989-FEF92360A247}"/>
              </a:ext>
            </a:extLst>
          </p:cNvPr>
          <p:cNvSpPr/>
          <p:nvPr/>
        </p:nvSpPr>
        <p:spPr>
          <a:xfrm>
            <a:off x="3332988" y="5484844"/>
            <a:ext cx="2331720" cy="182880"/>
          </a:xfrm>
          <a:prstGeom prst="rect">
            <a:avLst/>
          </a:prstGeom>
          <a:noFill/>
          <a:ln/>
        </p:spPr>
        <p:txBody>
          <a:bodyPr wrap="square" lIns="0" tIns="0" rIns="0" bIns="0" rtlCol="0" anchor="ctr">
            <a:normAutofit/>
          </a:bodyPr>
          <a:lstStyle/>
          <a:p>
            <a:pPr marL="0" indent="0">
              <a:buNone/>
            </a:pPr>
            <a:r>
              <a:rPr lang="en-US" sz="1000" b="1" dirty="0">
                <a:solidFill>
                  <a:srgbClr val="FFFFFF"/>
                </a:solidFill>
              </a:rPr>
              <a:t>Wijesinghe I.D.W.</a:t>
            </a:r>
            <a:endParaRPr lang="en-US" sz="1000" dirty="0"/>
          </a:p>
        </p:txBody>
      </p:sp>
      <p:sp>
        <p:nvSpPr>
          <p:cNvPr id="34" name="Text 14">
            <a:extLst>
              <a:ext uri="{FF2B5EF4-FFF2-40B4-BE49-F238E27FC236}">
                <a16:creationId xmlns:a16="http://schemas.microsoft.com/office/drawing/2014/main" id="{5938DD00-F6D3-ABAF-1C45-07F045EF6638}"/>
              </a:ext>
            </a:extLst>
          </p:cNvPr>
          <p:cNvSpPr/>
          <p:nvPr/>
        </p:nvSpPr>
        <p:spPr>
          <a:xfrm>
            <a:off x="3332988" y="5731732"/>
            <a:ext cx="2331720" cy="256032"/>
          </a:xfrm>
          <a:prstGeom prst="rect">
            <a:avLst/>
          </a:prstGeom>
          <a:noFill/>
          <a:ln/>
        </p:spPr>
        <p:txBody>
          <a:bodyPr wrap="square" lIns="0" tIns="0" rIns="0" bIns="0" rtlCol="0" anchor="ctr">
            <a:noAutofit/>
          </a:bodyPr>
          <a:lstStyle/>
          <a:p>
            <a:pPr marL="0" indent="0">
              <a:buNone/>
            </a:pPr>
            <a:r>
              <a:rPr lang="en-US" sz="1000" b="1" dirty="0">
                <a:solidFill>
                  <a:schemeClr val="bg1"/>
                </a:solidFill>
              </a:rPr>
              <a:t>Intelligent Mobility, Route-Risk &amp; Vehicle Selection</a:t>
            </a:r>
          </a:p>
        </p:txBody>
      </p:sp>
      <p:sp>
        <p:nvSpPr>
          <p:cNvPr id="35" name="Text 15">
            <a:extLst>
              <a:ext uri="{FF2B5EF4-FFF2-40B4-BE49-F238E27FC236}">
                <a16:creationId xmlns:a16="http://schemas.microsoft.com/office/drawing/2014/main" id="{063F86CE-94FA-49AF-7844-C82D1D45A048}"/>
              </a:ext>
            </a:extLst>
          </p:cNvPr>
          <p:cNvSpPr/>
          <p:nvPr/>
        </p:nvSpPr>
        <p:spPr>
          <a:xfrm>
            <a:off x="5984748" y="5256244"/>
            <a:ext cx="1188720" cy="164592"/>
          </a:xfrm>
          <a:prstGeom prst="rect">
            <a:avLst/>
          </a:prstGeom>
          <a:noFill/>
          <a:ln/>
        </p:spPr>
        <p:txBody>
          <a:bodyPr wrap="square" lIns="0" tIns="0" rIns="0" bIns="0" rtlCol="0" anchor="ctr"/>
          <a:lstStyle/>
          <a:p>
            <a:pPr marL="0" indent="0">
              <a:buNone/>
            </a:pPr>
            <a:r>
              <a:rPr lang="en-US" sz="1000" b="1" dirty="0">
                <a:solidFill>
                  <a:srgbClr val="F5B942"/>
                </a:solidFill>
              </a:rPr>
              <a:t>IT22224866</a:t>
            </a:r>
            <a:endParaRPr lang="en-US" sz="1000" dirty="0"/>
          </a:p>
        </p:txBody>
      </p:sp>
      <p:sp>
        <p:nvSpPr>
          <p:cNvPr id="36" name="Text 16">
            <a:extLst>
              <a:ext uri="{FF2B5EF4-FFF2-40B4-BE49-F238E27FC236}">
                <a16:creationId xmlns:a16="http://schemas.microsoft.com/office/drawing/2014/main" id="{84A9185D-F430-812B-0C93-042A31F0E984}"/>
              </a:ext>
            </a:extLst>
          </p:cNvPr>
          <p:cNvSpPr/>
          <p:nvPr/>
        </p:nvSpPr>
        <p:spPr>
          <a:xfrm>
            <a:off x="5984748" y="5484844"/>
            <a:ext cx="2331720" cy="182880"/>
          </a:xfrm>
          <a:prstGeom prst="rect">
            <a:avLst/>
          </a:prstGeom>
          <a:noFill/>
          <a:ln/>
        </p:spPr>
        <p:txBody>
          <a:bodyPr wrap="square" lIns="0" tIns="0" rIns="0" bIns="0" rtlCol="0" anchor="ctr">
            <a:normAutofit/>
          </a:bodyPr>
          <a:lstStyle/>
          <a:p>
            <a:pPr marL="0" indent="0">
              <a:buNone/>
            </a:pPr>
            <a:r>
              <a:rPr lang="en-US" sz="1000" b="1" dirty="0">
                <a:solidFill>
                  <a:srgbClr val="FFFFFF"/>
                </a:solidFill>
              </a:rPr>
              <a:t>Kumarasinghe K.G.A.M.S.D.C.</a:t>
            </a:r>
            <a:endParaRPr lang="en-US" sz="1000" dirty="0"/>
          </a:p>
        </p:txBody>
      </p:sp>
      <p:sp>
        <p:nvSpPr>
          <p:cNvPr id="37" name="Text 17">
            <a:extLst>
              <a:ext uri="{FF2B5EF4-FFF2-40B4-BE49-F238E27FC236}">
                <a16:creationId xmlns:a16="http://schemas.microsoft.com/office/drawing/2014/main" id="{E4AA4D48-5138-A420-15A0-021151A60CF4}"/>
              </a:ext>
            </a:extLst>
          </p:cNvPr>
          <p:cNvSpPr/>
          <p:nvPr/>
        </p:nvSpPr>
        <p:spPr>
          <a:xfrm>
            <a:off x="5984748" y="5731732"/>
            <a:ext cx="2331720" cy="256032"/>
          </a:xfrm>
          <a:prstGeom prst="rect">
            <a:avLst/>
          </a:prstGeom>
          <a:noFill/>
          <a:ln/>
        </p:spPr>
        <p:txBody>
          <a:bodyPr wrap="square" lIns="0" tIns="0" rIns="0" bIns="0" rtlCol="0" anchor="ctr">
            <a:noAutofit/>
          </a:bodyPr>
          <a:lstStyle/>
          <a:p>
            <a:r>
              <a:rPr lang="en-US" sz="1000" b="1" dirty="0">
                <a:solidFill>
                  <a:schemeClr val="bg1"/>
                </a:solidFill>
              </a:rPr>
              <a:t>Context-Aware Itinerary Optimizer</a:t>
            </a:r>
            <a:endParaRPr lang="en-US" sz="1000" dirty="0">
              <a:solidFill>
                <a:schemeClr val="bg1"/>
              </a:solidFill>
            </a:endParaRPr>
          </a:p>
        </p:txBody>
      </p:sp>
      <p:sp>
        <p:nvSpPr>
          <p:cNvPr id="38" name="Text 18">
            <a:extLst>
              <a:ext uri="{FF2B5EF4-FFF2-40B4-BE49-F238E27FC236}">
                <a16:creationId xmlns:a16="http://schemas.microsoft.com/office/drawing/2014/main" id="{82841487-040E-B7D7-B586-892B27E3FAB8}"/>
              </a:ext>
            </a:extLst>
          </p:cNvPr>
          <p:cNvSpPr/>
          <p:nvPr/>
        </p:nvSpPr>
        <p:spPr>
          <a:xfrm>
            <a:off x="8636508" y="5256244"/>
            <a:ext cx="1188720" cy="164592"/>
          </a:xfrm>
          <a:prstGeom prst="rect">
            <a:avLst/>
          </a:prstGeom>
          <a:noFill/>
          <a:ln/>
        </p:spPr>
        <p:txBody>
          <a:bodyPr wrap="square" lIns="0" tIns="0" rIns="0" bIns="0" rtlCol="0" anchor="ctr"/>
          <a:lstStyle/>
          <a:p>
            <a:pPr marL="0" indent="0">
              <a:buNone/>
            </a:pPr>
            <a:r>
              <a:rPr lang="en-US" sz="1000" b="1" dirty="0">
                <a:solidFill>
                  <a:srgbClr val="F5B942"/>
                </a:solidFill>
              </a:rPr>
              <a:t>IT22214720</a:t>
            </a:r>
            <a:endParaRPr lang="en-US" sz="1000" dirty="0"/>
          </a:p>
        </p:txBody>
      </p:sp>
      <p:sp>
        <p:nvSpPr>
          <p:cNvPr id="39" name="Text 19">
            <a:extLst>
              <a:ext uri="{FF2B5EF4-FFF2-40B4-BE49-F238E27FC236}">
                <a16:creationId xmlns:a16="http://schemas.microsoft.com/office/drawing/2014/main" id="{F9FF54FF-CD61-1032-19C3-382E595E78BD}"/>
              </a:ext>
            </a:extLst>
          </p:cNvPr>
          <p:cNvSpPr/>
          <p:nvPr/>
        </p:nvSpPr>
        <p:spPr>
          <a:xfrm>
            <a:off x="8636508" y="5484844"/>
            <a:ext cx="2331720" cy="182880"/>
          </a:xfrm>
          <a:prstGeom prst="rect">
            <a:avLst/>
          </a:prstGeom>
          <a:noFill/>
          <a:ln/>
        </p:spPr>
        <p:txBody>
          <a:bodyPr wrap="square" lIns="0" tIns="0" rIns="0" bIns="0" rtlCol="0" anchor="ctr">
            <a:normAutofit/>
          </a:bodyPr>
          <a:lstStyle/>
          <a:p>
            <a:pPr marL="0" indent="0">
              <a:buNone/>
            </a:pPr>
            <a:r>
              <a:rPr lang="en-US" sz="1000" b="1" dirty="0">
                <a:solidFill>
                  <a:srgbClr val="FFFFFF"/>
                </a:solidFill>
              </a:rPr>
              <a:t>Madushan M.</a:t>
            </a:r>
            <a:endParaRPr lang="en-US" sz="1000" dirty="0"/>
          </a:p>
        </p:txBody>
      </p:sp>
      <p:sp>
        <p:nvSpPr>
          <p:cNvPr id="40" name="Text 20">
            <a:extLst>
              <a:ext uri="{FF2B5EF4-FFF2-40B4-BE49-F238E27FC236}">
                <a16:creationId xmlns:a16="http://schemas.microsoft.com/office/drawing/2014/main" id="{C9449D49-4B53-50EE-6B91-DA61D6E8E1A7}"/>
              </a:ext>
            </a:extLst>
          </p:cNvPr>
          <p:cNvSpPr/>
          <p:nvPr/>
        </p:nvSpPr>
        <p:spPr>
          <a:xfrm>
            <a:off x="8636508" y="5731732"/>
            <a:ext cx="2331720" cy="256032"/>
          </a:xfrm>
          <a:prstGeom prst="rect">
            <a:avLst/>
          </a:prstGeom>
          <a:noFill/>
          <a:ln/>
        </p:spPr>
        <p:txBody>
          <a:bodyPr wrap="square" lIns="0" tIns="0" rIns="0" bIns="0" rtlCol="0" anchor="ctr">
            <a:noAutofit/>
          </a:bodyPr>
          <a:lstStyle/>
          <a:p>
            <a:pPr marL="0" indent="0">
              <a:buNone/>
            </a:pPr>
            <a:r>
              <a:rPr lang="en-US" sz="1000" b="1" dirty="0">
                <a:solidFill>
                  <a:schemeClr val="bg1"/>
                </a:solidFill>
              </a:rPr>
              <a:t>AI Landmark Recognition &amp; Tourist Information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Our Research Team</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02</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078992"/>
            <a:ext cx="10881360" cy="292608"/>
          </a:xfrm>
          <a:prstGeom prst="rect">
            <a:avLst/>
          </a:prstGeom>
          <a:noFill/>
        </p:spPr>
        <p:txBody>
          <a:bodyPr wrap="square" lIns="9144" rIns="9144" tIns="0" bIns="0" anchor="ctr">
            <a:spAutoFit/>
          </a:bodyPr>
          <a:lstStyle/>
          <a:p>
            <a:pPr algn="l">
              <a:spcBef>
                <a:spcPts val="0"/>
              </a:spcBef>
              <a:spcAft>
                <a:spcPts val="0"/>
              </a:spcAft>
            </a:pPr>
            <a:r>
              <a:rPr sz="1230" b="0" i="0">
                <a:solidFill>
                  <a:srgbClr val="60738A"/>
                </a:solidFill>
                <a:latin typeface="Aptos"/>
              </a:rPr>
              <a:t>Four complementary research contributions in one tourism prototype</a:t>
            </a:r>
          </a:p>
        </p:txBody>
      </p:sp>
      <p:sp>
        <p:nvSpPr>
          <p:cNvPr id="7" name="TextBox 6"/>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8" name="Rounded Rectangle 7"/>
          <p:cNvSpPr/>
          <p:nvPr/>
        </p:nvSpPr>
        <p:spPr>
          <a:xfrm>
            <a:off x="749808" y="1636776"/>
            <a:ext cx="5202936" cy="1682496"/>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23544" y="1856232"/>
            <a:ext cx="475488" cy="47548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3544" y="1929384"/>
            <a:ext cx="475488" cy="274320"/>
          </a:xfrm>
          <a:prstGeom prst="rect">
            <a:avLst/>
          </a:prstGeom>
          <a:noFill/>
        </p:spPr>
        <p:txBody>
          <a:bodyPr wrap="square" lIns="9144" rIns="9144" tIns="0" bIns="0" anchor="ctr">
            <a:spAutoFit/>
          </a:bodyPr>
          <a:lstStyle/>
          <a:p>
            <a:pPr algn="ctr">
              <a:spcBef>
                <a:spcPts val="0"/>
              </a:spcBef>
              <a:spcAft>
                <a:spcPts val="0"/>
              </a:spcAft>
            </a:pPr>
            <a:r>
              <a:rPr sz="1400" b="1" i="0">
                <a:solidFill>
                  <a:srgbClr val="FFFFFF"/>
                </a:solidFill>
                <a:latin typeface="Aptos"/>
              </a:rPr>
              <a:t>01</a:t>
            </a:r>
          </a:p>
        </p:txBody>
      </p:sp>
      <p:sp>
        <p:nvSpPr>
          <p:cNvPr id="11" name="TextBox 10"/>
          <p:cNvSpPr txBox="1"/>
          <p:nvPr/>
        </p:nvSpPr>
        <p:spPr>
          <a:xfrm>
            <a:off x="1591056" y="1792224"/>
            <a:ext cx="4023360" cy="274320"/>
          </a:xfrm>
          <a:prstGeom prst="rect">
            <a:avLst/>
          </a:prstGeom>
          <a:noFill/>
        </p:spPr>
        <p:txBody>
          <a:bodyPr wrap="square" lIns="9144" rIns="9144" tIns="0" bIns="0" anchor="ctr">
            <a:spAutoFit/>
          </a:bodyPr>
          <a:lstStyle/>
          <a:p>
            <a:pPr algn="l">
              <a:spcBef>
                <a:spcPts val="0"/>
              </a:spcBef>
              <a:spcAft>
                <a:spcPts val="0"/>
              </a:spcAft>
            </a:pPr>
            <a:r>
              <a:rPr sz="1230" b="1" i="0">
                <a:solidFill>
                  <a:srgbClr val="1769E0"/>
                </a:solidFill>
                <a:latin typeface="Aptos"/>
              </a:rPr>
              <a:t>IT22895196</a:t>
            </a:r>
          </a:p>
        </p:txBody>
      </p:sp>
      <p:sp>
        <p:nvSpPr>
          <p:cNvPr id="12" name="TextBox 11"/>
          <p:cNvSpPr txBox="1"/>
          <p:nvPr/>
        </p:nvSpPr>
        <p:spPr>
          <a:xfrm>
            <a:off x="1581912" y="2139696"/>
            <a:ext cx="4160520" cy="393192"/>
          </a:xfrm>
          <a:prstGeom prst="rect">
            <a:avLst/>
          </a:prstGeom>
          <a:noFill/>
        </p:spPr>
        <p:txBody>
          <a:bodyPr wrap="square" lIns="9144" rIns="9144" tIns="0" bIns="0" anchor="ctr">
            <a:spAutoFit/>
          </a:bodyPr>
          <a:lstStyle/>
          <a:p>
            <a:pPr algn="l">
              <a:spcBef>
                <a:spcPts val="0"/>
              </a:spcBef>
              <a:spcAft>
                <a:spcPts val="0"/>
              </a:spcAft>
            </a:pPr>
            <a:r>
              <a:rPr sz="1700" b="1" i="0">
                <a:solidFill>
                  <a:srgbClr val="0B2A4A"/>
                </a:solidFill>
                <a:latin typeface="Aptos"/>
              </a:rPr>
              <a:t>Deniyawatte D.G.A.D.N</a:t>
            </a:r>
          </a:p>
        </p:txBody>
      </p:sp>
      <p:sp>
        <p:nvSpPr>
          <p:cNvPr id="13" name="TextBox 12"/>
          <p:cNvSpPr txBox="1"/>
          <p:nvPr/>
        </p:nvSpPr>
        <p:spPr>
          <a:xfrm>
            <a:off x="1581912" y="2596896"/>
            <a:ext cx="4142232" cy="566928"/>
          </a:xfrm>
          <a:prstGeom prst="rect">
            <a:avLst/>
          </a:prstGeom>
          <a:noFill/>
        </p:spPr>
        <p:txBody>
          <a:bodyPr wrap="square" lIns="9144" rIns="9144" tIns="0" bIns="0" anchor="t">
            <a:spAutoFit/>
          </a:bodyPr>
          <a:lstStyle/>
          <a:p>
            <a:pPr algn="l">
              <a:spcBef>
                <a:spcPts val="0"/>
              </a:spcBef>
              <a:spcAft>
                <a:spcPts val="0"/>
              </a:spcAft>
            </a:pPr>
            <a:r>
              <a:rPr sz="1440" b="0" i="0">
                <a:solidFill>
                  <a:srgbClr val="1D2B3A"/>
                </a:solidFill>
                <a:latin typeface="Aptos"/>
              </a:rPr>
              <a:t>Intelligent Tour Package</a:t>
            </a:r>
          </a:p>
          <a:p>
            <a:pPr algn="l">
              <a:spcBef>
                <a:spcPts val="0"/>
              </a:spcBef>
              <a:spcAft>
                <a:spcPts val="0"/>
              </a:spcAft>
            </a:pPr>
            <a:r>
              <a:rPr sz="1440" b="0" i="0">
                <a:solidFill>
                  <a:srgbClr val="1D2B3A"/>
                </a:solidFill>
                <a:latin typeface="Aptos"/>
              </a:rPr>
              <a:t>Generation</a:t>
            </a:r>
          </a:p>
        </p:txBody>
      </p:sp>
      <p:sp>
        <p:nvSpPr>
          <p:cNvPr id="14" name="Rounded Rectangle 13"/>
          <p:cNvSpPr/>
          <p:nvPr/>
        </p:nvSpPr>
        <p:spPr>
          <a:xfrm>
            <a:off x="6446520" y="1636776"/>
            <a:ext cx="5202936" cy="1682496"/>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20256" y="1856232"/>
            <a:ext cx="475488" cy="47548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0256" y="1929384"/>
            <a:ext cx="475488" cy="274320"/>
          </a:xfrm>
          <a:prstGeom prst="rect">
            <a:avLst/>
          </a:prstGeom>
          <a:noFill/>
        </p:spPr>
        <p:txBody>
          <a:bodyPr wrap="square" lIns="9144" rIns="9144" tIns="0" bIns="0" anchor="ctr">
            <a:spAutoFit/>
          </a:bodyPr>
          <a:lstStyle/>
          <a:p>
            <a:pPr algn="ctr">
              <a:spcBef>
                <a:spcPts val="0"/>
              </a:spcBef>
              <a:spcAft>
                <a:spcPts val="0"/>
              </a:spcAft>
            </a:pPr>
            <a:r>
              <a:rPr sz="1400" b="1" i="0">
                <a:solidFill>
                  <a:srgbClr val="FFFFFF"/>
                </a:solidFill>
                <a:latin typeface="Aptos"/>
              </a:rPr>
              <a:t>02</a:t>
            </a:r>
          </a:p>
        </p:txBody>
      </p:sp>
      <p:sp>
        <p:nvSpPr>
          <p:cNvPr id="17" name="TextBox 16"/>
          <p:cNvSpPr txBox="1"/>
          <p:nvPr/>
        </p:nvSpPr>
        <p:spPr>
          <a:xfrm>
            <a:off x="7287768" y="1792224"/>
            <a:ext cx="4023360" cy="274320"/>
          </a:xfrm>
          <a:prstGeom prst="rect">
            <a:avLst/>
          </a:prstGeom>
          <a:noFill/>
        </p:spPr>
        <p:txBody>
          <a:bodyPr wrap="square" lIns="9144" rIns="9144" tIns="0" bIns="0" anchor="ctr">
            <a:spAutoFit/>
          </a:bodyPr>
          <a:lstStyle/>
          <a:p>
            <a:pPr algn="l">
              <a:spcBef>
                <a:spcPts val="0"/>
              </a:spcBef>
              <a:spcAft>
                <a:spcPts val="0"/>
              </a:spcAft>
            </a:pPr>
            <a:r>
              <a:rPr sz="1230" b="1" i="0">
                <a:solidFill>
                  <a:srgbClr val="1769E0"/>
                </a:solidFill>
                <a:latin typeface="Aptos"/>
              </a:rPr>
              <a:t>IT22555458</a:t>
            </a:r>
          </a:p>
        </p:txBody>
      </p:sp>
      <p:sp>
        <p:nvSpPr>
          <p:cNvPr id="18" name="TextBox 17"/>
          <p:cNvSpPr txBox="1"/>
          <p:nvPr/>
        </p:nvSpPr>
        <p:spPr>
          <a:xfrm>
            <a:off x="7278624" y="2139696"/>
            <a:ext cx="4160520" cy="393192"/>
          </a:xfrm>
          <a:prstGeom prst="rect">
            <a:avLst/>
          </a:prstGeom>
          <a:noFill/>
        </p:spPr>
        <p:txBody>
          <a:bodyPr wrap="square" lIns="9144" rIns="9144" tIns="0" bIns="0" anchor="ctr">
            <a:spAutoFit/>
          </a:bodyPr>
          <a:lstStyle/>
          <a:p>
            <a:pPr algn="l">
              <a:spcBef>
                <a:spcPts val="0"/>
              </a:spcBef>
              <a:spcAft>
                <a:spcPts val="0"/>
              </a:spcAft>
            </a:pPr>
            <a:r>
              <a:rPr sz="1700" b="1" i="0">
                <a:solidFill>
                  <a:srgbClr val="0B2A4A"/>
                </a:solidFill>
                <a:latin typeface="Aptos"/>
              </a:rPr>
              <a:t>Wijesinghe I.D.W.</a:t>
            </a:r>
          </a:p>
        </p:txBody>
      </p:sp>
      <p:sp>
        <p:nvSpPr>
          <p:cNvPr id="19" name="TextBox 18"/>
          <p:cNvSpPr txBox="1"/>
          <p:nvPr/>
        </p:nvSpPr>
        <p:spPr>
          <a:xfrm>
            <a:off x="7278624" y="2596896"/>
            <a:ext cx="4142232" cy="566928"/>
          </a:xfrm>
          <a:prstGeom prst="rect">
            <a:avLst/>
          </a:prstGeom>
          <a:noFill/>
        </p:spPr>
        <p:txBody>
          <a:bodyPr wrap="square" lIns="9144" rIns="9144" tIns="0" bIns="0" anchor="t">
            <a:spAutoFit/>
          </a:bodyPr>
          <a:lstStyle/>
          <a:p>
            <a:pPr algn="l">
              <a:spcBef>
                <a:spcPts val="0"/>
              </a:spcBef>
              <a:spcAft>
                <a:spcPts val="0"/>
              </a:spcAft>
            </a:pPr>
            <a:r>
              <a:rPr sz="1440" b="0" i="0">
                <a:solidFill>
                  <a:srgbClr val="1D2B3A"/>
                </a:solidFill>
                <a:latin typeface="Aptos"/>
              </a:rPr>
              <a:t>Intelligent Mobility, Route-Risk</a:t>
            </a:r>
          </a:p>
          <a:p>
            <a:pPr algn="l">
              <a:spcBef>
                <a:spcPts val="0"/>
              </a:spcBef>
              <a:spcAft>
                <a:spcPts val="0"/>
              </a:spcAft>
            </a:pPr>
            <a:r>
              <a:rPr sz="1440" b="0" i="0">
                <a:solidFill>
                  <a:srgbClr val="1D2B3A"/>
                </a:solidFill>
                <a:latin typeface="Aptos"/>
              </a:rPr>
              <a:t>&amp; Vehicle Selection</a:t>
            </a:r>
          </a:p>
        </p:txBody>
      </p:sp>
      <p:sp>
        <p:nvSpPr>
          <p:cNvPr id="20" name="Rounded Rectangle 19"/>
          <p:cNvSpPr/>
          <p:nvPr/>
        </p:nvSpPr>
        <p:spPr>
          <a:xfrm>
            <a:off x="749808" y="3630168"/>
            <a:ext cx="5202936" cy="1682496"/>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23544" y="3849624"/>
            <a:ext cx="475488" cy="47548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544" y="3922776"/>
            <a:ext cx="475488" cy="274320"/>
          </a:xfrm>
          <a:prstGeom prst="rect">
            <a:avLst/>
          </a:prstGeom>
          <a:noFill/>
        </p:spPr>
        <p:txBody>
          <a:bodyPr wrap="square" lIns="9144" rIns="9144" tIns="0" bIns="0" anchor="ctr">
            <a:spAutoFit/>
          </a:bodyPr>
          <a:lstStyle/>
          <a:p>
            <a:pPr algn="ctr">
              <a:spcBef>
                <a:spcPts val="0"/>
              </a:spcBef>
              <a:spcAft>
                <a:spcPts val="0"/>
              </a:spcAft>
            </a:pPr>
            <a:r>
              <a:rPr sz="1400" b="1" i="0">
                <a:solidFill>
                  <a:srgbClr val="FFFFFF"/>
                </a:solidFill>
                <a:latin typeface="Aptos"/>
              </a:rPr>
              <a:t>03</a:t>
            </a:r>
          </a:p>
        </p:txBody>
      </p:sp>
      <p:sp>
        <p:nvSpPr>
          <p:cNvPr id="23" name="TextBox 22"/>
          <p:cNvSpPr txBox="1"/>
          <p:nvPr/>
        </p:nvSpPr>
        <p:spPr>
          <a:xfrm>
            <a:off x="1591056" y="3785616"/>
            <a:ext cx="4023360" cy="274320"/>
          </a:xfrm>
          <a:prstGeom prst="rect">
            <a:avLst/>
          </a:prstGeom>
          <a:noFill/>
        </p:spPr>
        <p:txBody>
          <a:bodyPr wrap="square" lIns="9144" rIns="9144" tIns="0" bIns="0" anchor="ctr">
            <a:spAutoFit/>
          </a:bodyPr>
          <a:lstStyle/>
          <a:p>
            <a:pPr algn="l">
              <a:spcBef>
                <a:spcPts val="0"/>
              </a:spcBef>
              <a:spcAft>
                <a:spcPts val="0"/>
              </a:spcAft>
            </a:pPr>
            <a:r>
              <a:rPr sz="1230" b="1" i="0">
                <a:solidFill>
                  <a:srgbClr val="1769E0"/>
                </a:solidFill>
                <a:latin typeface="Aptos"/>
              </a:rPr>
              <a:t>IT22224866</a:t>
            </a:r>
          </a:p>
        </p:txBody>
      </p:sp>
      <p:sp>
        <p:nvSpPr>
          <p:cNvPr id="24" name="TextBox 23"/>
          <p:cNvSpPr txBox="1"/>
          <p:nvPr/>
        </p:nvSpPr>
        <p:spPr>
          <a:xfrm>
            <a:off x="1581912" y="4133088"/>
            <a:ext cx="4160520" cy="393192"/>
          </a:xfrm>
          <a:prstGeom prst="rect">
            <a:avLst/>
          </a:prstGeom>
          <a:noFill/>
        </p:spPr>
        <p:txBody>
          <a:bodyPr wrap="square" lIns="9144" rIns="9144" tIns="0" bIns="0" anchor="ctr">
            <a:spAutoFit/>
          </a:bodyPr>
          <a:lstStyle/>
          <a:p>
            <a:pPr algn="l">
              <a:spcBef>
                <a:spcPts val="0"/>
              </a:spcBef>
              <a:spcAft>
                <a:spcPts val="0"/>
              </a:spcAft>
            </a:pPr>
            <a:r>
              <a:rPr sz="1700" b="1" i="0">
                <a:solidFill>
                  <a:srgbClr val="0B2A4A"/>
                </a:solidFill>
                <a:latin typeface="Aptos"/>
              </a:rPr>
              <a:t>Kumarasinghe K.G.A.M.S.D.C.</a:t>
            </a:r>
          </a:p>
        </p:txBody>
      </p:sp>
      <p:sp>
        <p:nvSpPr>
          <p:cNvPr id="25" name="TextBox 24"/>
          <p:cNvSpPr txBox="1"/>
          <p:nvPr/>
        </p:nvSpPr>
        <p:spPr>
          <a:xfrm>
            <a:off x="1581912" y="4590288"/>
            <a:ext cx="4142232" cy="566928"/>
          </a:xfrm>
          <a:prstGeom prst="rect">
            <a:avLst/>
          </a:prstGeom>
          <a:noFill/>
        </p:spPr>
        <p:txBody>
          <a:bodyPr wrap="square" lIns="9144" rIns="9144" tIns="0" bIns="0" anchor="t">
            <a:spAutoFit/>
          </a:bodyPr>
          <a:lstStyle/>
          <a:p>
            <a:pPr algn="l">
              <a:spcBef>
                <a:spcPts val="0"/>
              </a:spcBef>
              <a:spcAft>
                <a:spcPts val="0"/>
              </a:spcAft>
            </a:pPr>
            <a:r>
              <a:rPr sz="1440" b="0" i="0">
                <a:solidFill>
                  <a:srgbClr val="1D2B3A"/>
                </a:solidFill>
                <a:latin typeface="Aptos"/>
              </a:rPr>
              <a:t>Context-Aware Itinerary</a:t>
            </a:r>
          </a:p>
          <a:p>
            <a:pPr algn="l">
              <a:spcBef>
                <a:spcPts val="0"/>
              </a:spcBef>
              <a:spcAft>
                <a:spcPts val="0"/>
              </a:spcAft>
            </a:pPr>
            <a:r>
              <a:rPr sz="1440" b="0" i="0">
                <a:solidFill>
                  <a:srgbClr val="1D2B3A"/>
                </a:solidFill>
                <a:latin typeface="Aptos"/>
              </a:rPr>
              <a:t>Optimizer</a:t>
            </a:r>
          </a:p>
        </p:txBody>
      </p:sp>
      <p:sp>
        <p:nvSpPr>
          <p:cNvPr id="26" name="Rounded Rectangle 25"/>
          <p:cNvSpPr/>
          <p:nvPr/>
        </p:nvSpPr>
        <p:spPr>
          <a:xfrm>
            <a:off x="6446520" y="3630168"/>
            <a:ext cx="5202936" cy="1682496"/>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620256" y="3849624"/>
            <a:ext cx="475488" cy="47548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0256" y="3922776"/>
            <a:ext cx="475488" cy="274320"/>
          </a:xfrm>
          <a:prstGeom prst="rect">
            <a:avLst/>
          </a:prstGeom>
          <a:noFill/>
        </p:spPr>
        <p:txBody>
          <a:bodyPr wrap="square" lIns="9144" rIns="9144" tIns="0" bIns="0" anchor="ctr">
            <a:spAutoFit/>
          </a:bodyPr>
          <a:lstStyle/>
          <a:p>
            <a:pPr algn="ctr">
              <a:spcBef>
                <a:spcPts val="0"/>
              </a:spcBef>
              <a:spcAft>
                <a:spcPts val="0"/>
              </a:spcAft>
            </a:pPr>
            <a:r>
              <a:rPr sz="1400" b="1" i="0">
                <a:solidFill>
                  <a:srgbClr val="FFFFFF"/>
                </a:solidFill>
                <a:latin typeface="Aptos"/>
              </a:rPr>
              <a:t>04</a:t>
            </a:r>
          </a:p>
        </p:txBody>
      </p:sp>
      <p:sp>
        <p:nvSpPr>
          <p:cNvPr id="29" name="TextBox 28"/>
          <p:cNvSpPr txBox="1"/>
          <p:nvPr/>
        </p:nvSpPr>
        <p:spPr>
          <a:xfrm>
            <a:off x="7287768" y="3785616"/>
            <a:ext cx="4023360" cy="274320"/>
          </a:xfrm>
          <a:prstGeom prst="rect">
            <a:avLst/>
          </a:prstGeom>
          <a:noFill/>
        </p:spPr>
        <p:txBody>
          <a:bodyPr wrap="square" lIns="9144" rIns="9144" tIns="0" bIns="0" anchor="ctr">
            <a:spAutoFit/>
          </a:bodyPr>
          <a:lstStyle/>
          <a:p>
            <a:pPr algn="l">
              <a:spcBef>
                <a:spcPts val="0"/>
              </a:spcBef>
              <a:spcAft>
                <a:spcPts val="0"/>
              </a:spcAft>
            </a:pPr>
            <a:r>
              <a:rPr sz="1230" b="1" i="0">
                <a:solidFill>
                  <a:srgbClr val="1769E0"/>
                </a:solidFill>
                <a:latin typeface="Aptos"/>
              </a:rPr>
              <a:t>IT22214720</a:t>
            </a:r>
          </a:p>
        </p:txBody>
      </p:sp>
      <p:sp>
        <p:nvSpPr>
          <p:cNvPr id="30" name="TextBox 29"/>
          <p:cNvSpPr txBox="1"/>
          <p:nvPr/>
        </p:nvSpPr>
        <p:spPr>
          <a:xfrm>
            <a:off x="7278624" y="4133088"/>
            <a:ext cx="4160520" cy="393192"/>
          </a:xfrm>
          <a:prstGeom prst="rect">
            <a:avLst/>
          </a:prstGeom>
          <a:noFill/>
        </p:spPr>
        <p:txBody>
          <a:bodyPr wrap="square" lIns="9144" rIns="9144" tIns="0" bIns="0" anchor="ctr">
            <a:spAutoFit/>
          </a:bodyPr>
          <a:lstStyle/>
          <a:p>
            <a:pPr algn="l">
              <a:spcBef>
                <a:spcPts val="0"/>
              </a:spcBef>
              <a:spcAft>
                <a:spcPts val="0"/>
              </a:spcAft>
            </a:pPr>
            <a:r>
              <a:rPr sz="1700" b="1" i="0">
                <a:solidFill>
                  <a:srgbClr val="0B2A4A"/>
                </a:solidFill>
                <a:latin typeface="Aptos"/>
              </a:rPr>
              <a:t>Madushan M.</a:t>
            </a:r>
          </a:p>
        </p:txBody>
      </p:sp>
      <p:sp>
        <p:nvSpPr>
          <p:cNvPr id="31" name="TextBox 30"/>
          <p:cNvSpPr txBox="1"/>
          <p:nvPr/>
        </p:nvSpPr>
        <p:spPr>
          <a:xfrm>
            <a:off x="7278624" y="4590288"/>
            <a:ext cx="4142232" cy="566928"/>
          </a:xfrm>
          <a:prstGeom prst="rect">
            <a:avLst/>
          </a:prstGeom>
          <a:noFill/>
        </p:spPr>
        <p:txBody>
          <a:bodyPr wrap="square" lIns="9144" rIns="9144" tIns="0" bIns="0" anchor="t">
            <a:spAutoFit/>
          </a:bodyPr>
          <a:lstStyle/>
          <a:p>
            <a:pPr algn="l">
              <a:spcBef>
                <a:spcPts val="0"/>
              </a:spcBef>
              <a:spcAft>
                <a:spcPts val="0"/>
              </a:spcAft>
            </a:pPr>
            <a:r>
              <a:rPr sz="1440" b="0" i="0">
                <a:solidFill>
                  <a:srgbClr val="1D2B3A"/>
                </a:solidFill>
                <a:latin typeface="Aptos"/>
              </a:rPr>
              <a:t>AI Landmark Recognition</a:t>
            </a:r>
          </a:p>
          <a:p>
            <a:pPr algn="l">
              <a:spcBef>
                <a:spcPts val="0"/>
              </a:spcBef>
              <a:spcAft>
                <a:spcPts val="0"/>
              </a:spcAft>
            </a:pPr>
            <a:r>
              <a:rPr sz="1440" b="0" i="0">
                <a:solidFill>
                  <a:srgbClr val="1D2B3A"/>
                </a:solidFill>
                <a:latin typeface="Aptos"/>
              </a:rPr>
              <a:t>&amp; Tourist Information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Problem Statement &amp; Motivation</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03</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078992"/>
            <a:ext cx="10881360" cy="292608"/>
          </a:xfrm>
          <a:prstGeom prst="rect">
            <a:avLst/>
          </a:prstGeom>
          <a:noFill/>
        </p:spPr>
        <p:txBody>
          <a:bodyPr wrap="square" lIns="9144" rIns="9144" tIns="0" bIns="0" anchor="ctr">
            <a:spAutoFit/>
          </a:bodyPr>
          <a:lstStyle/>
          <a:p>
            <a:pPr algn="l">
              <a:spcBef>
                <a:spcPts val="0"/>
              </a:spcBef>
              <a:spcAft>
                <a:spcPts val="0"/>
              </a:spcAft>
            </a:pPr>
            <a:r>
              <a:rPr sz="1230" b="0" i="0">
                <a:solidFill>
                  <a:srgbClr val="60738A"/>
                </a:solidFill>
                <a:latin typeface="Aptos"/>
              </a:rPr>
              <a:t>Tourists need a more connected and evidence-aware trip planning experience</a:t>
            </a:r>
          </a:p>
        </p:txBody>
      </p:sp>
      <p:sp>
        <p:nvSpPr>
          <p:cNvPr id="7" name="TextBox 6"/>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8" name="Rounded Rectangle 7"/>
          <p:cNvSpPr/>
          <p:nvPr/>
        </p:nvSpPr>
        <p:spPr>
          <a:xfrm>
            <a:off x="777240" y="1591056"/>
            <a:ext cx="6629400" cy="1179576"/>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41832" y="1801368"/>
            <a:ext cx="64008" cy="29260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33856" y="1764792"/>
            <a:ext cx="6099048" cy="438912"/>
          </a:xfrm>
          <a:prstGeom prst="rect">
            <a:avLst/>
          </a:prstGeom>
          <a:noFill/>
        </p:spPr>
        <p:txBody>
          <a:bodyPr wrap="square" lIns="9144" rIns="9144" tIns="0" bIns="0" anchor="ctr">
            <a:spAutoFit/>
          </a:bodyPr>
          <a:lstStyle/>
          <a:p>
            <a:pPr algn="l">
              <a:spcBef>
                <a:spcPts val="0"/>
              </a:spcBef>
              <a:spcAft>
                <a:spcPts val="0"/>
              </a:spcAft>
            </a:pPr>
            <a:r>
              <a:rPr sz="1700" b="1" i="0">
                <a:solidFill>
                  <a:srgbClr val="0B2A4A"/>
                </a:solidFill>
                <a:latin typeface="Aptos"/>
              </a:rPr>
              <a:t>Fragmented decisions</a:t>
            </a:r>
          </a:p>
        </p:txBody>
      </p:sp>
      <p:sp>
        <p:nvSpPr>
          <p:cNvPr id="11" name="TextBox 10"/>
          <p:cNvSpPr txBox="1"/>
          <p:nvPr/>
        </p:nvSpPr>
        <p:spPr>
          <a:xfrm>
            <a:off x="978408" y="2322576"/>
            <a:ext cx="6245352" cy="320040"/>
          </a:xfrm>
          <a:prstGeom prst="rect">
            <a:avLst/>
          </a:prstGeom>
          <a:noFill/>
        </p:spPr>
        <p:txBody>
          <a:bodyPr wrap="square" lIns="9144" rIns="9144" tIns="0" bIns="0" anchor="t">
            <a:spAutoFit/>
          </a:bodyPr>
          <a:lstStyle/>
          <a:p>
            <a:pPr algn="l">
              <a:spcBef>
                <a:spcPts val="0"/>
              </a:spcBef>
              <a:spcAft>
                <a:spcPts val="0"/>
              </a:spcAft>
            </a:pPr>
            <a:r>
              <a:rPr sz="1450" b="0" i="0">
                <a:solidFill>
                  <a:srgbClr val="1D2B3A"/>
                </a:solidFill>
                <a:latin typeface="Aptos"/>
              </a:rPr>
              <a:t>Accommodation, attractions, travel schedules, transport and landmark information are usually handled separately.</a:t>
            </a:r>
          </a:p>
        </p:txBody>
      </p:sp>
      <p:sp>
        <p:nvSpPr>
          <p:cNvPr id="12" name="Rounded Rectangle 11"/>
          <p:cNvSpPr/>
          <p:nvPr/>
        </p:nvSpPr>
        <p:spPr>
          <a:xfrm>
            <a:off x="777240" y="2990088"/>
            <a:ext cx="6629400" cy="1179576"/>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1832" y="3200400"/>
            <a:ext cx="64008" cy="29260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33856" y="3163824"/>
            <a:ext cx="6099048" cy="438912"/>
          </a:xfrm>
          <a:prstGeom prst="rect">
            <a:avLst/>
          </a:prstGeom>
          <a:noFill/>
        </p:spPr>
        <p:txBody>
          <a:bodyPr wrap="square" lIns="9144" rIns="9144" tIns="0" bIns="0" anchor="ctr">
            <a:spAutoFit/>
          </a:bodyPr>
          <a:lstStyle/>
          <a:p>
            <a:pPr algn="l">
              <a:spcBef>
                <a:spcPts val="0"/>
              </a:spcBef>
              <a:spcAft>
                <a:spcPts val="0"/>
              </a:spcAft>
            </a:pPr>
            <a:r>
              <a:rPr sz="1700" b="1" i="0">
                <a:solidFill>
                  <a:srgbClr val="0B2A4A"/>
                </a:solidFill>
                <a:latin typeface="Aptos"/>
              </a:rPr>
              <a:t>Limited local context</a:t>
            </a:r>
          </a:p>
        </p:txBody>
      </p:sp>
      <p:sp>
        <p:nvSpPr>
          <p:cNvPr id="15" name="TextBox 14"/>
          <p:cNvSpPr txBox="1"/>
          <p:nvPr/>
        </p:nvSpPr>
        <p:spPr>
          <a:xfrm>
            <a:off x="978408" y="3721608"/>
            <a:ext cx="6245352" cy="320040"/>
          </a:xfrm>
          <a:prstGeom prst="rect">
            <a:avLst/>
          </a:prstGeom>
          <a:noFill/>
        </p:spPr>
        <p:txBody>
          <a:bodyPr wrap="square" lIns="9144" rIns="9144" tIns="0" bIns="0" anchor="t">
            <a:spAutoFit/>
          </a:bodyPr>
          <a:lstStyle/>
          <a:p>
            <a:pPr algn="l">
              <a:spcBef>
                <a:spcPts val="0"/>
              </a:spcBef>
              <a:spcAft>
                <a:spcPts val="0"/>
              </a:spcAft>
            </a:pPr>
            <a:r>
              <a:rPr sz="1450" b="0" i="0">
                <a:solidFill>
                  <a:srgbClr val="1D2B3A"/>
                </a:solidFill>
                <a:latin typeface="Aptos"/>
              </a:rPr>
              <a:t>Incomplete opening information, estimated durations and uneven geographic coverage make planning uncertain.</a:t>
            </a:r>
          </a:p>
        </p:txBody>
      </p:sp>
      <p:sp>
        <p:nvSpPr>
          <p:cNvPr id="16" name="Rounded Rectangle 15"/>
          <p:cNvSpPr/>
          <p:nvPr/>
        </p:nvSpPr>
        <p:spPr>
          <a:xfrm>
            <a:off x="777240" y="4389120"/>
            <a:ext cx="6629400" cy="1179576"/>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41832" y="4599432"/>
            <a:ext cx="64008" cy="29260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33856" y="4562856"/>
            <a:ext cx="6099048" cy="438912"/>
          </a:xfrm>
          <a:prstGeom prst="rect">
            <a:avLst/>
          </a:prstGeom>
          <a:noFill/>
        </p:spPr>
        <p:txBody>
          <a:bodyPr wrap="square" lIns="9144" rIns="9144" tIns="0" bIns="0" anchor="ctr">
            <a:spAutoFit/>
          </a:bodyPr>
          <a:lstStyle/>
          <a:p>
            <a:pPr algn="l">
              <a:spcBef>
                <a:spcPts val="0"/>
              </a:spcBef>
              <a:spcAft>
                <a:spcPts val="0"/>
              </a:spcAft>
            </a:pPr>
            <a:r>
              <a:rPr sz="1700" b="1" i="0">
                <a:solidFill>
                  <a:srgbClr val="0B2A4A"/>
                </a:solidFill>
                <a:latin typeface="Aptos"/>
              </a:rPr>
              <a:t>Risk and affordability</a:t>
            </a:r>
          </a:p>
        </p:txBody>
      </p:sp>
      <p:sp>
        <p:nvSpPr>
          <p:cNvPr id="19" name="TextBox 18"/>
          <p:cNvSpPr txBox="1"/>
          <p:nvPr/>
        </p:nvSpPr>
        <p:spPr>
          <a:xfrm>
            <a:off x="978408" y="5120640"/>
            <a:ext cx="6245352" cy="320040"/>
          </a:xfrm>
          <a:prstGeom prst="rect">
            <a:avLst/>
          </a:prstGeom>
          <a:noFill/>
        </p:spPr>
        <p:txBody>
          <a:bodyPr wrap="square" lIns="9144" rIns="9144" tIns="0" bIns="0" anchor="t">
            <a:spAutoFit/>
          </a:bodyPr>
          <a:lstStyle/>
          <a:p>
            <a:pPr algn="l">
              <a:spcBef>
                <a:spcPts val="0"/>
              </a:spcBef>
              <a:spcAft>
                <a:spcPts val="0"/>
              </a:spcAft>
            </a:pPr>
            <a:r>
              <a:rPr sz="1450" b="0" i="0">
                <a:solidFill>
                  <a:srgbClr val="1D2B3A"/>
                </a:solidFill>
                <a:latin typeface="Aptos"/>
              </a:rPr>
              <a:t>Practical route evidence, passenger capacity and budget constraints are not consistently considered together.</a:t>
            </a:r>
          </a:p>
        </p:txBody>
      </p:sp>
      <p:sp>
        <p:nvSpPr>
          <p:cNvPr id="20" name="Rounded Rectangle 19"/>
          <p:cNvSpPr/>
          <p:nvPr/>
        </p:nvSpPr>
        <p:spPr>
          <a:xfrm>
            <a:off x="7863840" y="1591056"/>
            <a:ext cx="3456432" cy="3977639"/>
          </a:xfrm>
          <a:prstGeom prst="roundRect">
            <a:avLst>
              <a:gd name="adj" fmla="val 12000"/>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0456" y="1920240"/>
            <a:ext cx="2743200" cy="347472"/>
          </a:xfrm>
          <a:prstGeom prst="rect">
            <a:avLst/>
          </a:prstGeom>
          <a:noFill/>
        </p:spPr>
        <p:txBody>
          <a:bodyPr wrap="square" lIns="9144" rIns="9144" tIns="0" bIns="0" anchor="ctr">
            <a:spAutoFit/>
          </a:bodyPr>
          <a:lstStyle/>
          <a:p>
            <a:pPr algn="l">
              <a:spcBef>
                <a:spcPts val="0"/>
              </a:spcBef>
              <a:spcAft>
                <a:spcPts val="0"/>
              </a:spcAft>
            </a:pPr>
            <a:r>
              <a:rPr sz="1220" b="1" i="0">
                <a:solidFill>
                  <a:srgbClr val="F5B942"/>
                </a:solidFill>
                <a:latin typeface="Aptos"/>
              </a:rPr>
              <a:t>TARGET STAKEHOLDERS</a:t>
            </a:r>
          </a:p>
        </p:txBody>
      </p:sp>
      <p:sp>
        <p:nvSpPr>
          <p:cNvPr id="22" name="TextBox 21"/>
          <p:cNvSpPr txBox="1"/>
          <p:nvPr/>
        </p:nvSpPr>
        <p:spPr>
          <a:xfrm>
            <a:off x="8229600" y="2633472"/>
            <a:ext cx="2743200" cy="457200"/>
          </a:xfrm>
          <a:prstGeom prst="rect">
            <a:avLst/>
          </a:prstGeom>
          <a:noFill/>
        </p:spPr>
        <p:txBody>
          <a:bodyPr wrap="square" lIns="9144" rIns="9144" tIns="0" bIns="0" anchor="ctr">
            <a:spAutoFit/>
          </a:bodyPr>
          <a:lstStyle/>
          <a:p>
            <a:pPr algn="l">
              <a:spcBef>
                <a:spcPts val="0"/>
              </a:spcBef>
              <a:spcAft>
                <a:spcPts val="0"/>
              </a:spcAft>
            </a:pPr>
            <a:r>
              <a:rPr sz="1800" b="1" i="0">
                <a:solidFill>
                  <a:srgbClr val="FFFFFF"/>
                </a:solidFill>
                <a:latin typeface="Aptos"/>
              </a:rPr>
              <a:t>Local tourists</a:t>
            </a:r>
          </a:p>
        </p:txBody>
      </p:sp>
      <p:cxnSp>
        <p:nvCxnSpPr>
          <p:cNvPr id="23" name="Connector 22"/>
          <p:cNvCxnSpPr/>
          <p:nvPr/>
        </p:nvCxnSpPr>
        <p:spPr>
          <a:xfrm>
            <a:off x="8220456" y="3209544"/>
            <a:ext cx="2660904" cy="0"/>
          </a:xfrm>
          <a:prstGeom prst="line">
            <a:avLst/>
          </a:prstGeom>
          <a:ln w="12700">
            <a:solidFill>
              <a:srgbClr val="57718C"/>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600" y="3401568"/>
            <a:ext cx="2752344" cy="457200"/>
          </a:xfrm>
          <a:prstGeom prst="rect">
            <a:avLst/>
          </a:prstGeom>
          <a:noFill/>
        </p:spPr>
        <p:txBody>
          <a:bodyPr wrap="square" lIns="9144" rIns="9144" tIns="0" bIns="0" anchor="ctr">
            <a:spAutoFit/>
          </a:bodyPr>
          <a:lstStyle/>
          <a:p>
            <a:pPr algn="l">
              <a:spcBef>
                <a:spcPts val="0"/>
              </a:spcBef>
              <a:spcAft>
                <a:spcPts val="0"/>
              </a:spcAft>
            </a:pPr>
            <a:r>
              <a:rPr sz="1800" b="1" i="0">
                <a:solidFill>
                  <a:srgbClr val="FFFFFF"/>
                </a:solidFill>
                <a:latin typeface="Aptos"/>
              </a:rPr>
              <a:t>International visitors</a:t>
            </a:r>
          </a:p>
        </p:txBody>
      </p:sp>
      <p:cxnSp>
        <p:nvCxnSpPr>
          <p:cNvPr id="25" name="Connector 24"/>
          <p:cNvCxnSpPr/>
          <p:nvPr/>
        </p:nvCxnSpPr>
        <p:spPr>
          <a:xfrm>
            <a:off x="8220456" y="3986784"/>
            <a:ext cx="2660904" cy="0"/>
          </a:xfrm>
          <a:prstGeom prst="line">
            <a:avLst/>
          </a:prstGeom>
          <a:ln w="12700">
            <a:solidFill>
              <a:srgbClr val="57718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229600" y="4160520"/>
            <a:ext cx="2752344" cy="612648"/>
          </a:xfrm>
          <a:prstGeom prst="rect">
            <a:avLst/>
          </a:prstGeom>
          <a:noFill/>
        </p:spPr>
        <p:txBody>
          <a:bodyPr wrap="square" lIns="9144" rIns="9144" tIns="0" bIns="0" anchor="t">
            <a:spAutoFit/>
          </a:bodyPr>
          <a:lstStyle/>
          <a:p>
            <a:pPr algn="l">
              <a:spcBef>
                <a:spcPts val="0"/>
              </a:spcBef>
              <a:spcAft>
                <a:spcPts val="0"/>
              </a:spcAft>
            </a:pPr>
            <a:r>
              <a:rPr sz="1739" b="1" i="0">
                <a:solidFill>
                  <a:srgbClr val="FFFFFF"/>
                </a:solidFill>
                <a:latin typeface="Aptos"/>
              </a:rPr>
              <a:t>Tourism providers &amp; operators</a:t>
            </a:r>
          </a:p>
        </p:txBody>
      </p:sp>
      <p:sp>
        <p:nvSpPr>
          <p:cNvPr id="27" name="TextBox 26"/>
          <p:cNvSpPr txBox="1"/>
          <p:nvPr/>
        </p:nvSpPr>
        <p:spPr>
          <a:xfrm>
            <a:off x="932688" y="5879592"/>
            <a:ext cx="10607040" cy="292608"/>
          </a:xfrm>
          <a:prstGeom prst="rect">
            <a:avLst/>
          </a:prstGeom>
          <a:noFill/>
        </p:spPr>
        <p:txBody>
          <a:bodyPr wrap="square" lIns="9144" rIns="9144" tIns="0" bIns="0" anchor="ctr">
            <a:spAutoFit/>
          </a:bodyPr>
          <a:lstStyle/>
          <a:p>
            <a:pPr algn="l">
              <a:spcBef>
                <a:spcPts val="0"/>
              </a:spcBef>
              <a:spcAft>
                <a:spcPts val="0"/>
              </a:spcAft>
            </a:pPr>
            <a:r>
              <a:rPr sz="1750" b="1" i="0">
                <a:solidFill>
                  <a:srgbClr val="1769E0"/>
                </a:solidFill>
                <a:latin typeface="Aptos"/>
              </a:rPr>
              <a:t>OUR MOTIVATION: unite decisions in one usable traveller-facing application.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Research Gaps &amp; Objectives</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04</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078992"/>
            <a:ext cx="10881360" cy="292608"/>
          </a:xfrm>
          <a:prstGeom prst="rect">
            <a:avLst/>
          </a:prstGeom>
          <a:noFill/>
        </p:spPr>
        <p:txBody>
          <a:bodyPr wrap="square" lIns="9144" rIns="9144" tIns="0" bIns="0" anchor="ctr">
            <a:spAutoFit/>
          </a:bodyPr>
          <a:lstStyle/>
          <a:p>
            <a:pPr algn="l">
              <a:spcBef>
                <a:spcPts val="0"/>
              </a:spcBef>
              <a:spcAft>
                <a:spcPts val="0"/>
              </a:spcAft>
            </a:pPr>
            <a:r>
              <a:rPr sz="1230" b="0" i="0">
                <a:solidFill>
                  <a:srgbClr val="60738A"/>
                </a:solidFill>
                <a:latin typeface="Aptos"/>
              </a:rPr>
              <a:t>Design motivations based on our project scope — not a claim of universal market superiority</a:t>
            </a:r>
          </a:p>
        </p:txBody>
      </p:sp>
      <p:sp>
        <p:nvSpPr>
          <p:cNvPr id="7" name="TextBox 6"/>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8" name="TextBox 7"/>
          <p:cNvSpPr txBox="1"/>
          <p:nvPr/>
        </p:nvSpPr>
        <p:spPr>
          <a:xfrm>
            <a:off x="768096" y="1344168"/>
            <a:ext cx="5120640" cy="274320"/>
          </a:xfrm>
          <a:prstGeom prst="rect">
            <a:avLst/>
          </a:prstGeom>
          <a:noFill/>
        </p:spPr>
        <p:txBody>
          <a:bodyPr wrap="square" lIns="9144" rIns="9144" tIns="0" bIns="0" anchor="ctr">
            <a:spAutoFit/>
          </a:bodyPr>
          <a:lstStyle/>
          <a:p>
            <a:pPr algn="l">
              <a:spcBef>
                <a:spcPts val="0"/>
              </a:spcBef>
              <a:spcAft>
                <a:spcPts val="0"/>
              </a:spcAft>
            </a:pPr>
            <a:r>
              <a:rPr sz="1250" b="1" i="0">
                <a:solidFill>
                  <a:srgbClr val="1769E0"/>
                </a:solidFill>
                <a:latin typeface="Aptos"/>
              </a:rPr>
              <a:t>RESEARCH MOTIVATION</a:t>
            </a:r>
          </a:p>
        </p:txBody>
      </p:sp>
      <p:cxnSp>
        <p:nvCxnSpPr>
          <p:cNvPr id="9" name="Connector 8"/>
          <p:cNvCxnSpPr/>
          <p:nvPr/>
        </p:nvCxnSpPr>
        <p:spPr>
          <a:xfrm>
            <a:off x="768096" y="1664207"/>
            <a:ext cx="2651760" cy="0"/>
          </a:xfrm>
          <a:prstGeom prst="line">
            <a:avLst/>
          </a:prstGeom>
          <a:ln w="19050">
            <a:solidFill>
              <a:srgbClr val="1769E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77240" y="1783080"/>
            <a:ext cx="10634472" cy="82296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1929384"/>
            <a:ext cx="475488" cy="356616"/>
          </a:xfrm>
          <a:prstGeom prst="rect">
            <a:avLst/>
          </a:prstGeom>
          <a:noFill/>
        </p:spPr>
        <p:txBody>
          <a:bodyPr wrap="square" lIns="9144" rIns="9144" tIns="0" bIns="0" anchor="ctr">
            <a:spAutoFit/>
          </a:bodyPr>
          <a:lstStyle/>
          <a:p>
            <a:pPr algn="l">
              <a:spcBef>
                <a:spcPts val="0"/>
              </a:spcBef>
              <a:spcAft>
                <a:spcPts val="0"/>
              </a:spcAft>
            </a:pPr>
            <a:r>
              <a:rPr sz="1800" b="1" i="0">
                <a:solidFill>
                  <a:srgbClr val="1769E0"/>
                </a:solidFill>
                <a:latin typeface="Aptos"/>
              </a:rPr>
              <a:t>01</a:t>
            </a:r>
          </a:p>
        </p:txBody>
      </p:sp>
      <p:sp>
        <p:nvSpPr>
          <p:cNvPr id="12" name="TextBox 11"/>
          <p:cNvSpPr txBox="1"/>
          <p:nvPr/>
        </p:nvSpPr>
        <p:spPr>
          <a:xfrm>
            <a:off x="1645920" y="1883664"/>
            <a:ext cx="3593592" cy="493776"/>
          </a:xfrm>
          <a:prstGeom prst="rect">
            <a:avLst/>
          </a:prstGeom>
          <a:noFill/>
        </p:spPr>
        <p:txBody>
          <a:bodyPr wrap="square" lIns="9144" rIns="9144" tIns="0" bIns="0" anchor="ctr">
            <a:spAutoFit/>
          </a:bodyPr>
          <a:lstStyle/>
          <a:p>
            <a:pPr algn="l">
              <a:spcBef>
                <a:spcPts val="0"/>
              </a:spcBef>
              <a:spcAft>
                <a:spcPts val="0"/>
              </a:spcAft>
            </a:pPr>
            <a:r>
              <a:rPr sz="1670" b="1" i="0">
                <a:solidFill>
                  <a:srgbClr val="0B2A4A"/>
                </a:solidFill>
                <a:latin typeface="Aptos"/>
              </a:rPr>
              <a:t>Scattered recommendations</a:t>
            </a:r>
          </a:p>
        </p:txBody>
      </p:sp>
      <p:sp>
        <p:nvSpPr>
          <p:cNvPr id="13" name="TextBox 12"/>
          <p:cNvSpPr txBox="1"/>
          <p:nvPr/>
        </p:nvSpPr>
        <p:spPr>
          <a:xfrm>
            <a:off x="5394960" y="1920240"/>
            <a:ext cx="5559552" cy="539496"/>
          </a:xfrm>
          <a:prstGeom prst="rect">
            <a:avLst/>
          </a:prstGeom>
          <a:noFill/>
        </p:spPr>
        <p:txBody>
          <a:bodyPr wrap="square" lIns="9144" rIns="9144" tIns="0" bIns="0" anchor="ctr">
            <a:spAutoFit/>
          </a:bodyPr>
          <a:lstStyle/>
          <a:p>
            <a:pPr algn="l">
              <a:spcBef>
                <a:spcPts val="0"/>
              </a:spcBef>
              <a:spcAft>
                <a:spcPts val="0"/>
              </a:spcAft>
            </a:pPr>
            <a:r>
              <a:rPr sz="1350" b="0" i="0">
                <a:solidFill>
                  <a:srgbClr val="1D2B3A"/>
                </a:solidFill>
                <a:latin typeface="Aptos"/>
              </a:rPr>
              <a:t>Natural-language preferences should link to structured hotels and activities.</a:t>
            </a:r>
          </a:p>
        </p:txBody>
      </p:sp>
      <p:sp>
        <p:nvSpPr>
          <p:cNvPr id="14" name="Rounded Rectangle 13"/>
          <p:cNvSpPr/>
          <p:nvPr/>
        </p:nvSpPr>
        <p:spPr>
          <a:xfrm>
            <a:off x="777240" y="2734056"/>
            <a:ext cx="10634472" cy="82296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2880360"/>
            <a:ext cx="475488" cy="356616"/>
          </a:xfrm>
          <a:prstGeom prst="rect">
            <a:avLst/>
          </a:prstGeom>
          <a:noFill/>
        </p:spPr>
        <p:txBody>
          <a:bodyPr wrap="square" lIns="9144" rIns="9144" tIns="0" bIns="0" anchor="ctr">
            <a:spAutoFit/>
          </a:bodyPr>
          <a:lstStyle/>
          <a:p>
            <a:pPr algn="l">
              <a:spcBef>
                <a:spcPts val="0"/>
              </a:spcBef>
              <a:spcAft>
                <a:spcPts val="0"/>
              </a:spcAft>
            </a:pPr>
            <a:r>
              <a:rPr sz="1800" b="1" i="0">
                <a:solidFill>
                  <a:srgbClr val="1769E0"/>
                </a:solidFill>
                <a:latin typeface="Aptos"/>
              </a:rPr>
              <a:t>02</a:t>
            </a:r>
          </a:p>
        </p:txBody>
      </p:sp>
      <p:sp>
        <p:nvSpPr>
          <p:cNvPr id="16" name="TextBox 15"/>
          <p:cNvSpPr txBox="1"/>
          <p:nvPr/>
        </p:nvSpPr>
        <p:spPr>
          <a:xfrm>
            <a:off x="1645920" y="2834640"/>
            <a:ext cx="3593592" cy="493776"/>
          </a:xfrm>
          <a:prstGeom prst="rect">
            <a:avLst/>
          </a:prstGeom>
          <a:noFill/>
        </p:spPr>
        <p:txBody>
          <a:bodyPr wrap="square" lIns="9144" rIns="9144" tIns="0" bIns="0" anchor="ctr">
            <a:spAutoFit/>
          </a:bodyPr>
          <a:lstStyle/>
          <a:p>
            <a:pPr algn="l">
              <a:spcBef>
                <a:spcPts val="0"/>
              </a:spcBef>
              <a:spcAft>
                <a:spcPts val="0"/>
              </a:spcAft>
            </a:pPr>
            <a:r>
              <a:rPr sz="1670" b="1" i="0">
                <a:solidFill>
                  <a:srgbClr val="0B2A4A"/>
                </a:solidFill>
                <a:latin typeface="Aptos"/>
              </a:rPr>
              <a:t>Feasibility beyond relevance</a:t>
            </a:r>
          </a:p>
        </p:txBody>
      </p:sp>
      <p:sp>
        <p:nvSpPr>
          <p:cNvPr id="17" name="TextBox 16"/>
          <p:cNvSpPr txBox="1"/>
          <p:nvPr/>
        </p:nvSpPr>
        <p:spPr>
          <a:xfrm>
            <a:off x="5394960" y="2871216"/>
            <a:ext cx="5559552" cy="539496"/>
          </a:xfrm>
          <a:prstGeom prst="rect">
            <a:avLst/>
          </a:prstGeom>
          <a:noFill/>
        </p:spPr>
        <p:txBody>
          <a:bodyPr wrap="square" lIns="9144" rIns="9144" tIns="0" bIns="0" anchor="ctr">
            <a:spAutoFit/>
          </a:bodyPr>
          <a:lstStyle/>
          <a:p>
            <a:pPr algn="l">
              <a:spcBef>
                <a:spcPts val="0"/>
              </a:spcBef>
              <a:spcAft>
                <a:spcPts val="0"/>
              </a:spcAft>
            </a:pPr>
            <a:r>
              <a:rPr sz="1350" b="0" i="0">
                <a:solidFill>
                  <a:srgbClr val="1D2B3A"/>
                </a:solidFill>
                <a:latin typeface="Aptos"/>
              </a:rPr>
              <a:t>Attractions must fit time budgets, order and travel constraints.</a:t>
            </a:r>
          </a:p>
        </p:txBody>
      </p:sp>
      <p:sp>
        <p:nvSpPr>
          <p:cNvPr id="18" name="Rounded Rectangle 17"/>
          <p:cNvSpPr/>
          <p:nvPr/>
        </p:nvSpPr>
        <p:spPr>
          <a:xfrm>
            <a:off x="777240" y="3685032"/>
            <a:ext cx="10634472" cy="82296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3831336"/>
            <a:ext cx="475488" cy="356616"/>
          </a:xfrm>
          <a:prstGeom prst="rect">
            <a:avLst/>
          </a:prstGeom>
          <a:noFill/>
        </p:spPr>
        <p:txBody>
          <a:bodyPr wrap="square" lIns="9144" rIns="9144" tIns="0" bIns="0" anchor="ctr">
            <a:spAutoFit/>
          </a:bodyPr>
          <a:lstStyle/>
          <a:p>
            <a:pPr algn="l">
              <a:spcBef>
                <a:spcPts val="0"/>
              </a:spcBef>
              <a:spcAft>
                <a:spcPts val="0"/>
              </a:spcAft>
            </a:pPr>
            <a:r>
              <a:rPr sz="1800" b="1" i="0">
                <a:solidFill>
                  <a:srgbClr val="1769E0"/>
                </a:solidFill>
                <a:latin typeface="Aptos"/>
              </a:rPr>
              <a:t>03</a:t>
            </a:r>
          </a:p>
        </p:txBody>
      </p:sp>
      <p:sp>
        <p:nvSpPr>
          <p:cNvPr id="20" name="TextBox 19"/>
          <p:cNvSpPr txBox="1"/>
          <p:nvPr/>
        </p:nvSpPr>
        <p:spPr>
          <a:xfrm>
            <a:off x="1645920" y="3785616"/>
            <a:ext cx="3593592" cy="493776"/>
          </a:xfrm>
          <a:prstGeom prst="rect">
            <a:avLst/>
          </a:prstGeom>
          <a:noFill/>
        </p:spPr>
        <p:txBody>
          <a:bodyPr wrap="square" lIns="9144" rIns="9144" tIns="0" bIns="0" anchor="ctr">
            <a:spAutoFit/>
          </a:bodyPr>
          <a:lstStyle/>
          <a:p>
            <a:pPr algn="l">
              <a:spcBef>
                <a:spcPts val="0"/>
              </a:spcBef>
              <a:spcAft>
                <a:spcPts val="0"/>
              </a:spcAft>
            </a:pPr>
            <a:r>
              <a:rPr sz="1670" b="1" i="0">
                <a:solidFill>
                  <a:srgbClr val="0B2A4A"/>
                </a:solidFill>
                <a:latin typeface="Aptos"/>
              </a:rPr>
              <a:t>Transport beyond distance</a:t>
            </a:r>
          </a:p>
        </p:txBody>
      </p:sp>
      <p:sp>
        <p:nvSpPr>
          <p:cNvPr id="21" name="TextBox 20"/>
          <p:cNvSpPr txBox="1"/>
          <p:nvPr/>
        </p:nvSpPr>
        <p:spPr>
          <a:xfrm>
            <a:off x="5394960" y="3822192"/>
            <a:ext cx="5559552" cy="539496"/>
          </a:xfrm>
          <a:prstGeom prst="rect">
            <a:avLst/>
          </a:prstGeom>
          <a:noFill/>
        </p:spPr>
        <p:txBody>
          <a:bodyPr wrap="square" lIns="9144" rIns="9144" tIns="0" bIns="0" anchor="ctr">
            <a:spAutoFit/>
          </a:bodyPr>
          <a:lstStyle/>
          <a:p>
            <a:pPr algn="l">
              <a:spcBef>
                <a:spcPts val="0"/>
              </a:spcBef>
              <a:spcAft>
                <a:spcPts val="0"/>
              </a:spcAft>
            </a:pPr>
            <a:r>
              <a:rPr sz="1350" b="0" i="0">
                <a:solidFill>
                  <a:srgbClr val="1D2B3A"/>
                </a:solidFill>
                <a:latin typeface="Aptos"/>
              </a:rPr>
              <a:t>Mobility advice should expose risk evidence, price and passenger constraints.</a:t>
            </a:r>
          </a:p>
        </p:txBody>
      </p:sp>
      <p:sp>
        <p:nvSpPr>
          <p:cNvPr id="22" name="Rounded Rectangle 21"/>
          <p:cNvSpPr/>
          <p:nvPr/>
        </p:nvSpPr>
        <p:spPr>
          <a:xfrm>
            <a:off x="777240" y="4636008"/>
            <a:ext cx="10634472" cy="82296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4782312"/>
            <a:ext cx="475488" cy="356616"/>
          </a:xfrm>
          <a:prstGeom prst="rect">
            <a:avLst/>
          </a:prstGeom>
          <a:noFill/>
        </p:spPr>
        <p:txBody>
          <a:bodyPr wrap="square" lIns="9144" rIns="9144" tIns="0" bIns="0" anchor="ctr">
            <a:spAutoFit/>
          </a:bodyPr>
          <a:lstStyle/>
          <a:p>
            <a:pPr algn="l">
              <a:spcBef>
                <a:spcPts val="0"/>
              </a:spcBef>
              <a:spcAft>
                <a:spcPts val="0"/>
              </a:spcAft>
            </a:pPr>
            <a:r>
              <a:rPr sz="1800" b="1" i="0">
                <a:solidFill>
                  <a:srgbClr val="1769E0"/>
                </a:solidFill>
                <a:latin typeface="Aptos"/>
              </a:rPr>
              <a:t>04</a:t>
            </a:r>
          </a:p>
        </p:txBody>
      </p:sp>
      <p:sp>
        <p:nvSpPr>
          <p:cNvPr id="24" name="TextBox 23"/>
          <p:cNvSpPr txBox="1"/>
          <p:nvPr/>
        </p:nvSpPr>
        <p:spPr>
          <a:xfrm>
            <a:off x="1645920" y="4736592"/>
            <a:ext cx="3593592" cy="493776"/>
          </a:xfrm>
          <a:prstGeom prst="rect">
            <a:avLst/>
          </a:prstGeom>
          <a:noFill/>
        </p:spPr>
        <p:txBody>
          <a:bodyPr wrap="square" lIns="9144" rIns="9144" tIns="0" bIns="0" anchor="ctr">
            <a:spAutoFit/>
          </a:bodyPr>
          <a:lstStyle/>
          <a:p>
            <a:pPr algn="l">
              <a:spcBef>
                <a:spcPts val="0"/>
              </a:spcBef>
              <a:spcAft>
                <a:spcPts val="0"/>
              </a:spcAft>
            </a:pPr>
            <a:r>
              <a:rPr sz="1670" b="1" i="0">
                <a:solidFill>
                  <a:srgbClr val="0B2A4A"/>
                </a:solidFill>
                <a:latin typeface="Aptos"/>
              </a:rPr>
              <a:t>Beyond image labels</a:t>
            </a:r>
          </a:p>
        </p:txBody>
      </p:sp>
      <p:sp>
        <p:nvSpPr>
          <p:cNvPr id="25" name="TextBox 24"/>
          <p:cNvSpPr txBox="1"/>
          <p:nvPr/>
        </p:nvSpPr>
        <p:spPr>
          <a:xfrm>
            <a:off x="5394960" y="4773168"/>
            <a:ext cx="5559552" cy="539496"/>
          </a:xfrm>
          <a:prstGeom prst="rect">
            <a:avLst/>
          </a:prstGeom>
          <a:noFill/>
        </p:spPr>
        <p:txBody>
          <a:bodyPr wrap="square" lIns="9144" rIns="9144" tIns="0" bIns="0" anchor="ctr">
            <a:spAutoFit/>
          </a:bodyPr>
          <a:lstStyle/>
          <a:p>
            <a:pPr algn="l">
              <a:spcBef>
                <a:spcPts val="0"/>
              </a:spcBef>
              <a:spcAft>
                <a:spcPts val="0"/>
              </a:spcAft>
            </a:pPr>
            <a:r>
              <a:rPr sz="1350" b="0" i="0">
                <a:solidFill>
                  <a:srgbClr val="1D2B3A"/>
                </a:solidFill>
                <a:latin typeface="Aptos"/>
              </a:rPr>
              <a:t>Landmark recognition should deliver relevant tourist information.</a:t>
            </a:r>
          </a:p>
        </p:txBody>
      </p:sp>
      <p:sp>
        <p:nvSpPr>
          <p:cNvPr id="26" name="TextBox 25"/>
          <p:cNvSpPr txBox="1"/>
          <p:nvPr/>
        </p:nvSpPr>
        <p:spPr>
          <a:xfrm>
            <a:off x="868680" y="5998464"/>
            <a:ext cx="10561320" cy="292608"/>
          </a:xfrm>
          <a:prstGeom prst="rect">
            <a:avLst/>
          </a:prstGeom>
          <a:noFill/>
        </p:spPr>
        <p:txBody>
          <a:bodyPr wrap="square" lIns="9144" rIns="9144" tIns="0" bIns="0" anchor="ctr">
            <a:spAutoFit/>
          </a:bodyPr>
          <a:lstStyle/>
          <a:p>
            <a:pPr algn="l">
              <a:spcBef>
                <a:spcPts val="0"/>
              </a:spcBef>
              <a:spcAft>
                <a:spcPts val="0"/>
              </a:spcAft>
            </a:pPr>
            <a:r>
              <a:rPr sz="1500" b="1" i="0">
                <a:solidFill>
                  <a:srgbClr val="1769E0"/>
                </a:solidFill>
                <a:latin typeface="Aptos"/>
              </a:rPr>
              <a:t>OBJECTIVE  ·  Design and evaluate a unified Sri Lankan tourism decision-support prototype.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System Architecture &amp; Component Integration</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05</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078992"/>
            <a:ext cx="10881360" cy="292608"/>
          </a:xfrm>
          <a:prstGeom prst="rect">
            <a:avLst/>
          </a:prstGeom>
          <a:noFill/>
        </p:spPr>
        <p:txBody>
          <a:bodyPr wrap="square" lIns="9144" rIns="9144" tIns="0" bIns="0" anchor="ctr">
            <a:spAutoFit/>
          </a:bodyPr>
          <a:lstStyle/>
          <a:p>
            <a:pPr algn="l">
              <a:spcBef>
                <a:spcPts val="0"/>
              </a:spcBef>
              <a:spcAft>
                <a:spcPts val="0"/>
              </a:spcAft>
            </a:pPr>
            <a:r>
              <a:rPr sz="1230" b="0" i="0">
                <a:solidFill>
                  <a:srgbClr val="60738A"/>
                </a:solidFill>
                <a:latin typeface="Aptos"/>
              </a:rPr>
              <a:t>Four user-facing capabilities with clear API boundaries and shared data services</a:t>
            </a:r>
          </a:p>
        </p:txBody>
      </p:sp>
      <p:sp>
        <p:nvSpPr>
          <p:cNvPr id="7" name="TextBox 6"/>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8" name="Rounded Rectangle 7"/>
          <p:cNvSpPr/>
          <p:nvPr/>
        </p:nvSpPr>
        <p:spPr>
          <a:xfrm>
            <a:off x="3694176" y="1325880"/>
            <a:ext cx="4773168" cy="612648"/>
          </a:xfrm>
          <a:prstGeom prst="roundRect">
            <a:avLst>
              <a:gd name="adj" fmla="val 12000"/>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05072" y="1389888"/>
            <a:ext cx="4133087" cy="493776"/>
          </a:xfrm>
          <a:prstGeom prst="rect">
            <a:avLst/>
          </a:prstGeom>
          <a:noFill/>
        </p:spPr>
        <p:txBody>
          <a:bodyPr wrap="square" lIns="9144" rIns="9144" tIns="0" bIns="0" anchor="ctr">
            <a:spAutoFit/>
          </a:bodyPr>
          <a:lstStyle/>
          <a:p>
            <a:pPr algn="ctr">
              <a:spcBef>
                <a:spcPts val="0"/>
              </a:spcBef>
              <a:spcAft>
                <a:spcPts val="0"/>
              </a:spcAft>
            </a:pPr>
            <a:r>
              <a:rPr sz="1700" b="1" i="0">
                <a:solidFill>
                  <a:srgbClr val="FFFFFF"/>
                </a:solidFill>
                <a:latin typeface="Aptos"/>
              </a:rPr>
              <a:t>Traveller  →  React Native / Expo frontend</a:t>
            </a:r>
          </a:p>
        </p:txBody>
      </p:sp>
      <p:cxnSp>
        <p:nvCxnSpPr>
          <p:cNvPr id="10" name="Connector 9"/>
          <p:cNvCxnSpPr/>
          <p:nvPr/>
        </p:nvCxnSpPr>
        <p:spPr>
          <a:xfrm>
            <a:off x="1993391" y="1956816"/>
            <a:ext cx="0" cy="420624"/>
          </a:xfrm>
          <a:prstGeom prst="line">
            <a:avLst/>
          </a:prstGeom>
          <a:ln w="21590">
            <a:solidFill>
              <a:srgbClr val="1769E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13232" y="2386584"/>
            <a:ext cx="2679192" cy="2084831"/>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1248" y="2523744"/>
            <a:ext cx="2432304" cy="42976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542032"/>
            <a:ext cx="2359152" cy="365760"/>
          </a:xfrm>
          <a:prstGeom prst="rect">
            <a:avLst/>
          </a:prstGeom>
          <a:noFill/>
        </p:spPr>
        <p:txBody>
          <a:bodyPr wrap="square" lIns="9144" rIns="9144" tIns="0" bIns="0" anchor="ctr">
            <a:spAutoFit/>
          </a:bodyPr>
          <a:lstStyle/>
          <a:p>
            <a:pPr algn="ctr">
              <a:spcBef>
                <a:spcPts val="0"/>
              </a:spcBef>
              <a:spcAft>
                <a:spcPts val="0"/>
              </a:spcAft>
            </a:pPr>
            <a:r>
              <a:rPr sz="1450" b="1" i="0">
                <a:solidFill>
                  <a:srgbClr val="FFFFFF"/>
                </a:solidFill>
                <a:latin typeface="Aptos"/>
              </a:rPr>
              <a:t>C1 · Tour Packages</a:t>
            </a:r>
          </a:p>
        </p:txBody>
      </p:sp>
      <p:sp>
        <p:nvSpPr>
          <p:cNvPr id="14" name="TextBox 13"/>
          <p:cNvSpPr txBox="1"/>
          <p:nvPr/>
        </p:nvSpPr>
        <p:spPr>
          <a:xfrm>
            <a:off x="896112" y="3063240"/>
            <a:ext cx="2322576" cy="256032"/>
          </a:xfrm>
          <a:prstGeom prst="rect">
            <a:avLst/>
          </a:prstGeom>
          <a:noFill/>
        </p:spPr>
        <p:txBody>
          <a:bodyPr wrap="square" lIns="9144" rIns="9144" tIns="0" bIns="0" anchor="ctr">
            <a:spAutoFit/>
          </a:bodyPr>
          <a:lstStyle/>
          <a:p>
            <a:pPr algn="ctr">
              <a:spcBef>
                <a:spcPts val="0"/>
              </a:spcBef>
              <a:spcAft>
                <a:spcPts val="0"/>
              </a:spcAft>
            </a:pPr>
            <a:r>
              <a:rPr sz="1350" b="1" i="0">
                <a:solidFill>
                  <a:srgbClr val="1769E0"/>
                </a:solidFill>
                <a:latin typeface="Aptos"/>
              </a:rPr>
              <a:t>IT22895196</a:t>
            </a:r>
          </a:p>
        </p:txBody>
      </p:sp>
      <p:sp>
        <p:nvSpPr>
          <p:cNvPr id="15" name="TextBox 14"/>
          <p:cNvSpPr txBox="1"/>
          <p:nvPr/>
        </p:nvSpPr>
        <p:spPr>
          <a:xfrm>
            <a:off x="868680" y="3429000"/>
            <a:ext cx="2350008" cy="338328"/>
          </a:xfrm>
          <a:prstGeom prst="rect">
            <a:avLst/>
          </a:prstGeom>
          <a:noFill/>
        </p:spPr>
        <p:txBody>
          <a:bodyPr wrap="square" lIns="9144" rIns="9144" tIns="0" bIns="0" anchor="ctr">
            <a:spAutoFit/>
          </a:bodyPr>
          <a:lstStyle/>
          <a:p>
            <a:pPr algn="ctr">
              <a:spcBef>
                <a:spcPts val="0"/>
              </a:spcBef>
              <a:spcAft>
                <a:spcPts val="0"/>
              </a:spcAft>
            </a:pPr>
            <a:r>
              <a:rPr sz="1470" b="1" i="0">
                <a:solidFill>
                  <a:srgbClr val="0B2A4A"/>
                </a:solidFill>
                <a:latin typeface="Aptos"/>
              </a:rPr>
              <a:t>Express API</a:t>
            </a:r>
          </a:p>
        </p:txBody>
      </p:sp>
      <p:sp>
        <p:nvSpPr>
          <p:cNvPr id="16" name="TextBox 15"/>
          <p:cNvSpPr txBox="1"/>
          <p:nvPr/>
        </p:nvSpPr>
        <p:spPr>
          <a:xfrm>
            <a:off x="841248" y="3913632"/>
            <a:ext cx="2423160" cy="347472"/>
          </a:xfrm>
          <a:prstGeom prst="rect">
            <a:avLst/>
          </a:prstGeom>
          <a:noFill/>
        </p:spPr>
        <p:txBody>
          <a:bodyPr wrap="square" lIns="9144" rIns="9144" tIns="0" bIns="0" anchor="ctr">
            <a:spAutoFit/>
          </a:bodyPr>
          <a:lstStyle/>
          <a:p>
            <a:pPr algn="ctr">
              <a:spcBef>
                <a:spcPts val="0"/>
              </a:spcBef>
              <a:spcAft>
                <a:spcPts val="0"/>
              </a:spcAft>
            </a:pPr>
            <a:r>
              <a:rPr sz="1180" b="0" i="0">
                <a:solidFill>
                  <a:srgbClr val="60738A"/>
                </a:solidFill>
                <a:latin typeface="Aptos"/>
              </a:rPr>
              <a:t>Ollama  ·  Neo4j  ·  LiteAPI</a:t>
            </a:r>
          </a:p>
        </p:txBody>
      </p:sp>
      <p:cxnSp>
        <p:nvCxnSpPr>
          <p:cNvPr id="17" name="Connector 16"/>
          <p:cNvCxnSpPr/>
          <p:nvPr/>
        </p:nvCxnSpPr>
        <p:spPr>
          <a:xfrm>
            <a:off x="4882896" y="1956816"/>
            <a:ext cx="0" cy="420624"/>
          </a:xfrm>
          <a:prstGeom prst="line">
            <a:avLst/>
          </a:prstGeom>
          <a:ln w="21590">
            <a:solidFill>
              <a:srgbClr val="1769E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602736" y="2386584"/>
            <a:ext cx="2679192" cy="2084831"/>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730752" y="2523744"/>
            <a:ext cx="2432304" cy="42976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7328" y="2542032"/>
            <a:ext cx="2359152" cy="365760"/>
          </a:xfrm>
          <a:prstGeom prst="rect">
            <a:avLst/>
          </a:prstGeom>
          <a:noFill/>
        </p:spPr>
        <p:txBody>
          <a:bodyPr wrap="square" lIns="9144" rIns="9144" tIns="0" bIns="0" anchor="ctr">
            <a:spAutoFit/>
          </a:bodyPr>
          <a:lstStyle/>
          <a:p>
            <a:pPr algn="ctr">
              <a:spcBef>
                <a:spcPts val="0"/>
              </a:spcBef>
              <a:spcAft>
                <a:spcPts val="0"/>
              </a:spcAft>
            </a:pPr>
            <a:r>
              <a:rPr sz="1450" b="1" i="0">
                <a:solidFill>
                  <a:srgbClr val="FFFFFF"/>
                </a:solidFill>
                <a:latin typeface="Aptos"/>
              </a:rPr>
              <a:t>C2 · Mobility &amp; Risk</a:t>
            </a:r>
          </a:p>
        </p:txBody>
      </p:sp>
      <p:sp>
        <p:nvSpPr>
          <p:cNvPr id="21" name="TextBox 20"/>
          <p:cNvSpPr txBox="1"/>
          <p:nvPr/>
        </p:nvSpPr>
        <p:spPr>
          <a:xfrm>
            <a:off x="3785616" y="3063240"/>
            <a:ext cx="2322576" cy="256032"/>
          </a:xfrm>
          <a:prstGeom prst="rect">
            <a:avLst/>
          </a:prstGeom>
          <a:noFill/>
        </p:spPr>
        <p:txBody>
          <a:bodyPr wrap="square" lIns="9144" rIns="9144" tIns="0" bIns="0" anchor="ctr">
            <a:spAutoFit/>
          </a:bodyPr>
          <a:lstStyle/>
          <a:p>
            <a:pPr algn="ctr">
              <a:spcBef>
                <a:spcPts val="0"/>
              </a:spcBef>
              <a:spcAft>
                <a:spcPts val="0"/>
              </a:spcAft>
            </a:pPr>
            <a:r>
              <a:rPr sz="1350" b="1" i="0">
                <a:solidFill>
                  <a:srgbClr val="1769E0"/>
                </a:solidFill>
                <a:latin typeface="Aptos"/>
              </a:rPr>
              <a:t>IT22555458</a:t>
            </a:r>
          </a:p>
        </p:txBody>
      </p:sp>
      <p:sp>
        <p:nvSpPr>
          <p:cNvPr id="22" name="TextBox 21"/>
          <p:cNvSpPr txBox="1"/>
          <p:nvPr/>
        </p:nvSpPr>
        <p:spPr>
          <a:xfrm>
            <a:off x="3758184" y="3429000"/>
            <a:ext cx="2350008" cy="338328"/>
          </a:xfrm>
          <a:prstGeom prst="rect">
            <a:avLst/>
          </a:prstGeom>
          <a:noFill/>
        </p:spPr>
        <p:txBody>
          <a:bodyPr wrap="square" lIns="9144" rIns="9144" tIns="0" bIns="0" anchor="ctr">
            <a:spAutoFit/>
          </a:bodyPr>
          <a:lstStyle/>
          <a:p>
            <a:pPr algn="ctr">
              <a:spcBef>
                <a:spcPts val="0"/>
              </a:spcBef>
              <a:spcAft>
                <a:spcPts val="0"/>
              </a:spcAft>
            </a:pPr>
            <a:r>
              <a:rPr sz="1470" b="1" i="0">
                <a:solidFill>
                  <a:srgbClr val="0B2A4A"/>
                </a:solidFill>
                <a:latin typeface="Aptos"/>
              </a:rPr>
              <a:t>Express + Python</a:t>
            </a:r>
          </a:p>
        </p:txBody>
      </p:sp>
      <p:sp>
        <p:nvSpPr>
          <p:cNvPr id="23" name="TextBox 22"/>
          <p:cNvSpPr txBox="1"/>
          <p:nvPr/>
        </p:nvSpPr>
        <p:spPr>
          <a:xfrm>
            <a:off x="3730752" y="3913632"/>
            <a:ext cx="2423160" cy="347472"/>
          </a:xfrm>
          <a:prstGeom prst="rect">
            <a:avLst/>
          </a:prstGeom>
          <a:noFill/>
        </p:spPr>
        <p:txBody>
          <a:bodyPr wrap="square" lIns="9144" rIns="9144" tIns="0" bIns="0" anchor="ctr">
            <a:spAutoFit/>
          </a:bodyPr>
          <a:lstStyle/>
          <a:p>
            <a:pPr algn="ctr">
              <a:spcBef>
                <a:spcPts val="0"/>
              </a:spcBef>
              <a:spcAft>
                <a:spcPts val="0"/>
              </a:spcAft>
            </a:pPr>
            <a:r>
              <a:rPr sz="1180" b="0" i="0">
                <a:solidFill>
                  <a:srgbClr val="60738A"/>
                </a:solidFill>
                <a:latin typeface="Aptos"/>
              </a:rPr>
              <a:t>OSRM  ·  Neo4j  ·  model</a:t>
            </a:r>
          </a:p>
        </p:txBody>
      </p:sp>
      <p:cxnSp>
        <p:nvCxnSpPr>
          <p:cNvPr id="24" name="Connector 23"/>
          <p:cNvCxnSpPr/>
          <p:nvPr/>
        </p:nvCxnSpPr>
        <p:spPr>
          <a:xfrm>
            <a:off x="7772400" y="1956816"/>
            <a:ext cx="0" cy="420624"/>
          </a:xfrm>
          <a:prstGeom prst="line">
            <a:avLst/>
          </a:prstGeom>
          <a:ln w="21590">
            <a:solidFill>
              <a:srgbClr val="1769E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492240" y="2386584"/>
            <a:ext cx="2679192" cy="2084831"/>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620256" y="2523744"/>
            <a:ext cx="2432304" cy="42976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56832" y="2542032"/>
            <a:ext cx="2359152" cy="365760"/>
          </a:xfrm>
          <a:prstGeom prst="rect">
            <a:avLst/>
          </a:prstGeom>
          <a:noFill/>
        </p:spPr>
        <p:txBody>
          <a:bodyPr wrap="square" lIns="9144" rIns="9144" tIns="0" bIns="0" anchor="ctr">
            <a:spAutoFit/>
          </a:bodyPr>
          <a:lstStyle/>
          <a:p>
            <a:pPr algn="ctr">
              <a:spcBef>
                <a:spcPts val="0"/>
              </a:spcBef>
              <a:spcAft>
                <a:spcPts val="0"/>
              </a:spcAft>
            </a:pPr>
            <a:r>
              <a:rPr sz="1450" b="1" i="0">
                <a:solidFill>
                  <a:srgbClr val="FFFFFF"/>
                </a:solidFill>
                <a:latin typeface="Aptos"/>
              </a:rPr>
              <a:t>C3 · Itineraries</a:t>
            </a:r>
          </a:p>
        </p:txBody>
      </p:sp>
      <p:sp>
        <p:nvSpPr>
          <p:cNvPr id="28" name="TextBox 27"/>
          <p:cNvSpPr txBox="1"/>
          <p:nvPr/>
        </p:nvSpPr>
        <p:spPr>
          <a:xfrm>
            <a:off x="6675120" y="3063240"/>
            <a:ext cx="2322576" cy="256032"/>
          </a:xfrm>
          <a:prstGeom prst="rect">
            <a:avLst/>
          </a:prstGeom>
          <a:noFill/>
        </p:spPr>
        <p:txBody>
          <a:bodyPr wrap="square" lIns="9144" rIns="9144" tIns="0" bIns="0" anchor="ctr">
            <a:spAutoFit/>
          </a:bodyPr>
          <a:lstStyle/>
          <a:p>
            <a:pPr algn="ctr">
              <a:spcBef>
                <a:spcPts val="0"/>
              </a:spcBef>
              <a:spcAft>
                <a:spcPts val="0"/>
              </a:spcAft>
            </a:pPr>
            <a:r>
              <a:rPr sz="1350" b="1" i="0">
                <a:solidFill>
                  <a:srgbClr val="1769E0"/>
                </a:solidFill>
                <a:latin typeface="Aptos"/>
              </a:rPr>
              <a:t>IT22224866</a:t>
            </a:r>
          </a:p>
        </p:txBody>
      </p:sp>
      <p:sp>
        <p:nvSpPr>
          <p:cNvPr id="29" name="TextBox 28"/>
          <p:cNvSpPr txBox="1"/>
          <p:nvPr/>
        </p:nvSpPr>
        <p:spPr>
          <a:xfrm>
            <a:off x="6647688" y="3429000"/>
            <a:ext cx="2350008" cy="338328"/>
          </a:xfrm>
          <a:prstGeom prst="rect">
            <a:avLst/>
          </a:prstGeom>
          <a:noFill/>
        </p:spPr>
        <p:txBody>
          <a:bodyPr wrap="square" lIns="9144" rIns="9144" tIns="0" bIns="0" anchor="ctr">
            <a:spAutoFit/>
          </a:bodyPr>
          <a:lstStyle/>
          <a:p>
            <a:pPr algn="ctr">
              <a:spcBef>
                <a:spcPts val="0"/>
              </a:spcBef>
              <a:spcAft>
                <a:spcPts val="0"/>
              </a:spcAft>
            </a:pPr>
            <a:r>
              <a:rPr sz="1470" b="1" i="0">
                <a:solidFill>
                  <a:srgbClr val="0B2A4A"/>
                </a:solidFill>
                <a:latin typeface="Aptos"/>
              </a:rPr>
              <a:t>Express → Flask</a:t>
            </a:r>
          </a:p>
        </p:txBody>
      </p:sp>
      <p:sp>
        <p:nvSpPr>
          <p:cNvPr id="30" name="TextBox 29"/>
          <p:cNvSpPr txBox="1"/>
          <p:nvPr/>
        </p:nvSpPr>
        <p:spPr>
          <a:xfrm>
            <a:off x="6620256" y="3913632"/>
            <a:ext cx="2423160" cy="347472"/>
          </a:xfrm>
          <a:prstGeom prst="rect">
            <a:avLst/>
          </a:prstGeom>
          <a:noFill/>
        </p:spPr>
        <p:txBody>
          <a:bodyPr wrap="square" lIns="9144" rIns="9144" tIns="0" bIns="0" anchor="ctr">
            <a:spAutoFit/>
          </a:bodyPr>
          <a:lstStyle/>
          <a:p>
            <a:pPr algn="ctr">
              <a:spcBef>
                <a:spcPts val="0"/>
              </a:spcBef>
              <a:spcAft>
                <a:spcPts val="0"/>
              </a:spcAft>
            </a:pPr>
            <a:r>
              <a:rPr sz="1180" b="0" i="0">
                <a:solidFill>
                  <a:srgbClr val="60738A"/>
                </a:solidFill>
                <a:latin typeface="Aptos"/>
              </a:rPr>
              <a:t>POIs  ·  Linear SVM  ·  GA</a:t>
            </a:r>
          </a:p>
        </p:txBody>
      </p:sp>
      <p:cxnSp>
        <p:nvCxnSpPr>
          <p:cNvPr id="31" name="Connector 30"/>
          <p:cNvCxnSpPr/>
          <p:nvPr/>
        </p:nvCxnSpPr>
        <p:spPr>
          <a:xfrm>
            <a:off x="10661904" y="1956816"/>
            <a:ext cx="0" cy="420624"/>
          </a:xfrm>
          <a:prstGeom prst="line">
            <a:avLst/>
          </a:prstGeom>
          <a:ln w="21590">
            <a:solidFill>
              <a:srgbClr val="1769E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381744" y="2386584"/>
            <a:ext cx="2679192" cy="2084831"/>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509760" y="2523744"/>
            <a:ext cx="2432304" cy="42976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46336" y="2542032"/>
            <a:ext cx="2359152" cy="365760"/>
          </a:xfrm>
          <a:prstGeom prst="rect">
            <a:avLst/>
          </a:prstGeom>
          <a:noFill/>
        </p:spPr>
        <p:txBody>
          <a:bodyPr wrap="square" lIns="9144" rIns="9144" tIns="0" bIns="0" anchor="ctr">
            <a:spAutoFit/>
          </a:bodyPr>
          <a:lstStyle/>
          <a:p>
            <a:pPr algn="ctr">
              <a:spcBef>
                <a:spcPts val="0"/>
              </a:spcBef>
              <a:spcAft>
                <a:spcPts val="0"/>
              </a:spcAft>
            </a:pPr>
            <a:r>
              <a:rPr sz="1450" b="1" i="0">
                <a:solidFill>
                  <a:srgbClr val="FFFFFF"/>
                </a:solidFill>
                <a:latin typeface="Aptos"/>
              </a:rPr>
              <a:t>C4 · Landmarks</a:t>
            </a:r>
          </a:p>
        </p:txBody>
      </p:sp>
      <p:sp>
        <p:nvSpPr>
          <p:cNvPr id="35" name="TextBox 34"/>
          <p:cNvSpPr txBox="1"/>
          <p:nvPr/>
        </p:nvSpPr>
        <p:spPr>
          <a:xfrm>
            <a:off x="9564624" y="3063240"/>
            <a:ext cx="2322576" cy="256032"/>
          </a:xfrm>
          <a:prstGeom prst="rect">
            <a:avLst/>
          </a:prstGeom>
          <a:noFill/>
        </p:spPr>
        <p:txBody>
          <a:bodyPr wrap="square" lIns="9144" rIns="9144" tIns="0" bIns="0" anchor="ctr">
            <a:spAutoFit/>
          </a:bodyPr>
          <a:lstStyle/>
          <a:p>
            <a:pPr algn="ctr">
              <a:spcBef>
                <a:spcPts val="0"/>
              </a:spcBef>
              <a:spcAft>
                <a:spcPts val="0"/>
              </a:spcAft>
            </a:pPr>
            <a:r>
              <a:rPr sz="1350" b="1" i="0">
                <a:solidFill>
                  <a:srgbClr val="1769E0"/>
                </a:solidFill>
                <a:latin typeface="Aptos"/>
              </a:rPr>
              <a:t>IT22214720</a:t>
            </a:r>
          </a:p>
        </p:txBody>
      </p:sp>
      <p:sp>
        <p:nvSpPr>
          <p:cNvPr id="36" name="TextBox 35"/>
          <p:cNvSpPr txBox="1"/>
          <p:nvPr/>
        </p:nvSpPr>
        <p:spPr>
          <a:xfrm>
            <a:off x="9537192" y="3429000"/>
            <a:ext cx="2350008" cy="338328"/>
          </a:xfrm>
          <a:prstGeom prst="rect">
            <a:avLst/>
          </a:prstGeom>
          <a:noFill/>
        </p:spPr>
        <p:txBody>
          <a:bodyPr wrap="square" lIns="9144" rIns="9144" tIns="0" bIns="0" anchor="ctr">
            <a:spAutoFit/>
          </a:bodyPr>
          <a:lstStyle/>
          <a:p>
            <a:pPr algn="ctr">
              <a:spcBef>
                <a:spcPts val="0"/>
              </a:spcBef>
              <a:spcAft>
                <a:spcPts val="0"/>
              </a:spcAft>
            </a:pPr>
            <a:r>
              <a:rPr sz="1470" b="1" i="0">
                <a:solidFill>
                  <a:srgbClr val="0B2A4A"/>
                </a:solidFill>
                <a:latin typeface="Aptos"/>
              </a:rPr>
              <a:t>Direct Flask API</a:t>
            </a:r>
          </a:p>
        </p:txBody>
      </p:sp>
      <p:sp>
        <p:nvSpPr>
          <p:cNvPr id="37" name="TextBox 36"/>
          <p:cNvSpPr txBox="1"/>
          <p:nvPr/>
        </p:nvSpPr>
        <p:spPr>
          <a:xfrm>
            <a:off x="9509760" y="3913632"/>
            <a:ext cx="2423160" cy="347472"/>
          </a:xfrm>
          <a:prstGeom prst="rect">
            <a:avLst/>
          </a:prstGeom>
          <a:noFill/>
        </p:spPr>
        <p:txBody>
          <a:bodyPr wrap="square" lIns="9144" rIns="9144" tIns="0" bIns="0" anchor="ctr">
            <a:spAutoFit/>
          </a:bodyPr>
          <a:lstStyle/>
          <a:p>
            <a:pPr algn="ctr">
              <a:spcBef>
                <a:spcPts val="0"/>
              </a:spcBef>
              <a:spcAft>
                <a:spcPts val="0"/>
              </a:spcAft>
            </a:pPr>
            <a:r>
              <a:rPr sz="1180" b="0" i="0">
                <a:solidFill>
                  <a:srgbClr val="60738A"/>
                </a:solidFill>
                <a:latin typeface="Aptos"/>
              </a:rPr>
              <a:t>MobileNetV2/SVM  ·  CSV</a:t>
            </a:r>
          </a:p>
        </p:txBody>
      </p:sp>
      <p:sp>
        <p:nvSpPr>
          <p:cNvPr id="38" name="Rounded Rectangle 37"/>
          <p:cNvSpPr/>
          <p:nvPr/>
        </p:nvSpPr>
        <p:spPr>
          <a:xfrm>
            <a:off x="1069848" y="4754880"/>
            <a:ext cx="10085832" cy="512064"/>
          </a:xfrm>
          <a:prstGeom prst="roundRect">
            <a:avLst>
              <a:gd name="adj" fmla="val 12000"/>
            </a:avLst>
          </a:prstGeom>
          <a:solidFill>
            <a:srgbClr val="EDF5FF"/>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25296" y="4855464"/>
            <a:ext cx="9710928" cy="283464"/>
          </a:xfrm>
          <a:prstGeom prst="rect">
            <a:avLst/>
          </a:prstGeom>
          <a:noFill/>
        </p:spPr>
        <p:txBody>
          <a:bodyPr wrap="square" lIns="9144" rIns="9144" tIns="0" bIns="0" anchor="ctr">
            <a:spAutoFit/>
          </a:bodyPr>
          <a:lstStyle/>
          <a:p>
            <a:pPr algn="ctr">
              <a:spcBef>
                <a:spcPts val="0"/>
              </a:spcBef>
              <a:spcAft>
                <a:spcPts val="0"/>
              </a:spcAft>
            </a:pPr>
            <a:r>
              <a:rPr sz="1400" b="1" i="0">
                <a:solidFill>
                  <a:srgbClr val="1769E0"/>
                </a:solidFill>
                <a:latin typeface="Aptos"/>
              </a:rPr>
              <a:t>Cross-component handoffs:  Selected hotel → mobility   |   Ordered stops → mobility</a:t>
            </a:r>
          </a:p>
        </p:txBody>
      </p:sp>
      <p:sp>
        <p:nvSpPr>
          <p:cNvPr id="40" name="Rounded Rectangle 39"/>
          <p:cNvSpPr/>
          <p:nvPr/>
        </p:nvSpPr>
        <p:spPr>
          <a:xfrm>
            <a:off x="1069848" y="5532120"/>
            <a:ext cx="10085832" cy="50292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34440" y="5614416"/>
            <a:ext cx="9710928" cy="310896"/>
          </a:xfrm>
          <a:prstGeom prst="rect">
            <a:avLst/>
          </a:prstGeom>
          <a:noFill/>
        </p:spPr>
        <p:txBody>
          <a:bodyPr wrap="square" lIns="9144" rIns="9144" tIns="0" bIns="0" anchor="ctr">
            <a:spAutoFit/>
          </a:bodyPr>
          <a:lstStyle/>
          <a:p>
            <a:pPr algn="ctr">
              <a:spcBef>
                <a:spcPts val="0"/>
              </a:spcBef>
              <a:spcAft>
                <a:spcPts val="0"/>
              </a:spcAft>
            </a:pPr>
            <a:r>
              <a:rPr sz="1220" b="0" i="0">
                <a:solidFill>
                  <a:srgbClr val="60738A"/>
                </a:solidFill>
                <a:latin typeface="Aptos"/>
              </a:rPr>
              <a:t>Data/services: Neo4j · MongoDB · CSV/ML artifacts · OSRM · weather/geocoding · optional AI services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Datasets, Models &amp; Evaluation Design</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06</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078992"/>
            <a:ext cx="10881360" cy="292608"/>
          </a:xfrm>
          <a:prstGeom prst="rect">
            <a:avLst/>
          </a:prstGeom>
          <a:noFill/>
        </p:spPr>
        <p:txBody>
          <a:bodyPr wrap="square" lIns="9144" rIns="9144" tIns="0" bIns="0" anchor="ctr">
            <a:spAutoFit/>
          </a:bodyPr>
          <a:lstStyle/>
          <a:p>
            <a:pPr algn="l">
              <a:spcBef>
                <a:spcPts val="0"/>
              </a:spcBef>
              <a:spcAft>
                <a:spcPts val="0"/>
              </a:spcAft>
            </a:pPr>
            <a:r>
              <a:rPr sz="1230" b="0" i="0">
                <a:solidFill>
                  <a:srgbClr val="60738A"/>
                </a:solidFill>
                <a:latin typeface="Aptos"/>
              </a:rPr>
              <a:t>Counts describe different data sources; numerical results come from different validation protocols</a:t>
            </a:r>
          </a:p>
        </p:txBody>
      </p:sp>
      <p:sp>
        <p:nvSpPr>
          <p:cNvPr id="7" name="TextBox 6"/>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8" name="Rounded Rectangle 7"/>
          <p:cNvSpPr/>
          <p:nvPr/>
        </p:nvSpPr>
        <p:spPr>
          <a:xfrm>
            <a:off x="713232" y="1664208"/>
            <a:ext cx="2679192" cy="3639312"/>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37943"/>
            <a:ext cx="2368296" cy="329184"/>
          </a:xfrm>
          <a:prstGeom prst="rect">
            <a:avLst/>
          </a:prstGeom>
          <a:noFill/>
        </p:spPr>
        <p:txBody>
          <a:bodyPr wrap="square" lIns="9144" rIns="9144" tIns="0" bIns="0" anchor="ctr">
            <a:spAutoFit/>
          </a:bodyPr>
          <a:lstStyle/>
          <a:p>
            <a:pPr algn="ctr">
              <a:spcBef>
                <a:spcPts val="0"/>
              </a:spcBef>
              <a:spcAft>
                <a:spcPts val="0"/>
              </a:spcAft>
            </a:pPr>
            <a:r>
              <a:rPr sz="1320" b="1" i="0">
                <a:solidFill>
                  <a:srgbClr val="1769E0"/>
                </a:solidFill>
                <a:latin typeface="Aptos"/>
              </a:rPr>
              <a:t>C1  ·  PACKAGE</a:t>
            </a:r>
          </a:p>
        </p:txBody>
      </p:sp>
      <p:sp>
        <p:nvSpPr>
          <p:cNvPr id="10" name="TextBox 9"/>
          <p:cNvSpPr txBox="1"/>
          <p:nvPr/>
        </p:nvSpPr>
        <p:spPr>
          <a:xfrm>
            <a:off x="841248" y="2432304"/>
            <a:ext cx="2414016" cy="594360"/>
          </a:xfrm>
          <a:prstGeom prst="rect">
            <a:avLst/>
          </a:prstGeom>
          <a:noFill/>
        </p:spPr>
        <p:txBody>
          <a:bodyPr wrap="square" lIns="9144" rIns="9144" tIns="0" bIns="0" anchor="ctr">
            <a:spAutoFit/>
          </a:bodyPr>
          <a:lstStyle/>
          <a:p>
            <a:pPr algn="ctr">
              <a:spcBef>
                <a:spcPts val="0"/>
              </a:spcBef>
              <a:spcAft>
                <a:spcPts val="0"/>
              </a:spcAft>
            </a:pPr>
            <a:r>
              <a:rPr sz="3900" b="1" i="0">
                <a:solidFill>
                  <a:srgbClr val="0B2A4A"/>
                </a:solidFill>
                <a:latin typeface="Aptos Display"/>
              </a:rPr>
              <a:t>1,830</a:t>
            </a:r>
          </a:p>
        </p:txBody>
      </p:sp>
      <p:sp>
        <p:nvSpPr>
          <p:cNvPr id="11" name="TextBox 10"/>
          <p:cNvSpPr txBox="1"/>
          <p:nvPr/>
        </p:nvSpPr>
        <p:spPr>
          <a:xfrm>
            <a:off x="868680" y="3118104"/>
            <a:ext cx="2368296" cy="338328"/>
          </a:xfrm>
          <a:prstGeom prst="rect">
            <a:avLst/>
          </a:prstGeom>
          <a:noFill/>
        </p:spPr>
        <p:txBody>
          <a:bodyPr wrap="square" lIns="9144" rIns="9144" tIns="0" bIns="0" anchor="ctr">
            <a:spAutoFit/>
          </a:bodyPr>
          <a:lstStyle/>
          <a:p>
            <a:pPr algn="ctr">
              <a:spcBef>
                <a:spcPts val="0"/>
              </a:spcBef>
              <a:spcAft>
                <a:spcPts val="0"/>
              </a:spcAft>
            </a:pPr>
            <a:r>
              <a:rPr sz="1550" b="1" i="0">
                <a:solidFill>
                  <a:srgbClr val="0B2A4A"/>
                </a:solidFill>
                <a:latin typeface="Aptos"/>
              </a:rPr>
              <a:t>hotel records</a:t>
            </a:r>
          </a:p>
        </p:txBody>
      </p:sp>
      <p:cxnSp>
        <p:nvCxnSpPr>
          <p:cNvPr id="12" name="Connector 11"/>
          <p:cNvCxnSpPr/>
          <p:nvPr/>
        </p:nvCxnSpPr>
        <p:spPr>
          <a:xfrm>
            <a:off x="1005840" y="3694176"/>
            <a:ext cx="2075688" cy="0"/>
          </a:xfrm>
          <a:prstGeom prst="line">
            <a:avLst/>
          </a:prstGeom>
          <a:ln w="15240">
            <a:solidFill>
              <a:srgbClr val="D5E4F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96112" y="3840480"/>
            <a:ext cx="2304288" cy="484632"/>
          </a:xfrm>
          <a:prstGeom prst="rect">
            <a:avLst/>
          </a:prstGeom>
          <a:noFill/>
        </p:spPr>
        <p:txBody>
          <a:bodyPr wrap="square" lIns="9144" rIns="9144" tIns="0" bIns="0" anchor="ctr">
            <a:spAutoFit/>
          </a:bodyPr>
          <a:lstStyle/>
          <a:p>
            <a:pPr algn="ctr">
              <a:spcBef>
                <a:spcPts val="0"/>
              </a:spcBef>
              <a:spcAft>
                <a:spcPts val="0"/>
              </a:spcAft>
            </a:pPr>
            <a:r>
              <a:rPr sz="1410" b="1" i="0">
                <a:solidFill>
                  <a:srgbClr val="1D2B3A"/>
                </a:solidFill>
                <a:latin typeface="Aptos"/>
              </a:rPr>
              <a:t>2,000 activities</a:t>
            </a:r>
          </a:p>
        </p:txBody>
      </p:sp>
      <p:sp>
        <p:nvSpPr>
          <p:cNvPr id="14" name="TextBox 13"/>
          <p:cNvSpPr txBox="1"/>
          <p:nvPr/>
        </p:nvSpPr>
        <p:spPr>
          <a:xfrm>
            <a:off x="896112" y="4581144"/>
            <a:ext cx="2304288" cy="594360"/>
          </a:xfrm>
          <a:prstGeom prst="rect">
            <a:avLst/>
          </a:prstGeom>
          <a:noFill/>
        </p:spPr>
        <p:txBody>
          <a:bodyPr wrap="square" lIns="9144" rIns="9144" tIns="0" bIns="0" anchor="t">
            <a:spAutoFit/>
          </a:bodyPr>
          <a:lstStyle/>
          <a:p>
            <a:pPr algn="ctr">
              <a:spcBef>
                <a:spcPts val="0"/>
              </a:spcBef>
              <a:spcAft>
                <a:spcPts val="0"/>
              </a:spcAft>
            </a:pPr>
            <a:r>
              <a:rPr sz="1180" b="0" i="0">
                <a:solidFill>
                  <a:srgbClr val="60738A"/>
                </a:solidFill>
                <a:latin typeface="Aptos"/>
              </a:rPr>
              <a:t>Graph lookup; no trained recommender evaluation</a:t>
            </a:r>
          </a:p>
        </p:txBody>
      </p:sp>
      <p:sp>
        <p:nvSpPr>
          <p:cNvPr id="15" name="Rounded Rectangle 14"/>
          <p:cNvSpPr/>
          <p:nvPr/>
        </p:nvSpPr>
        <p:spPr>
          <a:xfrm>
            <a:off x="3611880" y="1664208"/>
            <a:ext cx="2679192" cy="3639312"/>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67328" y="1837943"/>
            <a:ext cx="2368296" cy="329184"/>
          </a:xfrm>
          <a:prstGeom prst="rect">
            <a:avLst/>
          </a:prstGeom>
          <a:noFill/>
        </p:spPr>
        <p:txBody>
          <a:bodyPr wrap="square" lIns="9144" rIns="9144" tIns="0" bIns="0" anchor="ctr">
            <a:spAutoFit/>
          </a:bodyPr>
          <a:lstStyle/>
          <a:p>
            <a:pPr algn="ctr">
              <a:spcBef>
                <a:spcPts val="0"/>
              </a:spcBef>
              <a:spcAft>
                <a:spcPts val="0"/>
              </a:spcAft>
            </a:pPr>
            <a:r>
              <a:rPr sz="1320" b="1" i="0">
                <a:solidFill>
                  <a:srgbClr val="1769E0"/>
                </a:solidFill>
                <a:latin typeface="Aptos"/>
              </a:rPr>
              <a:t>C2  ·  MOBILITY</a:t>
            </a:r>
          </a:p>
        </p:txBody>
      </p:sp>
      <p:sp>
        <p:nvSpPr>
          <p:cNvPr id="17" name="TextBox 16"/>
          <p:cNvSpPr txBox="1"/>
          <p:nvPr/>
        </p:nvSpPr>
        <p:spPr>
          <a:xfrm>
            <a:off x="3739896" y="2432304"/>
            <a:ext cx="2414016" cy="594360"/>
          </a:xfrm>
          <a:prstGeom prst="rect">
            <a:avLst/>
          </a:prstGeom>
          <a:noFill/>
        </p:spPr>
        <p:txBody>
          <a:bodyPr wrap="square" lIns="9144" rIns="9144" tIns="0" bIns="0" anchor="ctr">
            <a:spAutoFit/>
          </a:bodyPr>
          <a:lstStyle/>
          <a:p>
            <a:pPr algn="ctr">
              <a:spcBef>
                <a:spcPts val="0"/>
              </a:spcBef>
              <a:spcAft>
                <a:spcPts val="0"/>
              </a:spcAft>
            </a:pPr>
            <a:r>
              <a:rPr sz="3900" b="1" i="0">
                <a:solidFill>
                  <a:srgbClr val="0B2A4A"/>
                </a:solidFill>
                <a:latin typeface="Aptos Display"/>
              </a:rPr>
              <a:t>1,000</a:t>
            </a:r>
          </a:p>
        </p:txBody>
      </p:sp>
      <p:sp>
        <p:nvSpPr>
          <p:cNvPr id="18" name="TextBox 17"/>
          <p:cNvSpPr txBox="1"/>
          <p:nvPr/>
        </p:nvSpPr>
        <p:spPr>
          <a:xfrm>
            <a:off x="3767328" y="3118104"/>
            <a:ext cx="2368296" cy="338328"/>
          </a:xfrm>
          <a:prstGeom prst="rect">
            <a:avLst/>
          </a:prstGeom>
          <a:noFill/>
        </p:spPr>
        <p:txBody>
          <a:bodyPr wrap="square" lIns="9144" rIns="9144" tIns="0" bIns="0" anchor="ctr">
            <a:spAutoFit/>
          </a:bodyPr>
          <a:lstStyle/>
          <a:p>
            <a:pPr algn="ctr">
              <a:spcBef>
                <a:spcPts val="0"/>
              </a:spcBef>
              <a:spcAft>
                <a:spcPts val="0"/>
              </a:spcAft>
            </a:pPr>
            <a:r>
              <a:rPr sz="1550" b="1" i="0">
                <a:solidFill>
                  <a:srgbClr val="0B2A4A"/>
                </a:solidFill>
                <a:latin typeface="Aptos"/>
              </a:rPr>
              <a:t>road records</a:t>
            </a:r>
          </a:p>
        </p:txBody>
      </p:sp>
      <p:cxnSp>
        <p:nvCxnSpPr>
          <p:cNvPr id="19" name="Connector 18"/>
          <p:cNvCxnSpPr/>
          <p:nvPr/>
        </p:nvCxnSpPr>
        <p:spPr>
          <a:xfrm>
            <a:off x="3904488" y="3694176"/>
            <a:ext cx="2075688" cy="0"/>
          </a:xfrm>
          <a:prstGeom prst="line">
            <a:avLst/>
          </a:prstGeom>
          <a:ln w="15240">
            <a:solidFill>
              <a:srgbClr val="D5E4F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794760" y="3840480"/>
            <a:ext cx="2304288" cy="484632"/>
          </a:xfrm>
          <a:prstGeom prst="rect">
            <a:avLst/>
          </a:prstGeom>
          <a:noFill/>
        </p:spPr>
        <p:txBody>
          <a:bodyPr wrap="square" lIns="9144" rIns="9144" tIns="0" bIns="0" anchor="ctr">
            <a:spAutoFit/>
          </a:bodyPr>
          <a:lstStyle/>
          <a:p>
            <a:pPr algn="ctr">
              <a:spcBef>
                <a:spcPts val="0"/>
              </a:spcBef>
              <a:spcAft>
                <a:spcPts val="0"/>
              </a:spcAft>
            </a:pPr>
            <a:r>
              <a:rPr sz="1410" b="1" i="0">
                <a:solidFill>
                  <a:srgbClr val="1D2B3A"/>
                </a:solidFill>
                <a:latin typeface="Aptos"/>
              </a:rPr>
              <a:t>598 hazard · 200 vehicle</a:t>
            </a:r>
          </a:p>
        </p:txBody>
      </p:sp>
      <p:sp>
        <p:nvSpPr>
          <p:cNvPr id="21" name="TextBox 20"/>
          <p:cNvSpPr txBox="1"/>
          <p:nvPr/>
        </p:nvSpPr>
        <p:spPr>
          <a:xfrm>
            <a:off x="3794760" y="4581144"/>
            <a:ext cx="2304288" cy="594360"/>
          </a:xfrm>
          <a:prstGeom prst="rect">
            <a:avLst/>
          </a:prstGeom>
          <a:noFill/>
        </p:spPr>
        <p:txBody>
          <a:bodyPr wrap="square" lIns="9144" rIns="9144" tIns="0" bIns="0" anchor="t">
            <a:spAutoFit/>
          </a:bodyPr>
          <a:lstStyle/>
          <a:p>
            <a:pPr algn="ctr">
              <a:spcBef>
                <a:spcPts val="0"/>
              </a:spcBef>
              <a:spcAft>
                <a:spcPts val="0"/>
              </a:spcAft>
            </a:pPr>
            <a:r>
              <a:rPr sz="1180" b="0" i="0">
                <a:solidFill>
                  <a:srgbClr val="60738A"/>
                </a:solidFill>
                <a:latin typeface="Aptos"/>
              </a:rPr>
              <a:t>598 derived model rows; route-group holdout</a:t>
            </a:r>
          </a:p>
        </p:txBody>
      </p:sp>
      <p:sp>
        <p:nvSpPr>
          <p:cNvPr id="22" name="Rounded Rectangle 21"/>
          <p:cNvSpPr/>
          <p:nvPr/>
        </p:nvSpPr>
        <p:spPr>
          <a:xfrm>
            <a:off x="6510528" y="1664208"/>
            <a:ext cx="2679192" cy="3639312"/>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65976" y="1837943"/>
            <a:ext cx="2368296" cy="329184"/>
          </a:xfrm>
          <a:prstGeom prst="rect">
            <a:avLst/>
          </a:prstGeom>
          <a:noFill/>
        </p:spPr>
        <p:txBody>
          <a:bodyPr wrap="square" lIns="9144" rIns="9144" tIns="0" bIns="0" anchor="ctr">
            <a:spAutoFit/>
          </a:bodyPr>
          <a:lstStyle/>
          <a:p>
            <a:pPr algn="ctr">
              <a:spcBef>
                <a:spcPts val="0"/>
              </a:spcBef>
              <a:spcAft>
                <a:spcPts val="0"/>
              </a:spcAft>
            </a:pPr>
            <a:r>
              <a:rPr sz="1320" b="1" i="0">
                <a:solidFill>
                  <a:srgbClr val="1769E0"/>
                </a:solidFill>
                <a:latin typeface="Aptos"/>
              </a:rPr>
              <a:t>C3  ·  ITINERARY</a:t>
            </a:r>
          </a:p>
        </p:txBody>
      </p:sp>
      <p:sp>
        <p:nvSpPr>
          <p:cNvPr id="24" name="TextBox 23"/>
          <p:cNvSpPr txBox="1"/>
          <p:nvPr/>
        </p:nvSpPr>
        <p:spPr>
          <a:xfrm>
            <a:off x="6638544" y="2432304"/>
            <a:ext cx="2414016" cy="594360"/>
          </a:xfrm>
          <a:prstGeom prst="rect">
            <a:avLst/>
          </a:prstGeom>
          <a:noFill/>
        </p:spPr>
        <p:txBody>
          <a:bodyPr wrap="square" lIns="9144" rIns="9144" tIns="0" bIns="0" anchor="ctr">
            <a:spAutoFit/>
          </a:bodyPr>
          <a:lstStyle/>
          <a:p>
            <a:pPr algn="ctr">
              <a:spcBef>
                <a:spcPts val="0"/>
              </a:spcBef>
              <a:spcAft>
                <a:spcPts val="0"/>
              </a:spcAft>
            </a:pPr>
            <a:r>
              <a:rPr sz="3900" b="1" i="0">
                <a:solidFill>
                  <a:srgbClr val="0B2A4A"/>
                </a:solidFill>
                <a:latin typeface="Aptos Display"/>
              </a:rPr>
              <a:t>158</a:t>
            </a:r>
          </a:p>
        </p:txBody>
      </p:sp>
      <p:sp>
        <p:nvSpPr>
          <p:cNvPr id="25" name="TextBox 24"/>
          <p:cNvSpPr txBox="1"/>
          <p:nvPr/>
        </p:nvSpPr>
        <p:spPr>
          <a:xfrm>
            <a:off x="6665976" y="3118104"/>
            <a:ext cx="2368296" cy="338328"/>
          </a:xfrm>
          <a:prstGeom prst="rect">
            <a:avLst/>
          </a:prstGeom>
          <a:noFill/>
        </p:spPr>
        <p:txBody>
          <a:bodyPr wrap="square" lIns="9144" rIns="9144" tIns="0" bIns="0" anchor="ctr">
            <a:spAutoFit/>
          </a:bodyPr>
          <a:lstStyle/>
          <a:p>
            <a:pPr algn="ctr">
              <a:spcBef>
                <a:spcPts val="0"/>
              </a:spcBef>
              <a:spcAft>
                <a:spcPts val="0"/>
              </a:spcAft>
            </a:pPr>
            <a:r>
              <a:rPr sz="1550" b="1" i="0">
                <a:solidFill>
                  <a:srgbClr val="0B2A4A"/>
                </a:solidFill>
                <a:latin typeface="Aptos"/>
              </a:rPr>
              <a:t>active verified POIs</a:t>
            </a:r>
          </a:p>
        </p:txBody>
      </p:sp>
      <p:cxnSp>
        <p:nvCxnSpPr>
          <p:cNvPr id="26" name="Connector 25"/>
          <p:cNvCxnSpPr/>
          <p:nvPr/>
        </p:nvCxnSpPr>
        <p:spPr>
          <a:xfrm>
            <a:off x="6803136" y="3694176"/>
            <a:ext cx="2075688" cy="0"/>
          </a:xfrm>
          <a:prstGeom prst="line">
            <a:avLst/>
          </a:prstGeom>
          <a:ln w="15240">
            <a:solidFill>
              <a:srgbClr val="D5E4F7"/>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693408" y="3840480"/>
            <a:ext cx="2304288" cy="484632"/>
          </a:xfrm>
          <a:prstGeom prst="rect">
            <a:avLst/>
          </a:prstGeom>
          <a:noFill/>
        </p:spPr>
        <p:txBody>
          <a:bodyPr wrap="square" lIns="9144" rIns="9144" tIns="0" bIns="0" anchor="ctr">
            <a:spAutoFit/>
          </a:bodyPr>
          <a:lstStyle/>
          <a:p>
            <a:pPr algn="ctr">
              <a:spcBef>
                <a:spcPts val="0"/>
              </a:spcBef>
              <a:spcAft>
                <a:spcPts val="0"/>
              </a:spcAft>
            </a:pPr>
            <a:r>
              <a:rPr sz="1410" b="1" i="0">
                <a:solidFill>
                  <a:srgbClr val="1D2B3A"/>
                </a:solidFill>
                <a:latin typeface="Aptos"/>
              </a:rPr>
              <a:t>60 human-reviewed pairs</a:t>
            </a:r>
          </a:p>
        </p:txBody>
      </p:sp>
      <p:sp>
        <p:nvSpPr>
          <p:cNvPr id="28" name="TextBox 27"/>
          <p:cNvSpPr txBox="1"/>
          <p:nvPr/>
        </p:nvSpPr>
        <p:spPr>
          <a:xfrm>
            <a:off x="6693408" y="4581144"/>
            <a:ext cx="2304288" cy="594360"/>
          </a:xfrm>
          <a:prstGeom prst="rect">
            <a:avLst/>
          </a:prstGeom>
          <a:noFill/>
        </p:spPr>
        <p:txBody>
          <a:bodyPr wrap="square" lIns="9144" rIns="9144" tIns="0" bIns="0" anchor="t">
            <a:spAutoFit/>
          </a:bodyPr>
          <a:lstStyle/>
          <a:p>
            <a:pPr algn="ctr">
              <a:spcBef>
                <a:spcPts val="0"/>
              </a:spcBef>
              <a:spcAft>
                <a:spcPts val="0"/>
              </a:spcAft>
            </a:pPr>
            <a:r>
              <a:rPr sz="1180" b="0" i="0">
                <a:solidFill>
                  <a:srgbClr val="60738A"/>
                </a:solidFill>
                <a:latin typeface="Aptos"/>
              </a:rPr>
              <a:t>Kandy 60 · Matale 53 · Nuwara Eliya 45</a:t>
            </a:r>
          </a:p>
        </p:txBody>
      </p:sp>
      <p:sp>
        <p:nvSpPr>
          <p:cNvPr id="29" name="Rounded Rectangle 28"/>
          <p:cNvSpPr/>
          <p:nvPr/>
        </p:nvSpPr>
        <p:spPr>
          <a:xfrm>
            <a:off x="9409176" y="1664208"/>
            <a:ext cx="2679192" cy="3639312"/>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64624" y="1837943"/>
            <a:ext cx="2368296" cy="329184"/>
          </a:xfrm>
          <a:prstGeom prst="rect">
            <a:avLst/>
          </a:prstGeom>
          <a:noFill/>
        </p:spPr>
        <p:txBody>
          <a:bodyPr wrap="square" lIns="9144" rIns="9144" tIns="0" bIns="0" anchor="ctr">
            <a:spAutoFit/>
          </a:bodyPr>
          <a:lstStyle/>
          <a:p>
            <a:pPr algn="ctr">
              <a:spcBef>
                <a:spcPts val="0"/>
              </a:spcBef>
              <a:spcAft>
                <a:spcPts val="0"/>
              </a:spcAft>
            </a:pPr>
            <a:r>
              <a:rPr sz="1320" b="1" i="0">
                <a:solidFill>
                  <a:srgbClr val="1769E0"/>
                </a:solidFill>
                <a:latin typeface="Aptos"/>
              </a:rPr>
              <a:t>C4  ·  LANDMARK</a:t>
            </a:r>
          </a:p>
        </p:txBody>
      </p:sp>
      <p:sp>
        <p:nvSpPr>
          <p:cNvPr id="31" name="TextBox 30"/>
          <p:cNvSpPr txBox="1"/>
          <p:nvPr/>
        </p:nvSpPr>
        <p:spPr>
          <a:xfrm>
            <a:off x="9537192" y="2432304"/>
            <a:ext cx="2414016" cy="594360"/>
          </a:xfrm>
          <a:prstGeom prst="rect">
            <a:avLst/>
          </a:prstGeom>
          <a:noFill/>
        </p:spPr>
        <p:txBody>
          <a:bodyPr wrap="square" lIns="9144" rIns="9144" tIns="0" bIns="0" anchor="ctr">
            <a:spAutoFit/>
          </a:bodyPr>
          <a:lstStyle/>
          <a:p>
            <a:pPr algn="ctr">
              <a:spcBef>
                <a:spcPts val="0"/>
              </a:spcBef>
              <a:spcAft>
                <a:spcPts val="0"/>
              </a:spcAft>
            </a:pPr>
            <a:r>
              <a:rPr sz="3900" b="1" i="0">
                <a:solidFill>
                  <a:srgbClr val="0B2A4A"/>
                </a:solidFill>
                <a:latin typeface="Aptos Display"/>
              </a:rPr>
              <a:t>5,500</a:t>
            </a:r>
          </a:p>
        </p:txBody>
      </p:sp>
      <p:sp>
        <p:nvSpPr>
          <p:cNvPr id="32" name="TextBox 31"/>
          <p:cNvSpPr txBox="1"/>
          <p:nvPr/>
        </p:nvSpPr>
        <p:spPr>
          <a:xfrm>
            <a:off x="9564624" y="3118104"/>
            <a:ext cx="2368296" cy="338328"/>
          </a:xfrm>
          <a:prstGeom prst="rect">
            <a:avLst/>
          </a:prstGeom>
          <a:noFill/>
        </p:spPr>
        <p:txBody>
          <a:bodyPr wrap="square" lIns="9144" rIns="9144" tIns="0" bIns="0" anchor="ctr">
            <a:spAutoFit/>
          </a:bodyPr>
          <a:lstStyle/>
          <a:p>
            <a:pPr algn="ctr">
              <a:spcBef>
                <a:spcPts val="0"/>
              </a:spcBef>
              <a:spcAft>
                <a:spcPts val="0"/>
              </a:spcAft>
            </a:pPr>
            <a:r>
              <a:rPr sz="1550" b="1" i="0">
                <a:solidFill>
                  <a:srgbClr val="0B2A4A"/>
                </a:solidFill>
                <a:latin typeface="Aptos"/>
              </a:rPr>
              <a:t>image records</a:t>
            </a:r>
          </a:p>
        </p:txBody>
      </p:sp>
      <p:cxnSp>
        <p:nvCxnSpPr>
          <p:cNvPr id="33" name="Connector 32"/>
          <p:cNvCxnSpPr/>
          <p:nvPr/>
        </p:nvCxnSpPr>
        <p:spPr>
          <a:xfrm>
            <a:off x="9701784" y="3694176"/>
            <a:ext cx="2075688" cy="0"/>
          </a:xfrm>
          <a:prstGeom prst="line">
            <a:avLst/>
          </a:prstGeom>
          <a:ln w="15240">
            <a:solidFill>
              <a:srgbClr val="D5E4F7"/>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592055" y="3840480"/>
            <a:ext cx="2304288" cy="484632"/>
          </a:xfrm>
          <a:prstGeom prst="rect">
            <a:avLst/>
          </a:prstGeom>
          <a:noFill/>
        </p:spPr>
        <p:txBody>
          <a:bodyPr wrap="square" lIns="9144" rIns="9144" tIns="0" bIns="0" anchor="ctr">
            <a:spAutoFit/>
          </a:bodyPr>
          <a:lstStyle/>
          <a:p>
            <a:pPr algn="ctr">
              <a:spcBef>
                <a:spcPts val="0"/>
              </a:spcBef>
              <a:spcAft>
                <a:spcPts val="0"/>
              </a:spcAft>
            </a:pPr>
            <a:r>
              <a:rPr sz="1410" b="1" i="0">
                <a:solidFill>
                  <a:srgbClr val="1D2B3A"/>
                </a:solidFill>
                <a:latin typeface="Aptos"/>
              </a:rPr>
              <a:t>17 landmark classes</a:t>
            </a:r>
          </a:p>
        </p:txBody>
      </p:sp>
      <p:sp>
        <p:nvSpPr>
          <p:cNvPr id="35" name="TextBox 34"/>
          <p:cNvSpPr txBox="1"/>
          <p:nvPr/>
        </p:nvSpPr>
        <p:spPr>
          <a:xfrm>
            <a:off x="9592055" y="4581144"/>
            <a:ext cx="2304288" cy="594360"/>
          </a:xfrm>
          <a:prstGeom prst="rect">
            <a:avLst/>
          </a:prstGeom>
          <a:noFill/>
        </p:spPr>
        <p:txBody>
          <a:bodyPr wrap="square" lIns="9144" rIns="9144" tIns="0" bIns="0" anchor="t">
            <a:spAutoFit/>
          </a:bodyPr>
          <a:lstStyle/>
          <a:p>
            <a:pPr algn="ctr">
              <a:spcBef>
                <a:spcPts val="0"/>
              </a:spcBef>
              <a:spcAft>
                <a:spcPts val="0"/>
              </a:spcAft>
            </a:pPr>
            <a:r>
              <a:rPr sz="1180" b="0" i="0">
                <a:solidFill>
                  <a:srgbClr val="60738A"/>
                </a:solidFill>
                <a:latin typeface="Aptos"/>
              </a:rPr>
              <a:t>4,400 / 1,100 train/validation</a:t>
            </a:r>
          </a:p>
        </p:txBody>
      </p:sp>
      <p:sp>
        <p:nvSpPr>
          <p:cNvPr id="36" name="Rounded Rectangle 35"/>
          <p:cNvSpPr/>
          <p:nvPr/>
        </p:nvSpPr>
        <p:spPr>
          <a:xfrm>
            <a:off x="795528" y="5669280"/>
            <a:ext cx="10625328" cy="502920"/>
          </a:xfrm>
          <a:prstGeom prst="roundRect">
            <a:avLst>
              <a:gd name="adj" fmla="val 12000"/>
            </a:avLst>
          </a:prstGeom>
          <a:solidFill>
            <a:srgbClr val="ED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41832" y="5733288"/>
            <a:ext cx="10296144" cy="310896"/>
          </a:xfrm>
          <a:prstGeom prst="rect">
            <a:avLst/>
          </a:prstGeom>
          <a:noFill/>
        </p:spPr>
        <p:txBody>
          <a:bodyPr wrap="square" lIns="9144" rIns="9144" tIns="0" bIns="0" anchor="ctr">
            <a:spAutoFit/>
          </a:bodyPr>
          <a:lstStyle/>
          <a:p>
            <a:pPr algn="ctr">
              <a:spcBef>
                <a:spcPts val="0"/>
              </a:spcBef>
              <a:spcAft>
                <a:spcPts val="0"/>
              </a:spcAft>
            </a:pPr>
            <a:r>
              <a:rPr sz="1370" b="1" i="0">
                <a:solidFill>
                  <a:srgbClr val="1769E0"/>
                </a:solidFill>
                <a:latin typeface="Aptos"/>
              </a:rPr>
              <a:t>Research integrity: training, holdout, notebook validation and dataset inventory are not interchangeable.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Component 1  |  Research Contribution</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07</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7" name="Rounded Rectangle 6"/>
          <p:cNvSpPr/>
          <p:nvPr/>
        </p:nvSpPr>
        <p:spPr>
          <a:xfrm>
            <a:off x="749808" y="1316736"/>
            <a:ext cx="1307592" cy="347472"/>
          </a:xfrm>
          <a:prstGeom prst="roundRect">
            <a:avLst>
              <a:gd name="adj" fmla="val 12000"/>
            </a:avLst>
          </a:prstGeom>
          <a:solidFill>
            <a:srgbClr val="ED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5" y="1325880"/>
            <a:ext cx="1179576" cy="329184"/>
          </a:xfrm>
          <a:prstGeom prst="rect">
            <a:avLst/>
          </a:prstGeom>
          <a:noFill/>
        </p:spPr>
        <p:txBody>
          <a:bodyPr wrap="square" lIns="9144" rIns="9144" tIns="0" bIns="0" anchor="ctr">
            <a:spAutoFit/>
          </a:bodyPr>
          <a:lstStyle/>
          <a:p>
            <a:r>
              <a:rPr sz="1050" b="1">
                <a:solidFill>
                  <a:srgbClr val="1769E0"/>
                </a:solidFill>
                <a:latin typeface="Aptos"/>
              </a:rPr>
              <a:t>COMPONENT 01</a:t>
            </a:r>
          </a:p>
        </p:txBody>
      </p:sp>
      <p:sp>
        <p:nvSpPr>
          <p:cNvPr id="9" name="TextBox 8"/>
          <p:cNvSpPr txBox="1"/>
          <p:nvPr/>
        </p:nvSpPr>
        <p:spPr>
          <a:xfrm>
            <a:off x="768096" y="1837943"/>
            <a:ext cx="7589520" cy="996696"/>
          </a:xfrm>
          <a:prstGeom prst="rect">
            <a:avLst/>
          </a:prstGeom>
          <a:noFill/>
        </p:spPr>
        <p:txBody>
          <a:bodyPr wrap="square" lIns="9144" rIns="9144" tIns="0" bIns="0" anchor="t">
            <a:spAutoFit/>
          </a:bodyPr>
          <a:lstStyle/>
          <a:p>
            <a:pPr algn="l">
              <a:spcBef>
                <a:spcPts val="0"/>
              </a:spcBef>
              <a:spcAft>
                <a:spcPts val="0"/>
              </a:spcAft>
            </a:pPr>
            <a:r>
              <a:rPr sz="3000" b="1" i="0">
                <a:solidFill>
                  <a:srgbClr val="0B2A4A"/>
                </a:solidFill>
                <a:latin typeface="Aptos Display"/>
              </a:rPr>
              <a:t>Intelligent Tour Package Generation</a:t>
            </a:r>
          </a:p>
        </p:txBody>
      </p:sp>
      <p:sp>
        <p:nvSpPr>
          <p:cNvPr id="10" name="TextBox 9"/>
          <p:cNvSpPr txBox="1"/>
          <p:nvPr/>
        </p:nvSpPr>
        <p:spPr>
          <a:xfrm>
            <a:off x="795528" y="2871216"/>
            <a:ext cx="7315200" cy="493776"/>
          </a:xfrm>
          <a:prstGeom prst="rect">
            <a:avLst/>
          </a:prstGeom>
          <a:noFill/>
        </p:spPr>
        <p:txBody>
          <a:bodyPr wrap="square" lIns="9144" rIns="9144" tIns="0" bIns="0" anchor="t">
            <a:spAutoFit/>
          </a:bodyPr>
          <a:lstStyle/>
          <a:p>
            <a:pPr algn="l">
              <a:spcBef>
                <a:spcPts val="0"/>
              </a:spcBef>
              <a:spcAft>
                <a:spcPts val="0"/>
              </a:spcAft>
            </a:pPr>
            <a:r>
              <a:rPr sz="1720" b="0" i="0">
                <a:solidFill>
                  <a:srgbClr val="60738A"/>
                </a:solidFill>
                <a:latin typeface="Aptos"/>
              </a:rPr>
              <a:t>From natural-language traveller preferences to graph-backed hotel and activity packages.</a:t>
            </a:r>
          </a:p>
        </p:txBody>
      </p:sp>
      <p:sp>
        <p:nvSpPr>
          <p:cNvPr id="11" name="Rounded Rectangle 10"/>
          <p:cNvSpPr/>
          <p:nvPr/>
        </p:nvSpPr>
        <p:spPr>
          <a:xfrm>
            <a:off x="8613648" y="1463040"/>
            <a:ext cx="2752344" cy="2048256"/>
          </a:xfrm>
          <a:prstGeom prst="roundRect">
            <a:avLst>
              <a:gd name="adj" fmla="val 12000"/>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7112" y="1682496"/>
            <a:ext cx="2249424" cy="274320"/>
          </a:xfrm>
          <a:prstGeom prst="rect">
            <a:avLst/>
          </a:prstGeom>
          <a:noFill/>
        </p:spPr>
        <p:txBody>
          <a:bodyPr wrap="square" lIns="9144" rIns="9144" tIns="0" bIns="0" anchor="ctr">
            <a:spAutoFit/>
          </a:bodyPr>
          <a:lstStyle/>
          <a:p>
            <a:pPr algn="l">
              <a:spcBef>
                <a:spcPts val="0"/>
              </a:spcBef>
              <a:spcAft>
                <a:spcPts val="0"/>
              </a:spcAft>
            </a:pPr>
            <a:r>
              <a:rPr sz="1100" b="1" i="0">
                <a:solidFill>
                  <a:srgbClr val="F5B942"/>
                </a:solidFill>
                <a:latin typeface="Aptos"/>
              </a:rPr>
              <a:t>RESEARCHER</a:t>
            </a:r>
          </a:p>
        </p:txBody>
      </p:sp>
      <p:sp>
        <p:nvSpPr>
          <p:cNvPr id="13" name="TextBox 12"/>
          <p:cNvSpPr txBox="1"/>
          <p:nvPr/>
        </p:nvSpPr>
        <p:spPr>
          <a:xfrm>
            <a:off x="8887968" y="2048256"/>
            <a:ext cx="2286000" cy="548640"/>
          </a:xfrm>
          <a:prstGeom prst="rect">
            <a:avLst/>
          </a:prstGeom>
          <a:noFill/>
        </p:spPr>
        <p:txBody>
          <a:bodyPr wrap="square" lIns="9144" rIns="9144" tIns="0" bIns="0" anchor="t">
            <a:spAutoFit/>
          </a:bodyPr>
          <a:lstStyle/>
          <a:p>
            <a:pPr algn="l">
              <a:spcBef>
                <a:spcPts val="0"/>
              </a:spcBef>
              <a:spcAft>
                <a:spcPts val="0"/>
              </a:spcAft>
            </a:pPr>
            <a:r>
              <a:rPr sz="1700" b="1" i="0">
                <a:solidFill>
                  <a:srgbClr val="FFFFFF"/>
                </a:solidFill>
                <a:latin typeface="Aptos"/>
              </a:rPr>
              <a:t>Deniyawatte D.G.A.D.N</a:t>
            </a:r>
          </a:p>
        </p:txBody>
      </p:sp>
      <p:sp>
        <p:nvSpPr>
          <p:cNvPr id="14" name="TextBox 13"/>
          <p:cNvSpPr txBox="1"/>
          <p:nvPr/>
        </p:nvSpPr>
        <p:spPr>
          <a:xfrm>
            <a:off x="8887968" y="2944368"/>
            <a:ext cx="2286000" cy="246888"/>
          </a:xfrm>
          <a:prstGeom prst="rect">
            <a:avLst/>
          </a:prstGeom>
          <a:noFill/>
        </p:spPr>
        <p:txBody>
          <a:bodyPr wrap="square" lIns="9144" rIns="9144" tIns="0" bIns="0" anchor="ctr">
            <a:spAutoFit/>
          </a:bodyPr>
          <a:lstStyle/>
          <a:p>
            <a:pPr algn="l">
              <a:spcBef>
                <a:spcPts val="0"/>
              </a:spcBef>
              <a:spcAft>
                <a:spcPts val="0"/>
              </a:spcAft>
            </a:pPr>
            <a:r>
              <a:rPr sz="1450" b="1" i="0">
                <a:solidFill>
                  <a:srgbClr val="F5B942"/>
                </a:solidFill>
                <a:latin typeface="Aptos"/>
              </a:rPr>
              <a:t>IT22895196</a:t>
            </a:r>
          </a:p>
        </p:txBody>
      </p:sp>
      <p:sp>
        <p:nvSpPr>
          <p:cNvPr id="15" name="TextBox 14"/>
          <p:cNvSpPr txBox="1"/>
          <p:nvPr/>
        </p:nvSpPr>
        <p:spPr>
          <a:xfrm>
            <a:off x="804672" y="3657600"/>
            <a:ext cx="3200400" cy="274320"/>
          </a:xfrm>
          <a:prstGeom prst="rect">
            <a:avLst/>
          </a:prstGeom>
          <a:noFill/>
        </p:spPr>
        <p:txBody>
          <a:bodyPr wrap="square" lIns="9144" rIns="9144" tIns="0" bIns="0" anchor="ctr">
            <a:spAutoFit/>
          </a:bodyPr>
          <a:lstStyle/>
          <a:p>
            <a:pPr algn="l">
              <a:spcBef>
                <a:spcPts val="0"/>
              </a:spcBef>
              <a:spcAft>
                <a:spcPts val="0"/>
              </a:spcAft>
            </a:pPr>
            <a:r>
              <a:rPr sz="1250" b="1" i="0">
                <a:solidFill>
                  <a:srgbClr val="1769E0"/>
                </a:solidFill>
                <a:latin typeface="Aptos"/>
              </a:rPr>
              <a:t>RESEARCH CONTRIBUTION</a:t>
            </a:r>
          </a:p>
        </p:txBody>
      </p:sp>
      <p:cxnSp>
        <p:nvCxnSpPr>
          <p:cNvPr id="16" name="Connector 15"/>
          <p:cNvCxnSpPr/>
          <p:nvPr/>
        </p:nvCxnSpPr>
        <p:spPr>
          <a:xfrm>
            <a:off x="804672" y="3977639"/>
            <a:ext cx="2651760" cy="0"/>
          </a:xfrm>
          <a:prstGeom prst="line">
            <a:avLst/>
          </a:prstGeom>
          <a:ln w="19050">
            <a:solidFill>
              <a:srgbClr val="1769E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5528" y="4178808"/>
            <a:ext cx="3511296" cy="155448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334256"/>
            <a:ext cx="338328" cy="329184"/>
          </a:xfrm>
          <a:prstGeom prst="rect">
            <a:avLst/>
          </a:prstGeom>
          <a:noFill/>
        </p:spPr>
        <p:txBody>
          <a:bodyPr wrap="square" lIns="9144" rIns="9144" tIns="0" bIns="0" anchor="ctr">
            <a:spAutoFit/>
          </a:bodyPr>
          <a:lstStyle/>
          <a:p>
            <a:pPr algn="l">
              <a:spcBef>
                <a:spcPts val="0"/>
              </a:spcBef>
              <a:spcAft>
                <a:spcPts val="0"/>
              </a:spcAft>
            </a:pPr>
            <a:r>
              <a:rPr sz="1900" b="1" i="0">
                <a:solidFill>
                  <a:srgbClr val="1769E0"/>
                </a:solidFill>
                <a:latin typeface="Aptos"/>
              </a:rPr>
              <a:t>01</a:t>
            </a:r>
          </a:p>
        </p:txBody>
      </p:sp>
      <p:sp>
        <p:nvSpPr>
          <p:cNvPr id="19" name="TextBox 18"/>
          <p:cNvSpPr txBox="1"/>
          <p:nvPr/>
        </p:nvSpPr>
        <p:spPr>
          <a:xfrm>
            <a:off x="1417320" y="4325112"/>
            <a:ext cx="2688336" cy="320040"/>
          </a:xfrm>
          <a:prstGeom prst="rect">
            <a:avLst/>
          </a:prstGeom>
          <a:noFill/>
        </p:spPr>
        <p:txBody>
          <a:bodyPr wrap="square" lIns="9144" rIns="9144" tIns="0" bIns="0" anchor="ctr">
            <a:spAutoFit/>
          </a:bodyPr>
          <a:lstStyle/>
          <a:p>
            <a:pPr algn="l">
              <a:spcBef>
                <a:spcPts val="0"/>
              </a:spcBef>
              <a:spcAft>
                <a:spcPts val="0"/>
              </a:spcAft>
            </a:pPr>
            <a:r>
              <a:rPr sz="1500" b="1" i="0">
                <a:solidFill>
                  <a:srgbClr val="0B2A4A"/>
                </a:solidFill>
                <a:latin typeface="Aptos"/>
              </a:rPr>
              <a:t>Preference extraction</a:t>
            </a:r>
          </a:p>
        </p:txBody>
      </p:sp>
      <p:sp>
        <p:nvSpPr>
          <p:cNvPr id="20" name="TextBox 19"/>
          <p:cNvSpPr txBox="1"/>
          <p:nvPr/>
        </p:nvSpPr>
        <p:spPr>
          <a:xfrm>
            <a:off x="1014983" y="4782312"/>
            <a:ext cx="3072384" cy="822960"/>
          </a:xfrm>
          <a:prstGeom prst="rect">
            <a:avLst/>
          </a:prstGeom>
          <a:noFill/>
        </p:spPr>
        <p:txBody>
          <a:bodyPr wrap="square" lIns="9144" rIns="9144" tIns="0" bIns="0" anchor="t">
            <a:spAutoFit/>
          </a:bodyPr>
          <a:lstStyle/>
          <a:p>
            <a:pPr algn="l">
              <a:spcBef>
                <a:spcPts val="0"/>
              </a:spcBef>
              <a:spcAft>
                <a:spcPts val="0"/>
              </a:spcAft>
            </a:pPr>
            <a:r>
              <a:rPr sz="1320" b="0" i="0">
                <a:solidFill>
                  <a:srgbClr val="1D2B3A"/>
                </a:solidFill>
                <a:latin typeface="Aptos"/>
              </a:rPr>
              <a:t>Ollama output checked against allowed tourism schema values.</a:t>
            </a:r>
          </a:p>
        </p:txBody>
      </p:sp>
      <p:sp>
        <p:nvSpPr>
          <p:cNvPr id="21" name="Rounded Rectangle 20"/>
          <p:cNvSpPr/>
          <p:nvPr/>
        </p:nvSpPr>
        <p:spPr>
          <a:xfrm>
            <a:off x="4617720" y="4178808"/>
            <a:ext cx="3511296" cy="155448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91456" y="4334256"/>
            <a:ext cx="338328" cy="329184"/>
          </a:xfrm>
          <a:prstGeom prst="rect">
            <a:avLst/>
          </a:prstGeom>
          <a:noFill/>
        </p:spPr>
        <p:txBody>
          <a:bodyPr wrap="square" lIns="9144" rIns="9144" tIns="0" bIns="0" anchor="ctr">
            <a:spAutoFit/>
          </a:bodyPr>
          <a:lstStyle/>
          <a:p>
            <a:pPr algn="l">
              <a:spcBef>
                <a:spcPts val="0"/>
              </a:spcBef>
              <a:spcAft>
                <a:spcPts val="0"/>
              </a:spcAft>
            </a:pPr>
            <a:r>
              <a:rPr sz="1900" b="1" i="0">
                <a:solidFill>
                  <a:srgbClr val="1769E0"/>
                </a:solidFill>
                <a:latin typeface="Aptos"/>
              </a:rPr>
              <a:t>02</a:t>
            </a:r>
          </a:p>
        </p:txBody>
      </p:sp>
      <p:sp>
        <p:nvSpPr>
          <p:cNvPr id="23" name="TextBox 22"/>
          <p:cNvSpPr txBox="1"/>
          <p:nvPr/>
        </p:nvSpPr>
        <p:spPr>
          <a:xfrm>
            <a:off x="5239512" y="4325112"/>
            <a:ext cx="2688336" cy="320040"/>
          </a:xfrm>
          <a:prstGeom prst="rect">
            <a:avLst/>
          </a:prstGeom>
          <a:noFill/>
        </p:spPr>
        <p:txBody>
          <a:bodyPr wrap="square" lIns="9144" rIns="9144" tIns="0" bIns="0" anchor="ctr">
            <a:spAutoFit/>
          </a:bodyPr>
          <a:lstStyle/>
          <a:p>
            <a:pPr algn="l">
              <a:spcBef>
                <a:spcPts val="0"/>
              </a:spcBef>
              <a:spcAft>
                <a:spcPts val="0"/>
              </a:spcAft>
            </a:pPr>
            <a:r>
              <a:rPr sz="1500" b="1" i="0">
                <a:solidFill>
                  <a:srgbClr val="0B2A4A"/>
                </a:solidFill>
                <a:latin typeface="Aptos"/>
              </a:rPr>
              <a:t>Graph-backed matching</a:t>
            </a:r>
          </a:p>
        </p:txBody>
      </p:sp>
      <p:sp>
        <p:nvSpPr>
          <p:cNvPr id="24" name="TextBox 23"/>
          <p:cNvSpPr txBox="1"/>
          <p:nvPr/>
        </p:nvSpPr>
        <p:spPr>
          <a:xfrm>
            <a:off x="4837176" y="4782312"/>
            <a:ext cx="3072384" cy="822960"/>
          </a:xfrm>
          <a:prstGeom prst="rect">
            <a:avLst/>
          </a:prstGeom>
          <a:noFill/>
        </p:spPr>
        <p:txBody>
          <a:bodyPr wrap="square" lIns="9144" rIns="9144" tIns="0" bIns="0" anchor="t">
            <a:spAutoFit/>
          </a:bodyPr>
          <a:lstStyle/>
          <a:p>
            <a:pPr algn="l">
              <a:spcBef>
                <a:spcPts val="0"/>
              </a:spcBef>
              <a:spcAft>
                <a:spcPts val="0"/>
              </a:spcAft>
            </a:pPr>
            <a:r>
              <a:rPr sz="1320" b="0" i="0">
                <a:solidFill>
                  <a:srgbClr val="1D2B3A"/>
                </a:solidFill>
                <a:latin typeface="Aptos"/>
              </a:rPr>
              <a:t>Parameterized Neo4j queries connect hotels with activities.</a:t>
            </a:r>
          </a:p>
        </p:txBody>
      </p:sp>
      <p:sp>
        <p:nvSpPr>
          <p:cNvPr id="25" name="Rounded Rectangle 24"/>
          <p:cNvSpPr/>
          <p:nvPr/>
        </p:nvSpPr>
        <p:spPr>
          <a:xfrm>
            <a:off x="8439911" y="4178808"/>
            <a:ext cx="3511296" cy="155448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13647" y="4334256"/>
            <a:ext cx="338328" cy="329184"/>
          </a:xfrm>
          <a:prstGeom prst="rect">
            <a:avLst/>
          </a:prstGeom>
          <a:noFill/>
        </p:spPr>
        <p:txBody>
          <a:bodyPr wrap="square" lIns="9144" rIns="9144" tIns="0" bIns="0" anchor="ctr">
            <a:spAutoFit/>
          </a:bodyPr>
          <a:lstStyle/>
          <a:p>
            <a:pPr algn="l">
              <a:spcBef>
                <a:spcPts val="0"/>
              </a:spcBef>
              <a:spcAft>
                <a:spcPts val="0"/>
              </a:spcAft>
            </a:pPr>
            <a:r>
              <a:rPr sz="1900" b="1" i="0">
                <a:solidFill>
                  <a:srgbClr val="1769E0"/>
                </a:solidFill>
                <a:latin typeface="Aptos"/>
              </a:rPr>
              <a:t>03</a:t>
            </a:r>
          </a:p>
        </p:txBody>
      </p:sp>
      <p:sp>
        <p:nvSpPr>
          <p:cNvPr id="27" name="TextBox 26"/>
          <p:cNvSpPr txBox="1"/>
          <p:nvPr/>
        </p:nvSpPr>
        <p:spPr>
          <a:xfrm>
            <a:off x="9061703" y="4325112"/>
            <a:ext cx="2688336" cy="320040"/>
          </a:xfrm>
          <a:prstGeom prst="rect">
            <a:avLst/>
          </a:prstGeom>
          <a:noFill/>
        </p:spPr>
        <p:txBody>
          <a:bodyPr wrap="square" lIns="9144" rIns="9144" tIns="0" bIns="0" anchor="ctr">
            <a:spAutoFit/>
          </a:bodyPr>
          <a:lstStyle/>
          <a:p>
            <a:pPr algn="l">
              <a:spcBef>
                <a:spcPts val="0"/>
              </a:spcBef>
              <a:spcAft>
                <a:spcPts val="0"/>
              </a:spcAft>
            </a:pPr>
            <a:r>
              <a:rPr sz="1500" b="1" i="0">
                <a:solidFill>
                  <a:srgbClr val="0B2A4A"/>
                </a:solidFill>
                <a:latin typeface="Aptos"/>
              </a:rPr>
              <a:t>Planning handoff</a:t>
            </a:r>
          </a:p>
        </p:txBody>
      </p:sp>
      <p:sp>
        <p:nvSpPr>
          <p:cNvPr id="28" name="TextBox 27"/>
          <p:cNvSpPr txBox="1"/>
          <p:nvPr/>
        </p:nvSpPr>
        <p:spPr>
          <a:xfrm>
            <a:off x="8659367" y="4782312"/>
            <a:ext cx="3072384" cy="822960"/>
          </a:xfrm>
          <a:prstGeom prst="rect">
            <a:avLst/>
          </a:prstGeom>
          <a:noFill/>
        </p:spPr>
        <p:txBody>
          <a:bodyPr wrap="square" lIns="9144" rIns="9144" tIns="0" bIns="0" anchor="t">
            <a:spAutoFit/>
          </a:bodyPr>
          <a:lstStyle/>
          <a:p>
            <a:pPr algn="l">
              <a:spcBef>
                <a:spcPts val="0"/>
              </a:spcBef>
              <a:spcAft>
                <a:spcPts val="0"/>
              </a:spcAft>
            </a:pPr>
            <a:r>
              <a:rPr sz="1320" b="0" i="0">
                <a:solidFill>
                  <a:srgbClr val="1D2B3A"/>
                </a:solidFill>
                <a:latin typeface="Aptos"/>
              </a:rPr>
              <a:t>Selected hotels support dated pricing and mobility planning.</a:t>
            </a:r>
          </a:p>
        </p:txBody>
      </p:sp>
      <p:sp>
        <p:nvSpPr>
          <p:cNvPr id="29" name="TextBox 28"/>
          <p:cNvSpPr txBox="1"/>
          <p:nvPr/>
        </p:nvSpPr>
        <p:spPr>
          <a:xfrm>
            <a:off x="832104" y="6053328"/>
            <a:ext cx="10789920" cy="256032"/>
          </a:xfrm>
          <a:prstGeom prst="rect">
            <a:avLst/>
          </a:prstGeom>
          <a:noFill/>
        </p:spPr>
        <p:txBody>
          <a:bodyPr wrap="square" lIns="9144" rIns="9144" tIns="0" bIns="0" anchor="ctr">
            <a:spAutoFit/>
          </a:bodyPr>
          <a:lstStyle/>
          <a:p>
            <a:pPr algn="l">
              <a:spcBef>
                <a:spcPts val="0"/>
              </a:spcBef>
              <a:spcAft>
                <a:spcPts val="0"/>
              </a:spcAft>
            </a:pPr>
            <a:r>
              <a:rPr sz="1120" b="0" i="0">
                <a:solidFill>
                  <a:srgbClr val="60738A"/>
                </a:solidFill>
                <a:latin typeface="Aptos"/>
              </a:rPr>
              <a:t>CORE APPROACH  ·  Ollama + schema validation  ·  Neo4j Cypher  ·  rule-based ranking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C1 · Tour Package Features &amp; Evidence</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08</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078992"/>
            <a:ext cx="10881360" cy="292608"/>
          </a:xfrm>
          <a:prstGeom prst="rect">
            <a:avLst/>
          </a:prstGeom>
          <a:noFill/>
        </p:spPr>
        <p:txBody>
          <a:bodyPr wrap="square" lIns="9144" rIns="9144" tIns="0" bIns="0" anchor="ctr">
            <a:spAutoFit/>
          </a:bodyPr>
          <a:lstStyle/>
          <a:p>
            <a:pPr algn="l">
              <a:spcBef>
                <a:spcPts val="0"/>
              </a:spcBef>
              <a:spcAft>
                <a:spcPts val="0"/>
              </a:spcAft>
            </a:pPr>
            <a:r>
              <a:rPr sz="1230" b="0" i="0">
                <a:solidFill>
                  <a:srgbClr val="60738A"/>
                </a:solidFill>
                <a:latin typeface="Aptos"/>
              </a:rPr>
              <a:t>Implemented pipeline and dataset coverage — recommendation accuracy has not been established</a:t>
            </a:r>
          </a:p>
        </p:txBody>
      </p:sp>
      <p:sp>
        <p:nvSpPr>
          <p:cNvPr id="7" name="TextBox 6"/>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8" name="Rounded Rectangle 7"/>
          <p:cNvSpPr/>
          <p:nvPr/>
        </p:nvSpPr>
        <p:spPr>
          <a:xfrm>
            <a:off x="749808" y="1527048"/>
            <a:ext cx="2642616" cy="813816"/>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700784"/>
            <a:ext cx="411480" cy="292608"/>
          </a:xfrm>
          <a:prstGeom prst="rect">
            <a:avLst/>
          </a:prstGeom>
          <a:noFill/>
        </p:spPr>
        <p:txBody>
          <a:bodyPr wrap="square" lIns="9144" rIns="9144" tIns="0" bIns="0" anchor="ctr">
            <a:spAutoFit/>
          </a:bodyPr>
          <a:lstStyle/>
          <a:p>
            <a:pPr algn="l">
              <a:spcBef>
                <a:spcPts val="0"/>
              </a:spcBef>
              <a:spcAft>
                <a:spcPts val="0"/>
              </a:spcAft>
            </a:pPr>
            <a:r>
              <a:rPr sz="1600" b="1" i="0">
                <a:solidFill>
                  <a:srgbClr val="1769E0"/>
                </a:solidFill>
                <a:latin typeface="Aptos"/>
              </a:rPr>
              <a:t>01</a:t>
            </a:r>
          </a:p>
        </p:txBody>
      </p:sp>
      <p:sp>
        <p:nvSpPr>
          <p:cNvPr id="10" name="TextBox 9"/>
          <p:cNvSpPr txBox="1"/>
          <p:nvPr/>
        </p:nvSpPr>
        <p:spPr>
          <a:xfrm>
            <a:off x="1298448" y="1664208"/>
            <a:ext cx="1920240" cy="411480"/>
          </a:xfrm>
          <a:prstGeom prst="rect">
            <a:avLst/>
          </a:prstGeom>
          <a:noFill/>
        </p:spPr>
        <p:txBody>
          <a:bodyPr wrap="square" lIns="9144" rIns="9144" tIns="0" bIns="0" anchor="ctr">
            <a:spAutoFit/>
          </a:bodyPr>
          <a:lstStyle/>
          <a:p>
            <a:pPr algn="l">
              <a:spcBef>
                <a:spcPts val="0"/>
              </a:spcBef>
              <a:spcAft>
                <a:spcPts val="0"/>
              </a:spcAft>
            </a:pPr>
            <a:r>
              <a:rPr sz="1510" b="1" i="0">
                <a:solidFill>
                  <a:srgbClr val="0B2A4A"/>
                </a:solidFill>
                <a:latin typeface="Aptos"/>
              </a:rPr>
              <a:t>Traveller prompt</a:t>
            </a:r>
          </a:p>
        </p:txBody>
      </p:sp>
      <p:sp>
        <p:nvSpPr>
          <p:cNvPr id="11" name="TextBox 10"/>
          <p:cNvSpPr txBox="1"/>
          <p:nvPr/>
        </p:nvSpPr>
        <p:spPr>
          <a:xfrm>
            <a:off x="3392424" y="1764792"/>
            <a:ext cx="210312" cy="274320"/>
          </a:xfrm>
          <a:prstGeom prst="rect">
            <a:avLst/>
          </a:prstGeom>
          <a:noFill/>
        </p:spPr>
        <p:txBody>
          <a:bodyPr wrap="square" lIns="9144" rIns="9144" tIns="0" bIns="0" anchor="ctr">
            <a:spAutoFit/>
          </a:bodyPr>
          <a:lstStyle/>
          <a:p>
            <a:pPr algn="ctr">
              <a:spcBef>
                <a:spcPts val="0"/>
              </a:spcBef>
              <a:spcAft>
                <a:spcPts val="0"/>
              </a:spcAft>
            </a:pPr>
            <a:r>
              <a:rPr sz="2500" b="1" i="0">
                <a:solidFill>
                  <a:srgbClr val="1769E0"/>
                </a:solidFill>
                <a:latin typeface="Aptos"/>
              </a:rPr>
              <a:t>›</a:t>
            </a:r>
          </a:p>
        </p:txBody>
      </p:sp>
      <p:sp>
        <p:nvSpPr>
          <p:cNvPr id="12" name="Rounded Rectangle 11"/>
          <p:cNvSpPr/>
          <p:nvPr/>
        </p:nvSpPr>
        <p:spPr>
          <a:xfrm>
            <a:off x="3630168" y="1527048"/>
            <a:ext cx="2642616" cy="813816"/>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58183" y="1700784"/>
            <a:ext cx="411480" cy="292608"/>
          </a:xfrm>
          <a:prstGeom prst="rect">
            <a:avLst/>
          </a:prstGeom>
          <a:noFill/>
        </p:spPr>
        <p:txBody>
          <a:bodyPr wrap="square" lIns="9144" rIns="9144" tIns="0" bIns="0" anchor="ctr">
            <a:spAutoFit/>
          </a:bodyPr>
          <a:lstStyle/>
          <a:p>
            <a:pPr algn="l">
              <a:spcBef>
                <a:spcPts val="0"/>
              </a:spcBef>
              <a:spcAft>
                <a:spcPts val="0"/>
              </a:spcAft>
            </a:pPr>
            <a:r>
              <a:rPr sz="1600" b="1" i="0">
                <a:solidFill>
                  <a:srgbClr val="1769E0"/>
                </a:solidFill>
                <a:latin typeface="Aptos"/>
              </a:rPr>
              <a:t>02</a:t>
            </a:r>
          </a:p>
        </p:txBody>
      </p:sp>
      <p:sp>
        <p:nvSpPr>
          <p:cNvPr id="14" name="TextBox 13"/>
          <p:cNvSpPr txBox="1"/>
          <p:nvPr/>
        </p:nvSpPr>
        <p:spPr>
          <a:xfrm>
            <a:off x="4178807" y="1664208"/>
            <a:ext cx="1920240" cy="411480"/>
          </a:xfrm>
          <a:prstGeom prst="rect">
            <a:avLst/>
          </a:prstGeom>
          <a:noFill/>
        </p:spPr>
        <p:txBody>
          <a:bodyPr wrap="square" lIns="9144" rIns="9144" tIns="0" bIns="0" anchor="ctr">
            <a:spAutoFit/>
          </a:bodyPr>
          <a:lstStyle/>
          <a:p>
            <a:pPr algn="l">
              <a:spcBef>
                <a:spcPts val="0"/>
              </a:spcBef>
              <a:spcAft>
                <a:spcPts val="0"/>
              </a:spcAft>
            </a:pPr>
            <a:r>
              <a:rPr sz="1510" b="1" i="0">
                <a:solidFill>
                  <a:srgbClr val="0B2A4A"/>
                </a:solidFill>
                <a:latin typeface="Aptos"/>
              </a:rPr>
              <a:t>Schema validation</a:t>
            </a:r>
          </a:p>
        </p:txBody>
      </p:sp>
      <p:sp>
        <p:nvSpPr>
          <p:cNvPr id="15" name="TextBox 14"/>
          <p:cNvSpPr txBox="1"/>
          <p:nvPr/>
        </p:nvSpPr>
        <p:spPr>
          <a:xfrm>
            <a:off x="6272783" y="1764792"/>
            <a:ext cx="210312" cy="274320"/>
          </a:xfrm>
          <a:prstGeom prst="rect">
            <a:avLst/>
          </a:prstGeom>
          <a:noFill/>
        </p:spPr>
        <p:txBody>
          <a:bodyPr wrap="square" lIns="9144" rIns="9144" tIns="0" bIns="0" anchor="ctr">
            <a:spAutoFit/>
          </a:bodyPr>
          <a:lstStyle/>
          <a:p>
            <a:pPr algn="ctr">
              <a:spcBef>
                <a:spcPts val="0"/>
              </a:spcBef>
              <a:spcAft>
                <a:spcPts val="0"/>
              </a:spcAft>
            </a:pPr>
            <a:r>
              <a:rPr sz="2500" b="1" i="0">
                <a:solidFill>
                  <a:srgbClr val="1769E0"/>
                </a:solidFill>
                <a:latin typeface="Aptos"/>
              </a:rPr>
              <a:t>›</a:t>
            </a:r>
          </a:p>
        </p:txBody>
      </p:sp>
      <p:sp>
        <p:nvSpPr>
          <p:cNvPr id="16" name="Rounded Rectangle 15"/>
          <p:cNvSpPr/>
          <p:nvPr/>
        </p:nvSpPr>
        <p:spPr>
          <a:xfrm>
            <a:off x="6510528" y="1527048"/>
            <a:ext cx="2642616" cy="813816"/>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38544" y="1700784"/>
            <a:ext cx="411480" cy="292608"/>
          </a:xfrm>
          <a:prstGeom prst="rect">
            <a:avLst/>
          </a:prstGeom>
          <a:noFill/>
        </p:spPr>
        <p:txBody>
          <a:bodyPr wrap="square" lIns="9144" rIns="9144" tIns="0" bIns="0" anchor="ctr">
            <a:spAutoFit/>
          </a:bodyPr>
          <a:lstStyle/>
          <a:p>
            <a:pPr algn="l">
              <a:spcBef>
                <a:spcPts val="0"/>
              </a:spcBef>
              <a:spcAft>
                <a:spcPts val="0"/>
              </a:spcAft>
            </a:pPr>
            <a:r>
              <a:rPr sz="1600" b="1" i="0">
                <a:solidFill>
                  <a:srgbClr val="1769E0"/>
                </a:solidFill>
                <a:latin typeface="Aptos"/>
              </a:rPr>
              <a:t>03</a:t>
            </a:r>
          </a:p>
        </p:txBody>
      </p:sp>
      <p:sp>
        <p:nvSpPr>
          <p:cNvPr id="18" name="TextBox 17"/>
          <p:cNvSpPr txBox="1"/>
          <p:nvPr/>
        </p:nvSpPr>
        <p:spPr>
          <a:xfrm>
            <a:off x="7059168" y="1664208"/>
            <a:ext cx="1920240" cy="411480"/>
          </a:xfrm>
          <a:prstGeom prst="rect">
            <a:avLst/>
          </a:prstGeom>
          <a:noFill/>
        </p:spPr>
        <p:txBody>
          <a:bodyPr wrap="square" lIns="9144" rIns="9144" tIns="0" bIns="0" anchor="ctr">
            <a:spAutoFit/>
          </a:bodyPr>
          <a:lstStyle/>
          <a:p>
            <a:pPr algn="l">
              <a:spcBef>
                <a:spcPts val="0"/>
              </a:spcBef>
              <a:spcAft>
                <a:spcPts val="0"/>
              </a:spcAft>
            </a:pPr>
            <a:r>
              <a:rPr sz="1510" b="1" i="0">
                <a:solidFill>
                  <a:srgbClr val="0B2A4A"/>
                </a:solidFill>
                <a:latin typeface="Aptos"/>
              </a:rPr>
              <a:t>Neo4j retrieval</a:t>
            </a:r>
          </a:p>
        </p:txBody>
      </p:sp>
      <p:sp>
        <p:nvSpPr>
          <p:cNvPr id="19" name="TextBox 18"/>
          <p:cNvSpPr txBox="1"/>
          <p:nvPr/>
        </p:nvSpPr>
        <p:spPr>
          <a:xfrm>
            <a:off x="9153144" y="1764792"/>
            <a:ext cx="210312" cy="274320"/>
          </a:xfrm>
          <a:prstGeom prst="rect">
            <a:avLst/>
          </a:prstGeom>
          <a:noFill/>
        </p:spPr>
        <p:txBody>
          <a:bodyPr wrap="square" lIns="9144" rIns="9144" tIns="0" bIns="0" anchor="ctr">
            <a:spAutoFit/>
          </a:bodyPr>
          <a:lstStyle/>
          <a:p>
            <a:pPr algn="ctr">
              <a:spcBef>
                <a:spcPts val="0"/>
              </a:spcBef>
              <a:spcAft>
                <a:spcPts val="0"/>
              </a:spcAft>
            </a:pPr>
            <a:r>
              <a:rPr sz="2500" b="1" i="0">
                <a:solidFill>
                  <a:srgbClr val="1769E0"/>
                </a:solidFill>
                <a:latin typeface="Aptos"/>
              </a:rPr>
              <a:t>›</a:t>
            </a:r>
          </a:p>
        </p:txBody>
      </p:sp>
      <p:sp>
        <p:nvSpPr>
          <p:cNvPr id="20" name="Rounded Rectangle 19"/>
          <p:cNvSpPr/>
          <p:nvPr/>
        </p:nvSpPr>
        <p:spPr>
          <a:xfrm>
            <a:off x="9390888" y="1527048"/>
            <a:ext cx="2642616" cy="813816"/>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18904" y="1700784"/>
            <a:ext cx="411480" cy="292608"/>
          </a:xfrm>
          <a:prstGeom prst="rect">
            <a:avLst/>
          </a:prstGeom>
          <a:noFill/>
        </p:spPr>
        <p:txBody>
          <a:bodyPr wrap="square" lIns="9144" rIns="9144" tIns="0" bIns="0" anchor="ctr">
            <a:spAutoFit/>
          </a:bodyPr>
          <a:lstStyle/>
          <a:p>
            <a:pPr algn="l">
              <a:spcBef>
                <a:spcPts val="0"/>
              </a:spcBef>
              <a:spcAft>
                <a:spcPts val="0"/>
              </a:spcAft>
            </a:pPr>
            <a:r>
              <a:rPr sz="1600" b="1" i="0">
                <a:solidFill>
                  <a:srgbClr val="1769E0"/>
                </a:solidFill>
                <a:latin typeface="Aptos"/>
              </a:rPr>
              <a:t>04</a:t>
            </a:r>
          </a:p>
        </p:txBody>
      </p:sp>
      <p:sp>
        <p:nvSpPr>
          <p:cNvPr id="22" name="TextBox 21"/>
          <p:cNvSpPr txBox="1"/>
          <p:nvPr/>
        </p:nvSpPr>
        <p:spPr>
          <a:xfrm>
            <a:off x="9939528" y="1664208"/>
            <a:ext cx="1920240" cy="411480"/>
          </a:xfrm>
          <a:prstGeom prst="rect">
            <a:avLst/>
          </a:prstGeom>
          <a:noFill/>
        </p:spPr>
        <p:txBody>
          <a:bodyPr wrap="square" lIns="9144" rIns="9144" tIns="0" bIns="0" anchor="ctr">
            <a:spAutoFit/>
          </a:bodyPr>
          <a:lstStyle/>
          <a:p>
            <a:pPr algn="l">
              <a:spcBef>
                <a:spcPts val="0"/>
              </a:spcBef>
              <a:spcAft>
                <a:spcPts val="0"/>
              </a:spcAft>
            </a:pPr>
            <a:r>
              <a:rPr sz="1510" b="1" i="0">
                <a:solidFill>
                  <a:srgbClr val="0B2A4A"/>
                </a:solidFill>
                <a:latin typeface="Aptos"/>
              </a:rPr>
              <a:t>Ranked packages</a:t>
            </a:r>
          </a:p>
        </p:txBody>
      </p:sp>
      <p:sp>
        <p:nvSpPr>
          <p:cNvPr id="23" name="Rounded Rectangle 22"/>
          <p:cNvSpPr/>
          <p:nvPr/>
        </p:nvSpPr>
        <p:spPr>
          <a:xfrm>
            <a:off x="758952" y="2743200"/>
            <a:ext cx="3374136" cy="1325880"/>
          </a:xfrm>
          <a:prstGeom prst="roundRect">
            <a:avLst>
              <a:gd name="adj" fmla="val 12000"/>
            </a:avLst>
          </a:prstGeom>
          <a:solidFill>
            <a:srgbClr val="EDF5FF"/>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2862072"/>
            <a:ext cx="3154680" cy="539496"/>
          </a:xfrm>
          <a:prstGeom prst="rect">
            <a:avLst/>
          </a:prstGeom>
          <a:noFill/>
        </p:spPr>
        <p:txBody>
          <a:bodyPr wrap="square" lIns="9144" rIns="9144" tIns="0" bIns="0" anchor="ctr">
            <a:spAutoFit/>
          </a:bodyPr>
          <a:lstStyle/>
          <a:p>
            <a:pPr algn="ctr">
              <a:spcBef>
                <a:spcPts val="0"/>
              </a:spcBef>
              <a:spcAft>
                <a:spcPts val="0"/>
              </a:spcAft>
            </a:pPr>
            <a:r>
              <a:rPr sz="3600" b="1" i="0">
                <a:solidFill>
                  <a:srgbClr val="1769E0"/>
                </a:solidFill>
                <a:latin typeface="Aptos Display"/>
              </a:rPr>
              <a:t>1,830</a:t>
            </a:r>
          </a:p>
        </p:txBody>
      </p:sp>
      <p:sp>
        <p:nvSpPr>
          <p:cNvPr id="25" name="TextBox 24"/>
          <p:cNvSpPr txBox="1"/>
          <p:nvPr/>
        </p:nvSpPr>
        <p:spPr>
          <a:xfrm>
            <a:off x="868680" y="3493008"/>
            <a:ext cx="3154680" cy="256032"/>
          </a:xfrm>
          <a:prstGeom prst="rect">
            <a:avLst/>
          </a:prstGeom>
          <a:noFill/>
        </p:spPr>
        <p:txBody>
          <a:bodyPr wrap="square" lIns="9144" rIns="9144" tIns="0" bIns="0" anchor="ctr">
            <a:spAutoFit/>
          </a:bodyPr>
          <a:lstStyle/>
          <a:p>
            <a:pPr algn="ctr">
              <a:spcBef>
                <a:spcPts val="0"/>
              </a:spcBef>
              <a:spcAft>
                <a:spcPts val="0"/>
              </a:spcAft>
            </a:pPr>
            <a:r>
              <a:rPr sz="1330" b="1" i="0">
                <a:solidFill>
                  <a:srgbClr val="0B2A4A"/>
                </a:solidFill>
                <a:latin typeface="Aptos"/>
              </a:rPr>
              <a:t>Hotel records</a:t>
            </a:r>
          </a:p>
        </p:txBody>
      </p:sp>
      <p:sp>
        <p:nvSpPr>
          <p:cNvPr id="26" name="TextBox 25"/>
          <p:cNvSpPr txBox="1"/>
          <p:nvPr/>
        </p:nvSpPr>
        <p:spPr>
          <a:xfrm>
            <a:off x="859536" y="3794760"/>
            <a:ext cx="3172968" cy="164592"/>
          </a:xfrm>
          <a:prstGeom prst="rect">
            <a:avLst/>
          </a:prstGeom>
          <a:noFill/>
        </p:spPr>
        <p:txBody>
          <a:bodyPr wrap="square" lIns="9144" rIns="9144" tIns="0" bIns="0" anchor="ctr">
            <a:spAutoFit/>
          </a:bodyPr>
          <a:lstStyle/>
          <a:p>
            <a:pPr algn="ctr">
              <a:spcBef>
                <a:spcPts val="0"/>
              </a:spcBef>
              <a:spcAft>
                <a:spcPts val="0"/>
              </a:spcAft>
            </a:pPr>
            <a:r>
              <a:rPr sz="950" b="0" i="0">
                <a:solidFill>
                  <a:srgbClr val="60738A"/>
                </a:solidFill>
                <a:latin typeface="Aptos"/>
              </a:rPr>
              <a:t>source CSV rows</a:t>
            </a:r>
          </a:p>
        </p:txBody>
      </p:sp>
      <p:sp>
        <p:nvSpPr>
          <p:cNvPr id="27" name="Rounded Rectangle 26"/>
          <p:cNvSpPr/>
          <p:nvPr/>
        </p:nvSpPr>
        <p:spPr>
          <a:xfrm>
            <a:off x="4416552" y="2743200"/>
            <a:ext cx="3374136" cy="1325880"/>
          </a:xfrm>
          <a:prstGeom prst="roundRect">
            <a:avLst>
              <a:gd name="adj" fmla="val 12000"/>
            </a:avLst>
          </a:prstGeom>
          <a:solidFill>
            <a:srgbClr val="EDF5FF"/>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26280" y="2862072"/>
            <a:ext cx="3154680" cy="539496"/>
          </a:xfrm>
          <a:prstGeom prst="rect">
            <a:avLst/>
          </a:prstGeom>
          <a:noFill/>
        </p:spPr>
        <p:txBody>
          <a:bodyPr wrap="square" lIns="9144" rIns="9144" tIns="0" bIns="0" anchor="ctr">
            <a:spAutoFit/>
          </a:bodyPr>
          <a:lstStyle/>
          <a:p>
            <a:pPr algn="ctr">
              <a:spcBef>
                <a:spcPts val="0"/>
              </a:spcBef>
              <a:spcAft>
                <a:spcPts val="0"/>
              </a:spcAft>
            </a:pPr>
            <a:r>
              <a:rPr sz="3600" b="1" i="0">
                <a:solidFill>
                  <a:srgbClr val="1769E0"/>
                </a:solidFill>
                <a:latin typeface="Aptos Display"/>
              </a:rPr>
              <a:t>2,000</a:t>
            </a:r>
          </a:p>
        </p:txBody>
      </p:sp>
      <p:sp>
        <p:nvSpPr>
          <p:cNvPr id="29" name="TextBox 28"/>
          <p:cNvSpPr txBox="1"/>
          <p:nvPr/>
        </p:nvSpPr>
        <p:spPr>
          <a:xfrm>
            <a:off x="4526280" y="3493008"/>
            <a:ext cx="3154680" cy="256032"/>
          </a:xfrm>
          <a:prstGeom prst="rect">
            <a:avLst/>
          </a:prstGeom>
          <a:noFill/>
        </p:spPr>
        <p:txBody>
          <a:bodyPr wrap="square" lIns="9144" rIns="9144" tIns="0" bIns="0" anchor="ctr">
            <a:spAutoFit/>
          </a:bodyPr>
          <a:lstStyle/>
          <a:p>
            <a:pPr algn="ctr">
              <a:spcBef>
                <a:spcPts val="0"/>
              </a:spcBef>
              <a:spcAft>
                <a:spcPts val="0"/>
              </a:spcAft>
            </a:pPr>
            <a:r>
              <a:rPr sz="1330" b="1" i="0">
                <a:solidFill>
                  <a:srgbClr val="0B2A4A"/>
                </a:solidFill>
                <a:latin typeface="Aptos"/>
              </a:rPr>
              <a:t>Activity records</a:t>
            </a:r>
          </a:p>
        </p:txBody>
      </p:sp>
      <p:sp>
        <p:nvSpPr>
          <p:cNvPr id="30" name="TextBox 29"/>
          <p:cNvSpPr txBox="1"/>
          <p:nvPr/>
        </p:nvSpPr>
        <p:spPr>
          <a:xfrm>
            <a:off x="4517136" y="3794760"/>
            <a:ext cx="3172968" cy="164592"/>
          </a:xfrm>
          <a:prstGeom prst="rect">
            <a:avLst/>
          </a:prstGeom>
          <a:noFill/>
        </p:spPr>
        <p:txBody>
          <a:bodyPr wrap="square" lIns="9144" rIns="9144" tIns="0" bIns="0" anchor="ctr">
            <a:spAutoFit/>
          </a:bodyPr>
          <a:lstStyle/>
          <a:p>
            <a:pPr algn="ctr">
              <a:spcBef>
                <a:spcPts val="0"/>
              </a:spcBef>
              <a:spcAft>
                <a:spcPts val="0"/>
              </a:spcAft>
            </a:pPr>
            <a:r>
              <a:rPr sz="950" b="0" i="0">
                <a:solidFill>
                  <a:srgbClr val="60738A"/>
                </a:solidFill>
                <a:latin typeface="Aptos"/>
              </a:rPr>
              <a:t>source CSV rows</a:t>
            </a:r>
          </a:p>
        </p:txBody>
      </p:sp>
      <p:sp>
        <p:nvSpPr>
          <p:cNvPr id="31" name="Rounded Rectangle 30"/>
          <p:cNvSpPr/>
          <p:nvPr/>
        </p:nvSpPr>
        <p:spPr>
          <a:xfrm>
            <a:off x="8074152" y="2743200"/>
            <a:ext cx="3374136" cy="1325880"/>
          </a:xfrm>
          <a:prstGeom prst="roundRect">
            <a:avLst>
              <a:gd name="adj" fmla="val 12000"/>
            </a:avLst>
          </a:prstGeom>
          <a:solidFill>
            <a:srgbClr val="EDF5FF"/>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83879" y="2862072"/>
            <a:ext cx="3154680" cy="539496"/>
          </a:xfrm>
          <a:prstGeom prst="rect">
            <a:avLst/>
          </a:prstGeom>
          <a:noFill/>
        </p:spPr>
        <p:txBody>
          <a:bodyPr wrap="square" lIns="9144" rIns="9144" tIns="0" bIns="0" anchor="ctr">
            <a:spAutoFit/>
          </a:bodyPr>
          <a:lstStyle/>
          <a:p>
            <a:pPr algn="ctr">
              <a:spcBef>
                <a:spcPts val="0"/>
              </a:spcBef>
              <a:spcAft>
                <a:spcPts val="0"/>
              </a:spcAft>
            </a:pPr>
            <a:r>
              <a:rPr sz="3600" b="1" i="0">
                <a:solidFill>
                  <a:srgbClr val="1769E0"/>
                </a:solidFill>
                <a:latin typeface="Aptos Display"/>
              </a:rPr>
              <a:t>≤ 3</a:t>
            </a:r>
          </a:p>
        </p:txBody>
      </p:sp>
      <p:sp>
        <p:nvSpPr>
          <p:cNvPr id="33" name="TextBox 32"/>
          <p:cNvSpPr txBox="1"/>
          <p:nvPr/>
        </p:nvSpPr>
        <p:spPr>
          <a:xfrm>
            <a:off x="8183879" y="3493008"/>
            <a:ext cx="3154680" cy="256032"/>
          </a:xfrm>
          <a:prstGeom prst="rect">
            <a:avLst/>
          </a:prstGeom>
          <a:noFill/>
        </p:spPr>
        <p:txBody>
          <a:bodyPr wrap="square" lIns="9144" rIns="9144" tIns="0" bIns="0" anchor="ctr">
            <a:spAutoFit/>
          </a:bodyPr>
          <a:lstStyle/>
          <a:p>
            <a:pPr algn="ctr">
              <a:spcBef>
                <a:spcPts val="0"/>
              </a:spcBef>
              <a:spcAft>
                <a:spcPts val="0"/>
              </a:spcAft>
            </a:pPr>
            <a:r>
              <a:rPr sz="1330" b="1" i="0">
                <a:solidFill>
                  <a:srgbClr val="0B2A4A"/>
                </a:solidFill>
                <a:latin typeface="Aptos"/>
              </a:rPr>
              <a:t>Packages returned</a:t>
            </a:r>
          </a:p>
        </p:txBody>
      </p:sp>
      <p:sp>
        <p:nvSpPr>
          <p:cNvPr id="34" name="TextBox 33"/>
          <p:cNvSpPr txBox="1"/>
          <p:nvPr/>
        </p:nvSpPr>
        <p:spPr>
          <a:xfrm>
            <a:off x="8174736" y="3794760"/>
            <a:ext cx="3172968" cy="164592"/>
          </a:xfrm>
          <a:prstGeom prst="rect">
            <a:avLst/>
          </a:prstGeom>
          <a:noFill/>
        </p:spPr>
        <p:txBody>
          <a:bodyPr wrap="square" lIns="9144" rIns="9144" tIns="0" bIns="0" anchor="ctr">
            <a:spAutoFit/>
          </a:bodyPr>
          <a:lstStyle/>
          <a:p>
            <a:pPr algn="ctr">
              <a:spcBef>
                <a:spcPts val="0"/>
              </a:spcBef>
              <a:spcAft>
                <a:spcPts val="0"/>
              </a:spcAft>
            </a:pPr>
            <a:r>
              <a:rPr sz="950" b="0" i="0">
                <a:solidFill>
                  <a:srgbClr val="60738A"/>
                </a:solidFill>
                <a:latin typeface="Aptos"/>
              </a:rPr>
              <a:t>implementation cap</a:t>
            </a:r>
          </a:p>
        </p:txBody>
      </p:sp>
      <p:sp>
        <p:nvSpPr>
          <p:cNvPr id="35" name="TextBox 34"/>
          <p:cNvSpPr txBox="1"/>
          <p:nvPr/>
        </p:nvSpPr>
        <p:spPr>
          <a:xfrm>
            <a:off x="813816" y="4443984"/>
            <a:ext cx="3931920" cy="274320"/>
          </a:xfrm>
          <a:prstGeom prst="rect">
            <a:avLst/>
          </a:prstGeom>
          <a:noFill/>
        </p:spPr>
        <p:txBody>
          <a:bodyPr wrap="square" lIns="9144" rIns="9144" tIns="0" bIns="0" anchor="ctr">
            <a:spAutoFit/>
          </a:bodyPr>
          <a:lstStyle/>
          <a:p>
            <a:pPr algn="l">
              <a:spcBef>
                <a:spcPts val="0"/>
              </a:spcBef>
              <a:spcAft>
                <a:spcPts val="0"/>
              </a:spcAft>
            </a:pPr>
            <a:r>
              <a:rPr sz="1250" b="1" i="0">
                <a:solidFill>
                  <a:srgbClr val="1769E0"/>
                </a:solidFill>
                <a:latin typeface="Aptos"/>
              </a:rPr>
              <a:t>MAIN FEATURES</a:t>
            </a:r>
          </a:p>
        </p:txBody>
      </p:sp>
      <p:cxnSp>
        <p:nvCxnSpPr>
          <p:cNvPr id="36" name="Connector 35"/>
          <p:cNvCxnSpPr/>
          <p:nvPr/>
        </p:nvCxnSpPr>
        <p:spPr>
          <a:xfrm>
            <a:off x="813816" y="4764024"/>
            <a:ext cx="2651760" cy="0"/>
          </a:xfrm>
          <a:prstGeom prst="line">
            <a:avLst/>
          </a:prstGeom>
          <a:ln w="19050">
            <a:solidFill>
              <a:srgbClr val="1769E0"/>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23544" y="4983480"/>
            <a:ext cx="73152" cy="73152"/>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24712" y="4873752"/>
            <a:ext cx="9656064" cy="393192"/>
          </a:xfrm>
          <a:prstGeom prst="rect">
            <a:avLst/>
          </a:prstGeom>
          <a:noFill/>
        </p:spPr>
        <p:txBody>
          <a:bodyPr wrap="square" lIns="9144" rIns="9144" tIns="0" bIns="0" anchor="t">
            <a:spAutoFit/>
          </a:bodyPr>
          <a:lstStyle/>
          <a:p>
            <a:pPr algn="l">
              <a:spcBef>
                <a:spcPts val="0"/>
              </a:spcBef>
              <a:spcAft>
                <a:spcPts val="0"/>
              </a:spcAft>
            </a:pPr>
            <a:r>
              <a:rPr sz="1450" b="0" i="0">
                <a:solidFill>
                  <a:srgbClr val="1D2B3A"/>
                </a:solidFill>
                <a:latin typeface="Aptos"/>
              </a:rPr>
              <a:t>District / category / food / activity filters with fallback checks</a:t>
            </a:r>
          </a:p>
        </p:txBody>
      </p:sp>
      <p:sp>
        <p:nvSpPr>
          <p:cNvPr id="39" name="Rounded Rectangle 38"/>
          <p:cNvSpPr/>
          <p:nvPr/>
        </p:nvSpPr>
        <p:spPr>
          <a:xfrm>
            <a:off x="923544" y="5422392"/>
            <a:ext cx="73152" cy="73152"/>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712" y="5312664"/>
            <a:ext cx="9656064" cy="393192"/>
          </a:xfrm>
          <a:prstGeom prst="rect">
            <a:avLst/>
          </a:prstGeom>
          <a:noFill/>
        </p:spPr>
        <p:txBody>
          <a:bodyPr wrap="square" lIns="9144" rIns="9144" tIns="0" bIns="0" anchor="t">
            <a:spAutoFit/>
          </a:bodyPr>
          <a:lstStyle/>
          <a:p>
            <a:pPr algn="l">
              <a:spcBef>
                <a:spcPts val="0"/>
              </a:spcBef>
              <a:spcAft>
                <a:spcPts val="0"/>
              </a:spcAft>
            </a:pPr>
            <a:r>
              <a:rPr sz="1450" b="0" i="0">
                <a:solidFill>
                  <a:srgbClr val="1D2B3A"/>
                </a:solidFill>
                <a:latin typeface="Aptos"/>
              </a:rPr>
              <a:t>Selected-hotel price status and navigation to transport recommendations</a:t>
            </a:r>
          </a:p>
        </p:txBody>
      </p:sp>
      <p:sp>
        <p:nvSpPr>
          <p:cNvPr id="41" name="TextBox 40"/>
          <p:cNvSpPr txBox="1"/>
          <p:nvPr/>
        </p:nvSpPr>
        <p:spPr>
          <a:xfrm>
            <a:off x="841248" y="5961888"/>
            <a:ext cx="10241280" cy="292608"/>
          </a:xfrm>
          <a:prstGeom prst="rect">
            <a:avLst/>
          </a:prstGeom>
          <a:noFill/>
        </p:spPr>
        <p:txBody>
          <a:bodyPr wrap="square" lIns="9144" rIns="9144" tIns="0" bIns="0" anchor="ctr">
            <a:spAutoFit/>
          </a:bodyPr>
          <a:lstStyle/>
          <a:p>
            <a:pPr algn="l">
              <a:spcBef>
                <a:spcPts val="0"/>
              </a:spcBef>
              <a:spcAft>
                <a:spcPts val="0"/>
              </a:spcAft>
            </a:pPr>
            <a:r>
              <a:rPr sz="1180" b="1" i="0">
                <a:solidFill>
                  <a:srgbClr val="A7563B"/>
                </a:solidFill>
                <a:latin typeface="Aptos"/>
              </a:rPr>
              <a:t>EVALUATION LIMIT: package relevance, satisfaction and latency metrics were not found.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Component 2  |  Research Contribution</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09</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7" name="Rounded Rectangle 6"/>
          <p:cNvSpPr/>
          <p:nvPr/>
        </p:nvSpPr>
        <p:spPr>
          <a:xfrm>
            <a:off x="749808" y="1316736"/>
            <a:ext cx="1307592" cy="347472"/>
          </a:xfrm>
          <a:prstGeom prst="roundRect">
            <a:avLst>
              <a:gd name="adj" fmla="val 12000"/>
            </a:avLst>
          </a:prstGeom>
          <a:solidFill>
            <a:srgbClr val="ED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5" y="1325880"/>
            <a:ext cx="1179576" cy="329184"/>
          </a:xfrm>
          <a:prstGeom prst="rect">
            <a:avLst/>
          </a:prstGeom>
          <a:noFill/>
        </p:spPr>
        <p:txBody>
          <a:bodyPr wrap="square" lIns="9144" rIns="9144" tIns="0" bIns="0" anchor="ctr">
            <a:spAutoFit/>
          </a:bodyPr>
          <a:lstStyle/>
          <a:p>
            <a:r>
              <a:rPr sz="1050" b="1">
                <a:solidFill>
                  <a:srgbClr val="1769E0"/>
                </a:solidFill>
                <a:latin typeface="Aptos"/>
              </a:rPr>
              <a:t>COMPONENT 02</a:t>
            </a:r>
          </a:p>
        </p:txBody>
      </p:sp>
      <p:sp>
        <p:nvSpPr>
          <p:cNvPr id="9" name="TextBox 8"/>
          <p:cNvSpPr txBox="1"/>
          <p:nvPr/>
        </p:nvSpPr>
        <p:spPr>
          <a:xfrm>
            <a:off x="768096" y="1837943"/>
            <a:ext cx="7589520" cy="996696"/>
          </a:xfrm>
          <a:prstGeom prst="rect">
            <a:avLst/>
          </a:prstGeom>
          <a:noFill/>
        </p:spPr>
        <p:txBody>
          <a:bodyPr wrap="square" lIns="9144" rIns="9144" tIns="0" bIns="0" anchor="t">
            <a:spAutoFit/>
          </a:bodyPr>
          <a:lstStyle/>
          <a:p>
            <a:pPr algn="l">
              <a:spcBef>
                <a:spcPts val="0"/>
              </a:spcBef>
              <a:spcAft>
                <a:spcPts val="0"/>
              </a:spcAft>
            </a:pPr>
            <a:r>
              <a:rPr sz="3000" b="1" i="0">
                <a:solidFill>
                  <a:srgbClr val="0B2A4A"/>
                </a:solidFill>
                <a:latin typeface="Aptos Display"/>
              </a:rPr>
              <a:t>Intelligent Mobility, Route-Risk &amp; Vehicle Selection</a:t>
            </a:r>
          </a:p>
        </p:txBody>
      </p:sp>
      <p:sp>
        <p:nvSpPr>
          <p:cNvPr id="10" name="TextBox 9"/>
          <p:cNvSpPr txBox="1"/>
          <p:nvPr/>
        </p:nvSpPr>
        <p:spPr>
          <a:xfrm>
            <a:off x="795528" y="2871216"/>
            <a:ext cx="7315200" cy="493776"/>
          </a:xfrm>
          <a:prstGeom prst="rect">
            <a:avLst/>
          </a:prstGeom>
          <a:noFill/>
        </p:spPr>
        <p:txBody>
          <a:bodyPr wrap="square" lIns="9144" rIns="9144" tIns="0" bIns="0" anchor="t">
            <a:spAutoFit/>
          </a:bodyPr>
          <a:lstStyle/>
          <a:p>
            <a:pPr algn="l">
              <a:spcBef>
                <a:spcPts val="0"/>
              </a:spcBef>
              <a:spcAft>
                <a:spcPts val="0"/>
              </a:spcAft>
            </a:pPr>
            <a:r>
              <a:rPr sz="1720" b="0" i="0">
                <a:solidFill>
                  <a:srgbClr val="60738A"/>
                </a:solidFill>
                <a:latin typeface="Aptos"/>
              </a:rPr>
              <a:t>Evidence-qualified risk classification with practical vehicle, passenger and budget matching.</a:t>
            </a:r>
          </a:p>
        </p:txBody>
      </p:sp>
      <p:sp>
        <p:nvSpPr>
          <p:cNvPr id="11" name="Rounded Rectangle 10"/>
          <p:cNvSpPr/>
          <p:nvPr/>
        </p:nvSpPr>
        <p:spPr>
          <a:xfrm>
            <a:off x="8613648" y="1463040"/>
            <a:ext cx="2752344" cy="2048256"/>
          </a:xfrm>
          <a:prstGeom prst="roundRect">
            <a:avLst>
              <a:gd name="adj" fmla="val 12000"/>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7112" y="1682496"/>
            <a:ext cx="2249424" cy="274320"/>
          </a:xfrm>
          <a:prstGeom prst="rect">
            <a:avLst/>
          </a:prstGeom>
          <a:noFill/>
        </p:spPr>
        <p:txBody>
          <a:bodyPr wrap="square" lIns="9144" rIns="9144" tIns="0" bIns="0" anchor="ctr">
            <a:spAutoFit/>
          </a:bodyPr>
          <a:lstStyle/>
          <a:p>
            <a:pPr algn="l">
              <a:spcBef>
                <a:spcPts val="0"/>
              </a:spcBef>
              <a:spcAft>
                <a:spcPts val="0"/>
              </a:spcAft>
            </a:pPr>
            <a:r>
              <a:rPr sz="1100" b="1" i="0">
                <a:solidFill>
                  <a:srgbClr val="F5B942"/>
                </a:solidFill>
                <a:latin typeface="Aptos"/>
              </a:rPr>
              <a:t>RESEARCHER</a:t>
            </a:r>
          </a:p>
        </p:txBody>
      </p:sp>
      <p:sp>
        <p:nvSpPr>
          <p:cNvPr id="13" name="TextBox 12"/>
          <p:cNvSpPr txBox="1"/>
          <p:nvPr/>
        </p:nvSpPr>
        <p:spPr>
          <a:xfrm>
            <a:off x="8887968" y="2048256"/>
            <a:ext cx="2286000" cy="548640"/>
          </a:xfrm>
          <a:prstGeom prst="rect">
            <a:avLst/>
          </a:prstGeom>
          <a:noFill/>
        </p:spPr>
        <p:txBody>
          <a:bodyPr wrap="square" lIns="9144" rIns="9144" tIns="0" bIns="0" anchor="t">
            <a:spAutoFit/>
          </a:bodyPr>
          <a:lstStyle/>
          <a:p>
            <a:pPr algn="l">
              <a:spcBef>
                <a:spcPts val="0"/>
              </a:spcBef>
              <a:spcAft>
                <a:spcPts val="0"/>
              </a:spcAft>
            </a:pPr>
            <a:r>
              <a:rPr sz="1700" b="1" i="0">
                <a:solidFill>
                  <a:srgbClr val="FFFFFF"/>
                </a:solidFill>
                <a:latin typeface="Aptos"/>
              </a:rPr>
              <a:t>Wijesinghe I.D.W.</a:t>
            </a:r>
          </a:p>
        </p:txBody>
      </p:sp>
      <p:sp>
        <p:nvSpPr>
          <p:cNvPr id="14" name="TextBox 13"/>
          <p:cNvSpPr txBox="1"/>
          <p:nvPr/>
        </p:nvSpPr>
        <p:spPr>
          <a:xfrm>
            <a:off x="8887968" y="2944368"/>
            <a:ext cx="2286000" cy="246888"/>
          </a:xfrm>
          <a:prstGeom prst="rect">
            <a:avLst/>
          </a:prstGeom>
          <a:noFill/>
        </p:spPr>
        <p:txBody>
          <a:bodyPr wrap="square" lIns="9144" rIns="9144" tIns="0" bIns="0" anchor="ctr">
            <a:spAutoFit/>
          </a:bodyPr>
          <a:lstStyle/>
          <a:p>
            <a:pPr algn="l">
              <a:spcBef>
                <a:spcPts val="0"/>
              </a:spcBef>
              <a:spcAft>
                <a:spcPts val="0"/>
              </a:spcAft>
            </a:pPr>
            <a:r>
              <a:rPr sz="1450" b="1" i="0">
                <a:solidFill>
                  <a:srgbClr val="F5B942"/>
                </a:solidFill>
                <a:latin typeface="Aptos"/>
              </a:rPr>
              <a:t>IT22555458</a:t>
            </a:r>
          </a:p>
        </p:txBody>
      </p:sp>
      <p:sp>
        <p:nvSpPr>
          <p:cNvPr id="15" name="TextBox 14"/>
          <p:cNvSpPr txBox="1"/>
          <p:nvPr/>
        </p:nvSpPr>
        <p:spPr>
          <a:xfrm>
            <a:off x="804672" y="3657600"/>
            <a:ext cx="3200400" cy="274320"/>
          </a:xfrm>
          <a:prstGeom prst="rect">
            <a:avLst/>
          </a:prstGeom>
          <a:noFill/>
        </p:spPr>
        <p:txBody>
          <a:bodyPr wrap="square" lIns="9144" rIns="9144" tIns="0" bIns="0" anchor="ctr">
            <a:spAutoFit/>
          </a:bodyPr>
          <a:lstStyle/>
          <a:p>
            <a:pPr algn="l">
              <a:spcBef>
                <a:spcPts val="0"/>
              </a:spcBef>
              <a:spcAft>
                <a:spcPts val="0"/>
              </a:spcAft>
            </a:pPr>
            <a:r>
              <a:rPr sz="1250" b="1" i="0">
                <a:solidFill>
                  <a:srgbClr val="1769E0"/>
                </a:solidFill>
                <a:latin typeface="Aptos"/>
              </a:rPr>
              <a:t>RESEARCH CONTRIBUTION</a:t>
            </a:r>
          </a:p>
        </p:txBody>
      </p:sp>
      <p:cxnSp>
        <p:nvCxnSpPr>
          <p:cNvPr id="16" name="Connector 15"/>
          <p:cNvCxnSpPr/>
          <p:nvPr/>
        </p:nvCxnSpPr>
        <p:spPr>
          <a:xfrm>
            <a:off x="804672" y="3977639"/>
            <a:ext cx="2651760" cy="0"/>
          </a:xfrm>
          <a:prstGeom prst="line">
            <a:avLst/>
          </a:prstGeom>
          <a:ln w="19050">
            <a:solidFill>
              <a:srgbClr val="1769E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5528" y="4178808"/>
            <a:ext cx="3511296" cy="155448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334256"/>
            <a:ext cx="338328" cy="329184"/>
          </a:xfrm>
          <a:prstGeom prst="rect">
            <a:avLst/>
          </a:prstGeom>
          <a:noFill/>
        </p:spPr>
        <p:txBody>
          <a:bodyPr wrap="square" lIns="9144" rIns="9144" tIns="0" bIns="0" anchor="ctr">
            <a:spAutoFit/>
          </a:bodyPr>
          <a:lstStyle/>
          <a:p>
            <a:pPr algn="l">
              <a:spcBef>
                <a:spcPts val="0"/>
              </a:spcBef>
              <a:spcAft>
                <a:spcPts val="0"/>
              </a:spcAft>
            </a:pPr>
            <a:r>
              <a:rPr sz="1900" b="1" i="0">
                <a:solidFill>
                  <a:srgbClr val="1769E0"/>
                </a:solidFill>
                <a:latin typeface="Aptos"/>
              </a:rPr>
              <a:t>01</a:t>
            </a:r>
          </a:p>
        </p:txBody>
      </p:sp>
      <p:sp>
        <p:nvSpPr>
          <p:cNvPr id="19" name="TextBox 18"/>
          <p:cNvSpPr txBox="1"/>
          <p:nvPr/>
        </p:nvSpPr>
        <p:spPr>
          <a:xfrm>
            <a:off x="1417320" y="4325112"/>
            <a:ext cx="2688336" cy="320040"/>
          </a:xfrm>
          <a:prstGeom prst="rect">
            <a:avLst/>
          </a:prstGeom>
          <a:noFill/>
        </p:spPr>
        <p:txBody>
          <a:bodyPr wrap="square" lIns="9144" rIns="9144" tIns="0" bIns="0" anchor="ctr">
            <a:spAutoFit/>
          </a:bodyPr>
          <a:lstStyle/>
          <a:p>
            <a:pPr algn="l">
              <a:spcBef>
                <a:spcPts val="0"/>
              </a:spcBef>
              <a:spcAft>
                <a:spcPts val="0"/>
              </a:spcAft>
            </a:pPr>
            <a:r>
              <a:rPr sz="1500" b="1" i="0">
                <a:solidFill>
                  <a:srgbClr val="0B2A4A"/>
                </a:solidFill>
                <a:latin typeface="Aptos"/>
              </a:rPr>
              <a:t>Historical evidence</a:t>
            </a:r>
          </a:p>
        </p:txBody>
      </p:sp>
      <p:sp>
        <p:nvSpPr>
          <p:cNvPr id="20" name="TextBox 19"/>
          <p:cNvSpPr txBox="1"/>
          <p:nvPr/>
        </p:nvSpPr>
        <p:spPr>
          <a:xfrm>
            <a:off x="1014983" y="4782312"/>
            <a:ext cx="3072384" cy="822960"/>
          </a:xfrm>
          <a:prstGeom prst="rect">
            <a:avLst/>
          </a:prstGeom>
          <a:noFill/>
        </p:spPr>
        <p:txBody>
          <a:bodyPr wrap="square" lIns="9144" rIns="9144" tIns="0" bIns="0" anchor="t">
            <a:spAutoFit/>
          </a:bodyPr>
          <a:lstStyle/>
          <a:p>
            <a:pPr algn="l">
              <a:spcBef>
                <a:spcPts val="0"/>
              </a:spcBef>
              <a:spcAft>
                <a:spcPts val="0"/>
              </a:spcAft>
            </a:pPr>
            <a:r>
              <a:rPr sz="1320" b="0" i="0">
                <a:solidFill>
                  <a:srgbClr val="1D2B3A"/>
                </a:solidFill>
                <a:latin typeface="Aptos"/>
              </a:rPr>
              <a:t>Neo4j hazards, road and terrain information inform severity inputs.</a:t>
            </a:r>
          </a:p>
        </p:txBody>
      </p:sp>
      <p:sp>
        <p:nvSpPr>
          <p:cNvPr id="21" name="Rounded Rectangle 20"/>
          <p:cNvSpPr/>
          <p:nvPr/>
        </p:nvSpPr>
        <p:spPr>
          <a:xfrm>
            <a:off x="4617720" y="4178808"/>
            <a:ext cx="3511296" cy="155448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91456" y="4334256"/>
            <a:ext cx="338328" cy="329184"/>
          </a:xfrm>
          <a:prstGeom prst="rect">
            <a:avLst/>
          </a:prstGeom>
          <a:noFill/>
        </p:spPr>
        <p:txBody>
          <a:bodyPr wrap="square" lIns="9144" rIns="9144" tIns="0" bIns="0" anchor="ctr">
            <a:spAutoFit/>
          </a:bodyPr>
          <a:lstStyle/>
          <a:p>
            <a:pPr algn="l">
              <a:spcBef>
                <a:spcPts val="0"/>
              </a:spcBef>
              <a:spcAft>
                <a:spcPts val="0"/>
              </a:spcAft>
            </a:pPr>
            <a:r>
              <a:rPr sz="1900" b="1" i="0">
                <a:solidFill>
                  <a:srgbClr val="1769E0"/>
                </a:solidFill>
                <a:latin typeface="Aptos"/>
              </a:rPr>
              <a:t>02</a:t>
            </a:r>
          </a:p>
        </p:txBody>
      </p:sp>
      <p:sp>
        <p:nvSpPr>
          <p:cNvPr id="23" name="TextBox 22"/>
          <p:cNvSpPr txBox="1"/>
          <p:nvPr/>
        </p:nvSpPr>
        <p:spPr>
          <a:xfrm>
            <a:off x="5239512" y="4325112"/>
            <a:ext cx="2688336" cy="320040"/>
          </a:xfrm>
          <a:prstGeom prst="rect">
            <a:avLst/>
          </a:prstGeom>
          <a:noFill/>
        </p:spPr>
        <p:txBody>
          <a:bodyPr wrap="square" lIns="9144" rIns="9144" tIns="0" bIns="0" anchor="ctr">
            <a:spAutoFit/>
          </a:bodyPr>
          <a:lstStyle/>
          <a:p>
            <a:pPr algn="l">
              <a:spcBef>
                <a:spcPts val="0"/>
              </a:spcBef>
              <a:spcAft>
                <a:spcPts val="0"/>
              </a:spcAft>
            </a:pPr>
            <a:r>
              <a:rPr sz="1500" b="1" i="0">
                <a:solidFill>
                  <a:srgbClr val="0B2A4A"/>
                </a:solidFill>
                <a:latin typeface="Aptos"/>
              </a:rPr>
              <a:t>Route comparison</a:t>
            </a:r>
          </a:p>
        </p:txBody>
      </p:sp>
      <p:sp>
        <p:nvSpPr>
          <p:cNvPr id="24" name="TextBox 23"/>
          <p:cNvSpPr txBox="1"/>
          <p:nvPr/>
        </p:nvSpPr>
        <p:spPr>
          <a:xfrm>
            <a:off x="4837176" y="4782312"/>
            <a:ext cx="3072384" cy="822960"/>
          </a:xfrm>
          <a:prstGeom prst="rect">
            <a:avLst/>
          </a:prstGeom>
          <a:noFill/>
        </p:spPr>
        <p:txBody>
          <a:bodyPr wrap="square" lIns="9144" rIns="9144" tIns="0" bIns="0" anchor="t">
            <a:spAutoFit/>
          </a:bodyPr>
          <a:lstStyle/>
          <a:p>
            <a:pPr algn="l">
              <a:spcBef>
                <a:spcPts val="0"/>
              </a:spcBef>
              <a:spcAft>
                <a:spcPts val="0"/>
              </a:spcAft>
            </a:pPr>
            <a:r>
              <a:rPr sz="1320" b="0" i="0">
                <a:solidFill>
                  <a:srgbClr val="1D2B3A"/>
                </a:solidFill>
                <a:latin typeface="Aptos"/>
              </a:rPr>
              <a:t>OSRM alternatives are compared only with usable distinct evidence.</a:t>
            </a:r>
          </a:p>
        </p:txBody>
      </p:sp>
      <p:sp>
        <p:nvSpPr>
          <p:cNvPr id="25" name="Rounded Rectangle 24"/>
          <p:cNvSpPr/>
          <p:nvPr/>
        </p:nvSpPr>
        <p:spPr>
          <a:xfrm>
            <a:off x="8439911" y="4178808"/>
            <a:ext cx="3511296" cy="155448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13647" y="4334256"/>
            <a:ext cx="338328" cy="329184"/>
          </a:xfrm>
          <a:prstGeom prst="rect">
            <a:avLst/>
          </a:prstGeom>
          <a:noFill/>
        </p:spPr>
        <p:txBody>
          <a:bodyPr wrap="square" lIns="9144" rIns="9144" tIns="0" bIns="0" anchor="ctr">
            <a:spAutoFit/>
          </a:bodyPr>
          <a:lstStyle/>
          <a:p>
            <a:pPr algn="l">
              <a:spcBef>
                <a:spcPts val="0"/>
              </a:spcBef>
              <a:spcAft>
                <a:spcPts val="0"/>
              </a:spcAft>
            </a:pPr>
            <a:r>
              <a:rPr sz="1900" b="1" i="0">
                <a:solidFill>
                  <a:srgbClr val="1769E0"/>
                </a:solidFill>
                <a:latin typeface="Aptos"/>
              </a:rPr>
              <a:t>03</a:t>
            </a:r>
          </a:p>
        </p:txBody>
      </p:sp>
      <p:sp>
        <p:nvSpPr>
          <p:cNvPr id="27" name="TextBox 26"/>
          <p:cNvSpPr txBox="1"/>
          <p:nvPr/>
        </p:nvSpPr>
        <p:spPr>
          <a:xfrm>
            <a:off x="9061703" y="4325112"/>
            <a:ext cx="2688336" cy="320040"/>
          </a:xfrm>
          <a:prstGeom prst="rect">
            <a:avLst/>
          </a:prstGeom>
          <a:noFill/>
        </p:spPr>
        <p:txBody>
          <a:bodyPr wrap="square" lIns="9144" rIns="9144" tIns="0" bIns="0" anchor="ctr">
            <a:spAutoFit/>
          </a:bodyPr>
          <a:lstStyle/>
          <a:p>
            <a:pPr algn="l">
              <a:spcBef>
                <a:spcPts val="0"/>
              </a:spcBef>
              <a:spcAft>
                <a:spcPts val="0"/>
              </a:spcAft>
            </a:pPr>
            <a:r>
              <a:rPr sz="1500" b="1" i="0">
                <a:solidFill>
                  <a:srgbClr val="0B2A4A"/>
                </a:solidFill>
                <a:latin typeface="Aptos"/>
              </a:rPr>
              <a:t>Vehicle constraints</a:t>
            </a:r>
          </a:p>
        </p:txBody>
      </p:sp>
      <p:sp>
        <p:nvSpPr>
          <p:cNvPr id="28" name="TextBox 27"/>
          <p:cNvSpPr txBox="1"/>
          <p:nvPr/>
        </p:nvSpPr>
        <p:spPr>
          <a:xfrm>
            <a:off x="8659367" y="4782312"/>
            <a:ext cx="3072384" cy="822960"/>
          </a:xfrm>
          <a:prstGeom prst="rect">
            <a:avLst/>
          </a:prstGeom>
          <a:noFill/>
        </p:spPr>
        <p:txBody>
          <a:bodyPr wrap="square" lIns="9144" rIns="9144" tIns="0" bIns="0" anchor="t">
            <a:spAutoFit/>
          </a:bodyPr>
          <a:lstStyle/>
          <a:p>
            <a:pPr algn="l">
              <a:spcBef>
                <a:spcPts val="0"/>
              </a:spcBef>
              <a:spcAft>
                <a:spcPts val="0"/>
              </a:spcAft>
            </a:pPr>
            <a:r>
              <a:rPr sz="1320" b="0" i="0">
                <a:solidFill>
                  <a:srgbClr val="1D2B3A"/>
                </a:solidFill>
                <a:latin typeface="Aptos"/>
              </a:rPr>
              <a:t>Budget, capacity, category and road capability guide matching.</a:t>
            </a:r>
          </a:p>
        </p:txBody>
      </p:sp>
      <p:sp>
        <p:nvSpPr>
          <p:cNvPr id="29" name="TextBox 28"/>
          <p:cNvSpPr txBox="1"/>
          <p:nvPr/>
        </p:nvSpPr>
        <p:spPr>
          <a:xfrm>
            <a:off x="832104" y="6053328"/>
            <a:ext cx="10789920" cy="256032"/>
          </a:xfrm>
          <a:prstGeom prst="rect">
            <a:avLst/>
          </a:prstGeom>
          <a:noFill/>
        </p:spPr>
        <p:txBody>
          <a:bodyPr wrap="square" lIns="9144" rIns="9144" tIns="0" bIns="0" anchor="ctr">
            <a:spAutoFit/>
          </a:bodyPr>
          <a:lstStyle/>
          <a:p>
            <a:pPr algn="l">
              <a:spcBef>
                <a:spcPts val="0"/>
              </a:spcBef>
              <a:spcAft>
                <a:spcPts val="0"/>
              </a:spcAft>
            </a:pPr>
            <a:r>
              <a:rPr sz="1120" b="0" i="0">
                <a:solidFill>
                  <a:srgbClr val="60738A"/>
                </a:solidFill>
                <a:latin typeface="Aptos"/>
              </a:rPr>
              <a:t>CORE APPROACH  ·  Gradient Boosting  ·  OSRM  ·  Neo4j  ·  vehicle-rule engine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C2 · Model, Route Evidence &amp; Test Results</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10</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078992"/>
            <a:ext cx="10881360" cy="292608"/>
          </a:xfrm>
          <a:prstGeom prst="rect">
            <a:avLst/>
          </a:prstGeom>
          <a:noFill/>
        </p:spPr>
        <p:txBody>
          <a:bodyPr wrap="square" lIns="9144" rIns="9144" tIns="0" bIns="0" anchor="ctr">
            <a:spAutoFit/>
          </a:bodyPr>
          <a:lstStyle/>
          <a:p>
            <a:pPr algn="l">
              <a:spcBef>
                <a:spcPts val="0"/>
              </a:spcBef>
              <a:spcAft>
                <a:spcPts val="0"/>
              </a:spcAft>
            </a:pPr>
            <a:r>
              <a:rPr sz="1230" b="0" i="0">
                <a:solidFill>
                  <a:srgbClr val="60738A"/>
                </a:solidFill>
                <a:latin typeface="Aptos"/>
              </a:rPr>
              <a:t>Held-out results describe severity-label prediction — not accident probability or guaranteed safety</a:t>
            </a:r>
          </a:p>
        </p:txBody>
      </p:sp>
      <p:sp>
        <p:nvSpPr>
          <p:cNvPr id="7" name="TextBox 6"/>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8" name="Rounded Rectangle 7"/>
          <p:cNvSpPr/>
          <p:nvPr/>
        </p:nvSpPr>
        <p:spPr>
          <a:xfrm>
            <a:off x="758952" y="1426464"/>
            <a:ext cx="10671048" cy="1042415"/>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1581912"/>
            <a:ext cx="2322576" cy="246888"/>
          </a:xfrm>
          <a:prstGeom prst="rect">
            <a:avLst/>
          </a:prstGeom>
          <a:noFill/>
        </p:spPr>
        <p:txBody>
          <a:bodyPr wrap="square" lIns="9144" rIns="9144" tIns="0" bIns="0" anchor="ctr">
            <a:spAutoFit/>
          </a:bodyPr>
          <a:lstStyle/>
          <a:p>
            <a:pPr algn="l">
              <a:spcBef>
                <a:spcPts val="0"/>
              </a:spcBef>
              <a:spcAft>
                <a:spcPts val="0"/>
              </a:spcAft>
            </a:pPr>
            <a:r>
              <a:rPr sz="1180" b="1" i="0">
                <a:solidFill>
                  <a:srgbClr val="1769E0"/>
                </a:solidFill>
                <a:latin typeface="Aptos"/>
              </a:rPr>
              <a:t>INPUT EVIDENCE</a:t>
            </a:r>
          </a:p>
        </p:txBody>
      </p:sp>
      <p:sp>
        <p:nvSpPr>
          <p:cNvPr id="10" name="TextBox 9"/>
          <p:cNvSpPr txBox="1"/>
          <p:nvPr/>
        </p:nvSpPr>
        <p:spPr>
          <a:xfrm>
            <a:off x="950976" y="1920240"/>
            <a:ext cx="2322576" cy="329184"/>
          </a:xfrm>
          <a:prstGeom prst="rect">
            <a:avLst/>
          </a:prstGeom>
          <a:noFill/>
        </p:spPr>
        <p:txBody>
          <a:bodyPr wrap="square" lIns="9144" rIns="9144" tIns="0" bIns="0" anchor="ctr">
            <a:spAutoFit/>
          </a:bodyPr>
          <a:lstStyle/>
          <a:p>
            <a:pPr algn="l">
              <a:spcBef>
                <a:spcPts val="0"/>
              </a:spcBef>
              <a:spcAft>
                <a:spcPts val="0"/>
              </a:spcAft>
            </a:pPr>
            <a:r>
              <a:rPr sz="1430" b="1" i="0">
                <a:solidFill>
                  <a:srgbClr val="0B2A4A"/>
                </a:solidFill>
                <a:latin typeface="Aptos"/>
              </a:rPr>
              <a:t>Road + hazard features</a:t>
            </a:r>
          </a:p>
        </p:txBody>
      </p:sp>
      <p:sp>
        <p:nvSpPr>
          <p:cNvPr id="11" name="TextBox 10"/>
          <p:cNvSpPr txBox="1"/>
          <p:nvPr/>
        </p:nvSpPr>
        <p:spPr>
          <a:xfrm>
            <a:off x="3593592" y="1773936"/>
            <a:ext cx="384048" cy="393192"/>
          </a:xfrm>
          <a:prstGeom prst="rect">
            <a:avLst/>
          </a:prstGeom>
          <a:noFill/>
        </p:spPr>
        <p:txBody>
          <a:bodyPr wrap="square" lIns="9144" rIns="9144" tIns="0" bIns="0" anchor="ctr">
            <a:spAutoFit/>
          </a:bodyPr>
          <a:lstStyle/>
          <a:p>
            <a:pPr algn="ctr">
              <a:spcBef>
                <a:spcPts val="0"/>
              </a:spcBef>
              <a:spcAft>
                <a:spcPts val="0"/>
              </a:spcAft>
            </a:pPr>
            <a:r>
              <a:rPr sz="2600" b="1" i="0">
                <a:solidFill>
                  <a:srgbClr val="1769E0"/>
                </a:solidFill>
                <a:latin typeface="Aptos"/>
              </a:rPr>
              <a:t>→</a:t>
            </a:r>
          </a:p>
        </p:txBody>
      </p:sp>
      <p:sp>
        <p:nvSpPr>
          <p:cNvPr id="12" name="TextBox 11"/>
          <p:cNvSpPr txBox="1"/>
          <p:nvPr/>
        </p:nvSpPr>
        <p:spPr>
          <a:xfrm>
            <a:off x="4197096" y="1581912"/>
            <a:ext cx="2414016" cy="246888"/>
          </a:xfrm>
          <a:prstGeom prst="rect">
            <a:avLst/>
          </a:prstGeom>
          <a:noFill/>
        </p:spPr>
        <p:txBody>
          <a:bodyPr wrap="square" lIns="9144" rIns="9144" tIns="0" bIns="0" anchor="ctr">
            <a:spAutoFit/>
          </a:bodyPr>
          <a:lstStyle/>
          <a:p>
            <a:pPr algn="l">
              <a:spcBef>
                <a:spcPts val="0"/>
              </a:spcBef>
              <a:spcAft>
                <a:spcPts val="0"/>
              </a:spcAft>
            </a:pPr>
            <a:r>
              <a:rPr sz="1180" b="1" i="0">
                <a:solidFill>
                  <a:srgbClr val="1769E0"/>
                </a:solidFill>
                <a:latin typeface="Aptos"/>
              </a:rPr>
              <a:t>MODEL</a:t>
            </a:r>
          </a:p>
        </p:txBody>
      </p:sp>
      <p:sp>
        <p:nvSpPr>
          <p:cNvPr id="13" name="TextBox 12"/>
          <p:cNvSpPr txBox="1"/>
          <p:nvPr/>
        </p:nvSpPr>
        <p:spPr>
          <a:xfrm>
            <a:off x="4197096" y="1920240"/>
            <a:ext cx="2414016" cy="329184"/>
          </a:xfrm>
          <a:prstGeom prst="rect">
            <a:avLst/>
          </a:prstGeom>
          <a:noFill/>
        </p:spPr>
        <p:txBody>
          <a:bodyPr wrap="square" lIns="9144" rIns="9144" tIns="0" bIns="0" anchor="ctr">
            <a:spAutoFit/>
          </a:bodyPr>
          <a:lstStyle/>
          <a:p>
            <a:pPr algn="l">
              <a:spcBef>
                <a:spcPts val="0"/>
              </a:spcBef>
              <a:spcAft>
                <a:spcPts val="0"/>
              </a:spcAft>
            </a:pPr>
            <a:r>
              <a:rPr sz="1430" b="1" i="0">
                <a:solidFill>
                  <a:srgbClr val="0B2A4A"/>
                </a:solidFill>
                <a:latin typeface="Aptos"/>
              </a:rPr>
              <a:t>Gradient Boosting</a:t>
            </a:r>
          </a:p>
        </p:txBody>
      </p:sp>
      <p:sp>
        <p:nvSpPr>
          <p:cNvPr id="14" name="TextBox 13"/>
          <p:cNvSpPr txBox="1"/>
          <p:nvPr/>
        </p:nvSpPr>
        <p:spPr>
          <a:xfrm>
            <a:off x="6748272" y="1773936"/>
            <a:ext cx="384048" cy="393192"/>
          </a:xfrm>
          <a:prstGeom prst="rect">
            <a:avLst/>
          </a:prstGeom>
          <a:noFill/>
        </p:spPr>
        <p:txBody>
          <a:bodyPr wrap="square" lIns="9144" rIns="9144" tIns="0" bIns="0" anchor="ctr">
            <a:spAutoFit/>
          </a:bodyPr>
          <a:lstStyle/>
          <a:p>
            <a:pPr algn="ctr">
              <a:spcBef>
                <a:spcPts val="0"/>
              </a:spcBef>
              <a:spcAft>
                <a:spcPts val="0"/>
              </a:spcAft>
            </a:pPr>
            <a:r>
              <a:rPr sz="2600" b="1" i="0">
                <a:solidFill>
                  <a:srgbClr val="1769E0"/>
                </a:solidFill>
                <a:latin typeface="Aptos"/>
              </a:rPr>
              <a:t>→</a:t>
            </a:r>
          </a:p>
        </p:txBody>
      </p:sp>
      <p:sp>
        <p:nvSpPr>
          <p:cNvPr id="15" name="TextBox 14"/>
          <p:cNvSpPr txBox="1"/>
          <p:nvPr/>
        </p:nvSpPr>
        <p:spPr>
          <a:xfrm>
            <a:off x="7424927" y="1581912"/>
            <a:ext cx="3547872" cy="246888"/>
          </a:xfrm>
          <a:prstGeom prst="rect">
            <a:avLst/>
          </a:prstGeom>
          <a:noFill/>
        </p:spPr>
        <p:txBody>
          <a:bodyPr wrap="square" lIns="9144" rIns="9144" tIns="0" bIns="0" anchor="ctr">
            <a:spAutoFit/>
          </a:bodyPr>
          <a:lstStyle/>
          <a:p>
            <a:pPr algn="l">
              <a:spcBef>
                <a:spcPts val="0"/>
              </a:spcBef>
              <a:spcAft>
                <a:spcPts val="0"/>
              </a:spcAft>
            </a:pPr>
            <a:r>
              <a:rPr sz="1180" b="1" i="0">
                <a:solidFill>
                  <a:srgbClr val="1769E0"/>
                </a:solidFill>
                <a:latin typeface="Aptos"/>
              </a:rPr>
              <a:t>DECISION SUPPORT</a:t>
            </a:r>
          </a:p>
        </p:txBody>
      </p:sp>
      <p:sp>
        <p:nvSpPr>
          <p:cNvPr id="16" name="TextBox 15"/>
          <p:cNvSpPr txBox="1"/>
          <p:nvPr/>
        </p:nvSpPr>
        <p:spPr>
          <a:xfrm>
            <a:off x="7424927" y="1920240"/>
            <a:ext cx="3474720" cy="329184"/>
          </a:xfrm>
          <a:prstGeom prst="rect">
            <a:avLst/>
          </a:prstGeom>
          <a:noFill/>
        </p:spPr>
        <p:txBody>
          <a:bodyPr wrap="square" lIns="9144" rIns="9144" tIns="0" bIns="0" anchor="ctr">
            <a:spAutoFit/>
          </a:bodyPr>
          <a:lstStyle/>
          <a:p>
            <a:pPr algn="l">
              <a:spcBef>
                <a:spcPts val="0"/>
              </a:spcBef>
              <a:spcAft>
                <a:spcPts val="0"/>
              </a:spcAft>
            </a:pPr>
            <a:r>
              <a:rPr sz="1430" b="1" i="0">
                <a:solidFill>
                  <a:srgbClr val="0B2A4A"/>
                </a:solidFill>
                <a:latin typeface="Aptos"/>
              </a:rPr>
              <a:t>Severity + vehicle advice</a:t>
            </a:r>
          </a:p>
        </p:txBody>
      </p:sp>
      <p:sp>
        <p:nvSpPr>
          <p:cNvPr id="17" name="Rounded Rectangle 16"/>
          <p:cNvSpPr/>
          <p:nvPr/>
        </p:nvSpPr>
        <p:spPr>
          <a:xfrm>
            <a:off x="758952" y="2834640"/>
            <a:ext cx="3374136" cy="1325880"/>
          </a:xfrm>
          <a:prstGeom prst="roundRect">
            <a:avLst>
              <a:gd name="adj" fmla="val 12000"/>
            </a:avLst>
          </a:prstGeom>
          <a:solidFill>
            <a:srgbClr val="EDF5FF"/>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2953512"/>
            <a:ext cx="3154680" cy="539496"/>
          </a:xfrm>
          <a:prstGeom prst="rect">
            <a:avLst/>
          </a:prstGeom>
          <a:noFill/>
        </p:spPr>
        <p:txBody>
          <a:bodyPr wrap="square" lIns="9144" rIns="9144" tIns="0" bIns="0" anchor="ctr">
            <a:spAutoFit/>
          </a:bodyPr>
          <a:lstStyle/>
          <a:p>
            <a:pPr algn="ctr">
              <a:spcBef>
                <a:spcPts val="0"/>
              </a:spcBef>
              <a:spcAft>
                <a:spcPts val="0"/>
              </a:spcAft>
            </a:pPr>
            <a:r>
              <a:rPr sz="3500" b="1" i="0">
                <a:solidFill>
                  <a:srgbClr val="1769E0"/>
                </a:solidFill>
                <a:latin typeface="Aptos Display"/>
              </a:rPr>
              <a:t>88.20%</a:t>
            </a:r>
          </a:p>
        </p:txBody>
      </p:sp>
      <p:sp>
        <p:nvSpPr>
          <p:cNvPr id="19" name="TextBox 18"/>
          <p:cNvSpPr txBox="1"/>
          <p:nvPr/>
        </p:nvSpPr>
        <p:spPr>
          <a:xfrm>
            <a:off x="868680" y="3584448"/>
            <a:ext cx="3154680" cy="256032"/>
          </a:xfrm>
          <a:prstGeom prst="rect">
            <a:avLst/>
          </a:prstGeom>
          <a:noFill/>
        </p:spPr>
        <p:txBody>
          <a:bodyPr wrap="square" lIns="9144" rIns="9144" tIns="0" bIns="0" anchor="ctr">
            <a:spAutoFit/>
          </a:bodyPr>
          <a:lstStyle/>
          <a:p>
            <a:pPr algn="ctr">
              <a:spcBef>
                <a:spcPts val="0"/>
              </a:spcBef>
              <a:spcAft>
                <a:spcPts val="0"/>
              </a:spcAft>
            </a:pPr>
            <a:r>
              <a:rPr sz="1330" b="1" i="0">
                <a:solidFill>
                  <a:srgbClr val="0B2A4A"/>
                </a:solidFill>
                <a:latin typeface="Aptos"/>
              </a:rPr>
              <a:t>Held-out accuracy</a:t>
            </a:r>
          </a:p>
        </p:txBody>
      </p:sp>
      <p:sp>
        <p:nvSpPr>
          <p:cNvPr id="20" name="TextBox 19"/>
          <p:cNvSpPr txBox="1"/>
          <p:nvPr/>
        </p:nvSpPr>
        <p:spPr>
          <a:xfrm>
            <a:off x="859536" y="3886200"/>
            <a:ext cx="3172968" cy="164592"/>
          </a:xfrm>
          <a:prstGeom prst="rect">
            <a:avLst/>
          </a:prstGeom>
          <a:noFill/>
        </p:spPr>
        <p:txBody>
          <a:bodyPr wrap="square" lIns="9144" rIns="9144" tIns="0" bIns="0" anchor="ctr">
            <a:spAutoFit/>
          </a:bodyPr>
          <a:lstStyle/>
          <a:p>
            <a:pPr algn="ctr">
              <a:spcBef>
                <a:spcPts val="0"/>
              </a:spcBef>
              <a:spcAft>
                <a:spcPts val="0"/>
              </a:spcAft>
            </a:pPr>
            <a:r>
              <a:rPr sz="950" b="0" i="0">
                <a:solidFill>
                  <a:srgbClr val="60738A"/>
                </a:solidFill>
                <a:latin typeface="Aptos"/>
              </a:rPr>
              <a:t>severity classification</a:t>
            </a:r>
          </a:p>
        </p:txBody>
      </p:sp>
      <p:sp>
        <p:nvSpPr>
          <p:cNvPr id="21" name="Rounded Rectangle 20"/>
          <p:cNvSpPr/>
          <p:nvPr/>
        </p:nvSpPr>
        <p:spPr>
          <a:xfrm>
            <a:off x="4416552" y="2834640"/>
            <a:ext cx="3374136" cy="1325880"/>
          </a:xfrm>
          <a:prstGeom prst="roundRect">
            <a:avLst>
              <a:gd name="adj" fmla="val 12000"/>
            </a:avLst>
          </a:prstGeom>
          <a:solidFill>
            <a:srgbClr val="EDF5FF"/>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80" y="2953512"/>
            <a:ext cx="3154680" cy="539496"/>
          </a:xfrm>
          <a:prstGeom prst="rect">
            <a:avLst/>
          </a:prstGeom>
          <a:noFill/>
        </p:spPr>
        <p:txBody>
          <a:bodyPr wrap="square" lIns="9144" rIns="9144" tIns="0" bIns="0" anchor="ctr">
            <a:spAutoFit/>
          </a:bodyPr>
          <a:lstStyle/>
          <a:p>
            <a:pPr algn="ctr">
              <a:spcBef>
                <a:spcPts val="0"/>
              </a:spcBef>
              <a:spcAft>
                <a:spcPts val="0"/>
              </a:spcAft>
            </a:pPr>
            <a:r>
              <a:rPr sz="3400" b="1" i="0">
                <a:solidFill>
                  <a:srgbClr val="1769E0"/>
                </a:solidFill>
                <a:latin typeface="Aptos Display"/>
              </a:rPr>
              <a:t>0.8780</a:t>
            </a:r>
          </a:p>
        </p:txBody>
      </p:sp>
      <p:sp>
        <p:nvSpPr>
          <p:cNvPr id="23" name="TextBox 22"/>
          <p:cNvSpPr txBox="1"/>
          <p:nvPr/>
        </p:nvSpPr>
        <p:spPr>
          <a:xfrm>
            <a:off x="4526280" y="3584448"/>
            <a:ext cx="3154680" cy="256032"/>
          </a:xfrm>
          <a:prstGeom prst="rect">
            <a:avLst/>
          </a:prstGeom>
          <a:noFill/>
        </p:spPr>
        <p:txBody>
          <a:bodyPr wrap="square" lIns="9144" rIns="9144" tIns="0" bIns="0" anchor="ctr">
            <a:spAutoFit/>
          </a:bodyPr>
          <a:lstStyle/>
          <a:p>
            <a:pPr algn="ctr">
              <a:spcBef>
                <a:spcPts val="0"/>
              </a:spcBef>
              <a:spcAft>
                <a:spcPts val="0"/>
              </a:spcAft>
            </a:pPr>
            <a:r>
              <a:rPr sz="1330" b="1" i="0">
                <a:solidFill>
                  <a:srgbClr val="0B2A4A"/>
                </a:solidFill>
                <a:latin typeface="Aptos"/>
              </a:rPr>
              <a:t>Macro-F1</a:t>
            </a:r>
          </a:p>
        </p:txBody>
      </p:sp>
      <p:sp>
        <p:nvSpPr>
          <p:cNvPr id="24" name="TextBox 23"/>
          <p:cNvSpPr txBox="1"/>
          <p:nvPr/>
        </p:nvSpPr>
        <p:spPr>
          <a:xfrm>
            <a:off x="4517136" y="3886200"/>
            <a:ext cx="3172968" cy="164592"/>
          </a:xfrm>
          <a:prstGeom prst="rect">
            <a:avLst/>
          </a:prstGeom>
          <a:noFill/>
        </p:spPr>
        <p:txBody>
          <a:bodyPr wrap="square" lIns="9144" rIns="9144" tIns="0" bIns="0" anchor="ctr">
            <a:spAutoFit/>
          </a:bodyPr>
          <a:lstStyle/>
          <a:p>
            <a:pPr algn="ctr">
              <a:spcBef>
                <a:spcPts val="0"/>
              </a:spcBef>
              <a:spcAft>
                <a:spcPts val="0"/>
              </a:spcAft>
            </a:pPr>
            <a:r>
              <a:rPr sz="950" b="0" i="0">
                <a:solidFill>
                  <a:srgbClr val="60738A"/>
                </a:solidFill>
                <a:latin typeface="Aptos"/>
              </a:rPr>
              <a:t>held-out evaluation</a:t>
            </a:r>
          </a:p>
        </p:txBody>
      </p:sp>
      <p:sp>
        <p:nvSpPr>
          <p:cNvPr id="25" name="Rounded Rectangle 24"/>
          <p:cNvSpPr/>
          <p:nvPr/>
        </p:nvSpPr>
        <p:spPr>
          <a:xfrm>
            <a:off x="8074152" y="2834640"/>
            <a:ext cx="3374136" cy="1325880"/>
          </a:xfrm>
          <a:prstGeom prst="roundRect">
            <a:avLst>
              <a:gd name="adj" fmla="val 12000"/>
            </a:avLst>
          </a:prstGeom>
          <a:solidFill>
            <a:srgbClr val="EDF5FF"/>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3879" y="2953512"/>
            <a:ext cx="3154680" cy="539496"/>
          </a:xfrm>
          <a:prstGeom prst="rect">
            <a:avLst/>
          </a:prstGeom>
          <a:noFill/>
        </p:spPr>
        <p:txBody>
          <a:bodyPr wrap="square" lIns="9144" rIns="9144" tIns="0" bIns="0" anchor="ctr">
            <a:spAutoFit/>
          </a:bodyPr>
          <a:lstStyle/>
          <a:p>
            <a:pPr algn="ctr">
              <a:spcBef>
                <a:spcPts val="0"/>
              </a:spcBef>
              <a:spcAft>
                <a:spcPts val="0"/>
              </a:spcAft>
            </a:pPr>
            <a:r>
              <a:rPr sz="3400" b="1" i="0">
                <a:solidFill>
                  <a:srgbClr val="1769E0"/>
                </a:solidFill>
                <a:latin typeface="Aptos Display"/>
              </a:rPr>
              <a:t>0.9074</a:t>
            </a:r>
          </a:p>
        </p:txBody>
      </p:sp>
      <p:sp>
        <p:nvSpPr>
          <p:cNvPr id="27" name="TextBox 26"/>
          <p:cNvSpPr txBox="1"/>
          <p:nvPr/>
        </p:nvSpPr>
        <p:spPr>
          <a:xfrm>
            <a:off x="8183879" y="3584448"/>
            <a:ext cx="3154680" cy="256032"/>
          </a:xfrm>
          <a:prstGeom prst="rect">
            <a:avLst/>
          </a:prstGeom>
          <a:noFill/>
        </p:spPr>
        <p:txBody>
          <a:bodyPr wrap="square" lIns="9144" rIns="9144" tIns="0" bIns="0" anchor="ctr">
            <a:spAutoFit/>
          </a:bodyPr>
          <a:lstStyle/>
          <a:p>
            <a:pPr algn="ctr">
              <a:spcBef>
                <a:spcPts val="0"/>
              </a:spcBef>
              <a:spcAft>
                <a:spcPts val="0"/>
              </a:spcAft>
            </a:pPr>
            <a:r>
              <a:rPr sz="1330" b="1" i="0">
                <a:solidFill>
                  <a:srgbClr val="0B2A4A"/>
                </a:solidFill>
                <a:latin typeface="Aptos"/>
              </a:rPr>
              <a:t>Macro recall</a:t>
            </a:r>
          </a:p>
        </p:txBody>
      </p:sp>
      <p:sp>
        <p:nvSpPr>
          <p:cNvPr id="28" name="TextBox 27"/>
          <p:cNvSpPr txBox="1"/>
          <p:nvPr/>
        </p:nvSpPr>
        <p:spPr>
          <a:xfrm>
            <a:off x="8174736" y="3886200"/>
            <a:ext cx="3172968" cy="164592"/>
          </a:xfrm>
          <a:prstGeom prst="rect">
            <a:avLst/>
          </a:prstGeom>
          <a:noFill/>
        </p:spPr>
        <p:txBody>
          <a:bodyPr wrap="square" lIns="9144" rIns="9144" tIns="0" bIns="0" anchor="ctr">
            <a:spAutoFit/>
          </a:bodyPr>
          <a:lstStyle/>
          <a:p>
            <a:pPr algn="ctr">
              <a:spcBef>
                <a:spcPts val="0"/>
              </a:spcBef>
              <a:spcAft>
                <a:spcPts val="0"/>
              </a:spcAft>
            </a:pPr>
            <a:r>
              <a:rPr sz="950" b="0" i="0">
                <a:solidFill>
                  <a:srgbClr val="60738A"/>
                </a:solidFill>
                <a:latin typeface="Aptos"/>
              </a:rPr>
              <a:t>held-out evaluation</a:t>
            </a:r>
          </a:p>
        </p:txBody>
      </p:sp>
      <p:sp>
        <p:nvSpPr>
          <p:cNvPr id="29" name="TextBox 28"/>
          <p:cNvSpPr txBox="1"/>
          <p:nvPr/>
        </p:nvSpPr>
        <p:spPr>
          <a:xfrm>
            <a:off x="850392" y="4572000"/>
            <a:ext cx="3200400" cy="274320"/>
          </a:xfrm>
          <a:prstGeom prst="rect">
            <a:avLst/>
          </a:prstGeom>
          <a:noFill/>
        </p:spPr>
        <p:txBody>
          <a:bodyPr wrap="square" lIns="9144" rIns="9144" tIns="0" bIns="0" anchor="ctr">
            <a:spAutoFit/>
          </a:bodyPr>
          <a:lstStyle/>
          <a:p>
            <a:pPr algn="l">
              <a:spcBef>
                <a:spcPts val="0"/>
              </a:spcBef>
              <a:spcAft>
                <a:spcPts val="0"/>
              </a:spcAft>
            </a:pPr>
            <a:r>
              <a:rPr sz="1250" b="1" i="0">
                <a:solidFill>
                  <a:srgbClr val="1769E0"/>
                </a:solidFill>
                <a:latin typeface="Aptos"/>
              </a:rPr>
              <a:t>WHAT THE USER RECEIVES</a:t>
            </a:r>
          </a:p>
        </p:txBody>
      </p:sp>
      <p:cxnSp>
        <p:nvCxnSpPr>
          <p:cNvPr id="30" name="Connector 29"/>
          <p:cNvCxnSpPr/>
          <p:nvPr/>
        </p:nvCxnSpPr>
        <p:spPr>
          <a:xfrm>
            <a:off x="850392" y="4892040"/>
            <a:ext cx="2651760" cy="0"/>
          </a:xfrm>
          <a:prstGeom prst="line">
            <a:avLst/>
          </a:prstGeom>
          <a:ln w="19050">
            <a:solidFill>
              <a:srgbClr val="1769E0"/>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32688" y="5120640"/>
            <a:ext cx="73152" cy="73152"/>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33856" y="5010912"/>
            <a:ext cx="9930384" cy="384048"/>
          </a:xfrm>
          <a:prstGeom prst="rect">
            <a:avLst/>
          </a:prstGeom>
          <a:noFill/>
        </p:spPr>
        <p:txBody>
          <a:bodyPr wrap="square" lIns="9144" rIns="9144" tIns="0" bIns="0" anchor="t">
            <a:spAutoFit/>
          </a:bodyPr>
          <a:lstStyle/>
          <a:p>
            <a:pPr algn="l">
              <a:spcBef>
                <a:spcPts val="0"/>
              </a:spcBef>
              <a:spcAft>
                <a:spcPts val="0"/>
              </a:spcAft>
            </a:pPr>
            <a:r>
              <a:rPr sz="1450" b="0" i="0">
                <a:solidFill>
                  <a:srgbClr val="1D2B3A"/>
                </a:solidFill>
                <a:latin typeface="Aptos"/>
              </a:rPr>
              <a:t>Route alternatives / evidence status + Low, Medium or High classification</a:t>
            </a:r>
          </a:p>
        </p:txBody>
      </p:sp>
      <p:sp>
        <p:nvSpPr>
          <p:cNvPr id="33" name="Rounded Rectangle 32"/>
          <p:cNvSpPr/>
          <p:nvPr/>
        </p:nvSpPr>
        <p:spPr>
          <a:xfrm>
            <a:off x="932688" y="5550408"/>
            <a:ext cx="73152" cy="73152"/>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33856" y="5440680"/>
            <a:ext cx="9930384" cy="384048"/>
          </a:xfrm>
          <a:prstGeom prst="rect">
            <a:avLst/>
          </a:prstGeom>
          <a:noFill/>
        </p:spPr>
        <p:txBody>
          <a:bodyPr wrap="square" lIns="9144" rIns="9144" tIns="0" bIns="0" anchor="t">
            <a:spAutoFit/>
          </a:bodyPr>
          <a:lstStyle/>
          <a:p>
            <a:pPr algn="l">
              <a:spcBef>
                <a:spcPts val="0"/>
              </a:spcBef>
              <a:spcAft>
                <a:spcPts val="0"/>
              </a:spcAft>
            </a:pPr>
            <a:r>
              <a:rPr sz="1450" b="0" i="0">
                <a:solidFill>
                  <a:srgbClr val="1D2B3A"/>
                </a:solidFill>
                <a:latin typeface="Aptos"/>
              </a:rPr>
              <a:t>Passenger and budget-constrained vehicle guidance; weather shown separately</a:t>
            </a:r>
          </a:p>
        </p:txBody>
      </p:sp>
      <p:sp>
        <p:nvSpPr>
          <p:cNvPr id="35" name="TextBox 34"/>
          <p:cNvSpPr txBox="1"/>
          <p:nvPr/>
        </p:nvSpPr>
        <p:spPr>
          <a:xfrm>
            <a:off x="841248" y="5980176"/>
            <a:ext cx="10515600" cy="274320"/>
          </a:xfrm>
          <a:prstGeom prst="rect">
            <a:avLst/>
          </a:prstGeom>
          <a:noFill/>
        </p:spPr>
        <p:txBody>
          <a:bodyPr wrap="square" lIns="9144" rIns="9144" tIns="0" bIns="0" anchor="ctr">
            <a:spAutoFit/>
          </a:bodyPr>
          <a:lstStyle/>
          <a:p>
            <a:pPr algn="l">
              <a:spcBef>
                <a:spcPts val="0"/>
              </a:spcBef>
              <a:spcAft>
                <a:spcPts val="0"/>
              </a:spcAft>
            </a:pPr>
            <a:r>
              <a:rPr sz="1190" b="1" i="0">
                <a:solidFill>
                  <a:srgbClr val="A7563B"/>
                </a:solidFill>
                <a:latin typeface="Aptos"/>
              </a:rPr>
              <a:t>LIMITATION: 463 of 598 training rows lack linked road profiles; external safety validity remains unverified.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Component 3  |  Research Contribution</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11</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7" name="Rounded Rectangle 6"/>
          <p:cNvSpPr/>
          <p:nvPr/>
        </p:nvSpPr>
        <p:spPr>
          <a:xfrm>
            <a:off x="749808" y="1316736"/>
            <a:ext cx="1307592" cy="347472"/>
          </a:xfrm>
          <a:prstGeom prst="roundRect">
            <a:avLst>
              <a:gd name="adj" fmla="val 12000"/>
            </a:avLst>
          </a:prstGeom>
          <a:solidFill>
            <a:srgbClr val="ED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5" y="1325880"/>
            <a:ext cx="1179576" cy="329184"/>
          </a:xfrm>
          <a:prstGeom prst="rect">
            <a:avLst/>
          </a:prstGeom>
          <a:noFill/>
        </p:spPr>
        <p:txBody>
          <a:bodyPr wrap="square" lIns="9144" rIns="9144" tIns="0" bIns="0" anchor="ctr">
            <a:spAutoFit/>
          </a:bodyPr>
          <a:lstStyle/>
          <a:p>
            <a:r>
              <a:rPr sz="1050" b="1">
                <a:solidFill>
                  <a:srgbClr val="1769E0"/>
                </a:solidFill>
                <a:latin typeface="Aptos"/>
              </a:rPr>
              <a:t>COMPONENT 03</a:t>
            </a:r>
          </a:p>
        </p:txBody>
      </p:sp>
      <p:sp>
        <p:nvSpPr>
          <p:cNvPr id="9" name="TextBox 8"/>
          <p:cNvSpPr txBox="1"/>
          <p:nvPr/>
        </p:nvSpPr>
        <p:spPr>
          <a:xfrm>
            <a:off x="768096" y="1837943"/>
            <a:ext cx="7589520" cy="996696"/>
          </a:xfrm>
          <a:prstGeom prst="rect">
            <a:avLst/>
          </a:prstGeom>
          <a:noFill/>
        </p:spPr>
        <p:txBody>
          <a:bodyPr wrap="square" lIns="9144" rIns="9144" tIns="0" bIns="0" anchor="t">
            <a:spAutoFit/>
          </a:bodyPr>
          <a:lstStyle/>
          <a:p>
            <a:pPr algn="l">
              <a:spcBef>
                <a:spcPts val="0"/>
              </a:spcBef>
              <a:spcAft>
                <a:spcPts val="0"/>
              </a:spcAft>
            </a:pPr>
            <a:r>
              <a:rPr sz="3000" b="1" i="0">
                <a:solidFill>
                  <a:srgbClr val="0B2A4A"/>
                </a:solidFill>
                <a:latin typeface="Aptos Display"/>
              </a:rPr>
              <a:t>Context-Aware Itinerary Optimizer</a:t>
            </a:r>
          </a:p>
        </p:txBody>
      </p:sp>
      <p:sp>
        <p:nvSpPr>
          <p:cNvPr id="10" name="TextBox 9"/>
          <p:cNvSpPr txBox="1"/>
          <p:nvPr/>
        </p:nvSpPr>
        <p:spPr>
          <a:xfrm>
            <a:off x="795528" y="2871216"/>
            <a:ext cx="7315200" cy="493776"/>
          </a:xfrm>
          <a:prstGeom prst="rect">
            <a:avLst/>
          </a:prstGeom>
          <a:noFill/>
        </p:spPr>
        <p:txBody>
          <a:bodyPr wrap="square" lIns="9144" rIns="9144" tIns="0" bIns="0" anchor="t">
            <a:spAutoFit/>
          </a:bodyPr>
          <a:lstStyle/>
          <a:p>
            <a:pPr algn="l">
              <a:spcBef>
                <a:spcPts val="0"/>
              </a:spcBef>
              <a:spcAft>
                <a:spcPts val="0"/>
              </a:spcAft>
            </a:pPr>
            <a:r>
              <a:rPr sz="1720" b="0" i="0">
                <a:solidFill>
                  <a:srgbClr val="60738A"/>
                </a:solidFill>
                <a:latin typeface="Aptos"/>
              </a:rPr>
              <a:t>Preference relevance and real road-time scheduling are treated as separate decisions.</a:t>
            </a:r>
          </a:p>
        </p:txBody>
      </p:sp>
      <p:sp>
        <p:nvSpPr>
          <p:cNvPr id="11" name="Rounded Rectangle 10"/>
          <p:cNvSpPr/>
          <p:nvPr/>
        </p:nvSpPr>
        <p:spPr>
          <a:xfrm>
            <a:off x="8613648" y="1463040"/>
            <a:ext cx="2752344" cy="2048256"/>
          </a:xfrm>
          <a:prstGeom prst="roundRect">
            <a:avLst>
              <a:gd name="adj" fmla="val 12000"/>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7112" y="1682496"/>
            <a:ext cx="2249424" cy="274320"/>
          </a:xfrm>
          <a:prstGeom prst="rect">
            <a:avLst/>
          </a:prstGeom>
          <a:noFill/>
        </p:spPr>
        <p:txBody>
          <a:bodyPr wrap="square" lIns="9144" rIns="9144" tIns="0" bIns="0" anchor="ctr">
            <a:spAutoFit/>
          </a:bodyPr>
          <a:lstStyle/>
          <a:p>
            <a:pPr algn="l">
              <a:spcBef>
                <a:spcPts val="0"/>
              </a:spcBef>
              <a:spcAft>
                <a:spcPts val="0"/>
              </a:spcAft>
            </a:pPr>
            <a:r>
              <a:rPr sz="1100" b="1" i="0">
                <a:solidFill>
                  <a:srgbClr val="F5B942"/>
                </a:solidFill>
                <a:latin typeface="Aptos"/>
              </a:rPr>
              <a:t>RESEARCHER</a:t>
            </a:r>
          </a:p>
        </p:txBody>
      </p:sp>
      <p:sp>
        <p:nvSpPr>
          <p:cNvPr id="13" name="TextBox 12"/>
          <p:cNvSpPr txBox="1"/>
          <p:nvPr/>
        </p:nvSpPr>
        <p:spPr>
          <a:xfrm>
            <a:off x="8887968" y="2048256"/>
            <a:ext cx="2286000" cy="548640"/>
          </a:xfrm>
          <a:prstGeom prst="rect">
            <a:avLst/>
          </a:prstGeom>
          <a:noFill/>
        </p:spPr>
        <p:txBody>
          <a:bodyPr wrap="square" lIns="9144" rIns="9144" tIns="0" bIns="0" anchor="t">
            <a:spAutoFit/>
          </a:bodyPr>
          <a:lstStyle/>
          <a:p>
            <a:pPr algn="l">
              <a:spcBef>
                <a:spcPts val="0"/>
              </a:spcBef>
              <a:spcAft>
                <a:spcPts val="0"/>
              </a:spcAft>
            </a:pPr>
            <a:r>
              <a:rPr sz="1700" b="1" i="0">
                <a:solidFill>
                  <a:srgbClr val="FFFFFF"/>
                </a:solidFill>
                <a:latin typeface="Aptos"/>
              </a:rPr>
              <a:t>Kumarasinghe K.G.A.M.S.D.C.</a:t>
            </a:r>
          </a:p>
        </p:txBody>
      </p:sp>
      <p:sp>
        <p:nvSpPr>
          <p:cNvPr id="14" name="TextBox 13"/>
          <p:cNvSpPr txBox="1"/>
          <p:nvPr/>
        </p:nvSpPr>
        <p:spPr>
          <a:xfrm>
            <a:off x="8887968" y="2944368"/>
            <a:ext cx="2286000" cy="246888"/>
          </a:xfrm>
          <a:prstGeom prst="rect">
            <a:avLst/>
          </a:prstGeom>
          <a:noFill/>
        </p:spPr>
        <p:txBody>
          <a:bodyPr wrap="square" lIns="9144" rIns="9144" tIns="0" bIns="0" anchor="ctr">
            <a:spAutoFit/>
          </a:bodyPr>
          <a:lstStyle/>
          <a:p>
            <a:pPr algn="l">
              <a:spcBef>
                <a:spcPts val="0"/>
              </a:spcBef>
              <a:spcAft>
                <a:spcPts val="0"/>
              </a:spcAft>
            </a:pPr>
            <a:r>
              <a:rPr sz="1450" b="1" i="0">
                <a:solidFill>
                  <a:srgbClr val="F5B942"/>
                </a:solidFill>
                <a:latin typeface="Aptos"/>
              </a:rPr>
              <a:t>IT22224866</a:t>
            </a:r>
          </a:p>
        </p:txBody>
      </p:sp>
      <p:sp>
        <p:nvSpPr>
          <p:cNvPr id="15" name="TextBox 14"/>
          <p:cNvSpPr txBox="1"/>
          <p:nvPr/>
        </p:nvSpPr>
        <p:spPr>
          <a:xfrm>
            <a:off x="804672" y="3657600"/>
            <a:ext cx="3200400" cy="274320"/>
          </a:xfrm>
          <a:prstGeom prst="rect">
            <a:avLst/>
          </a:prstGeom>
          <a:noFill/>
        </p:spPr>
        <p:txBody>
          <a:bodyPr wrap="square" lIns="9144" rIns="9144" tIns="0" bIns="0" anchor="ctr">
            <a:spAutoFit/>
          </a:bodyPr>
          <a:lstStyle/>
          <a:p>
            <a:pPr algn="l">
              <a:spcBef>
                <a:spcPts val="0"/>
              </a:spcBef>
              <a:spcAft>
                <a:spcPts val="0"/>
              </a:spcAft>
            </a:pPr>
            <a:r>
              <a:rPr sz="1250" b="1" i="0">
                <a:solidFill>
                  <a:srgbClr val="1769E0"/>
                </a:solidFill>
                <a:latin typeface="Aptos"/>
              </a:rPr>
              <a:t>RESEARCH CONTRIBUTION</a:t>
            </a:r>
          </a:p>
        </p:txBody>
      </p:sp>
      <p:cxnSp>
        <p:nvCxnSpPr>
          <p:cNvPr id="16" name="Connector 15"/>
          <p:cNvCxnSpPr/>
          <p:nvPr/>
        </p:nvCxnSpPr>
        <p:spPr>
          <a:xfrm>
            <a:off x="804672" y="3977639"/>
            <a:ext cx="2651760" cy="0"/>
          </a:xfrm>
          <a:prstGeom prst="line">
            <a:avLst/>
          </a:prstGeom>
          <a:ln w="19050">
            <a:solidFill>
              <a:srgbClr val="1769E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5528" y="4178808"/>
            <a:ext cx="3511296" cy="155448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334256"/>
            <a:ext cx="338328" cy="329184"/>
          </a:xfrm>
          <a:prstGeom prst="rect">
            <a:avLst/>
          </a:prstGeom>
          <a:noFill/>
        </p:spPr>
        <p:txBody>
          <a:bodyPr wrap="square" lIns="9144" rIns="9144" tIns="0" bIns="0" anchor="ctr">
            <a:spAutoFit/>
          </a:bodyPr>
          <a:lstStyle/>
          <a:p>
            <a:pPr algn="l">
              <a:spcBef>
                <a:spcPts val="0"/>
              </a:spcBef>
              <a:spcAft>
                <a:spcPts val="0"/>
              </a:spcAft>
            </a:pPr>
            <a:r>
              <a:rPr sz="1900" b="1" i="0">
                <a:solidFill>
                  <a:srgbClr val="1769E0"/>
                </a:solidFill>
                <a:latin typeface="Aptos"/>
              </a:rPr>
              <a:t>01</a:t>
            </a:r>
          </a:p>
        </p:txBody>
      </p:sp>
      <p:sp>
        <p:nvSpPr>
          <p:cNvPr id="19" name="TextBox 18"/>
          <p:cNvSpPr txBox="1"/>
          <p:nvPr/>
        </p:nvSpPr>
        <p:spPr>
          <a:xfrm>
            <a:off x="1417320" y="4325112"/>
            <a:ext cx="2688336" cy="320040"/>
          </a:xfrm>
          <a:prstGeom prst="rect">
            <a:avLst/>
          </a:prstGeom>
          <a:noFill/>
        </p:spPr>
        <p:txBody>
          <a:bodyPr wrap="square" lIns="9144" rIns="9144" tIns="0" bIns="0" anchor="ctr">
            <a:spAutoFit/>
          </a:bodyPr>
          <a:lstStyle/>
          <a:p>
            <a:pPr algn="l">
              <a:spcBef>
                <a:spcPts val="0"/>
              </a:spcBef>
              <a:spcAft>
                <a:spcPts val="0"/>
              </a:spcAft>
            </a:pPr>
            <a:r>
              <a:rPr sz="1500" b="1" i="0">
                <a:solidFill>
                  <a:srgbClr val="0B2A4A"/>
                </a:solidFill>
                <a:latin typeface="Aptos"/>
              </a:rPr>
              <a:t>Relevance-first selection</a:t>
            </a:r>
          </a:p>
        </p:txBody>
      </p:sp>
      <p:sp>
        <p:nvSpPr>
          <p:cNvPr id="20" name="TextBox 19"/>
          <p:cNvSpPr txBox="1"/>
          <p:nvPr/>
        </p:nvSpPr>
        <p:spPr>
          <a:xfrm>
            <a:off x="1014983" y="4782312"/>
            <a:ext cx="3072384" cy="822960"/>
          </a:xfrm>
          <a:prstGeom prst="rect">
            <a:avLst/>
          </a:prstGeom>
          <a:noFill/>
        </p:spPr>
        <p:txBody>
          <a:bodyPr wrap="square" lIns="9144" rIns="9144" tIns="0" bIns="0" anchor="t">
            <a:spAutoFit/>
          </a:bodyPr>
          <a:lstStyle/>
          <a:p>
            <a:pPr algn="l">
              <a:spcBef>
                <a:spcPts val="0"/>
              </a:spcBef>
              <a:spcAft>
                <a:spcPts val="0"/>
              </a:spcAft>
            </a:pPr>
            <a:r>
              <a:rPr sz="1320" b="0" i="0">
                <a:solidFill>
                  <a:srgbClr val="1D2B3A"/>
                </a:solidFill>
                <a:latin typeface="Aptos"/>
              </a:rPr>
              <a:t>Frozen Linear SVM gates relevance before deterministic scoring.</a:t>
            </a:r>
          </a:p>
        </p:txBody>
      </p:sp>
      <p:sp>
        <p:nvSpPr>
          <p:cNvPr id="21" name="Rounded Rectangle 20"/>
          <p:cNvSpPr/>
          <p:nvPr/>
        </p:nvSpPr>
        <p:spPr>
          <a:xfrm>
            <a:off x="4617720" y="4178808"/>
            <a:ext cx="3511296" cy="155448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91456" y="4334256"/>
            <a:ext cx="338328" cy="329184"/>
          </a:xfrm>
          <a:prstGeom prst="rect">
            <a:avLst/>
          </a:prstGeom>
          <a:noFill/>
        </p:spPr>
        <p:txBody>
          <a:bodyPr wrap="square" lIns="9144" rIns="9144" tIns="0" bIns="0" anchor="ctr">
            <a:spAutoFit/>
          </a:bodyPr>
          <a:lstStyle/>
          <a:p>
            <a:pPr algn="l">
              <a:spcBef>
                <a:spcPts val="0"/>
              </a:spcBef>
              <a:spcAft>
                <a:spcPts val="0"/>
              </a:spcAft>
            </a:pPr>
            <a:r>
              <a:rPr sz="1900" b="1" i="0">
                <a:solidFill>
                  <a:srgbClr val="1769E0"/>
                </a:solidFill>
                <a:latin typeface="Aptos"/>
              </a:rPr>
              <a:t>02</a:t>
            </a:r>
          </a:p>
        </p:txBody>
      </p:sp>
      <p:sp>
        <p:nvSpPr>
          <p:cNvPr id="23" name="TextBox 22"/>
          <p:cNvSpPr txBox="1"/>
          <p:nvPr/>
        </p:nvSpPr>
        <p:spPr>
          <a:xfrm>
            <a:off x="5239512" y="4325112"/>
            <a:ext cx="2688336" cy="320040"/>
          </a:xfrm>
          <a:prstGeom prst="rect">
            <a:avLst/>
          </a:prstGeom>
          <a:noFill/>
        </p:spPr>
        <p:txBody>
          <a:bodyPr wrap="square" lIns="9144" rIns="9144" tIns="0" bIns="0" anchor="ctr">
            <a:spAutoFit/>
          </a:bodyPr>
          <a:lstStyle/>
          <a:p>
            <a:pPr algn="l">
              <a:spcBef>
                <a:spcPts val="0"/>
              </a:spcBef>
              <a:spcAft>
                <a:spcPts val="0"/>
              </a:spcAft>
            </a:pPr>
            <a:r>
              <a:rPr sz="1500" b="1" i="0">
                <a:solidFill>
                  <a:srgbClr val="0B2A4A"/>
                </a:solidFill>
                <a:latin typeface="Aptos"/>
              </a:rPr>
              <a:t>Feasible trip schedules</a:t>
            </a:r>
          </a:p>
        </p:txBody>
      </p:sp>
      <p:sp>
        <p:nvSpPr>
          <p:cNvPr id="24" name="TextBox 23"/>
          <p:cNvSpPr txBox="1"/>
          <p:nvPr/>
        </p:nvSpPr>
        <p:spPr>
          <a:xfrm>
            <a:off x="4837176" y="4782312"/>
            <a:ext cx="3072384" cy="822960"/>
          </a:xfrm>
          <a:prstGeom prst="rect">
            <a:avLst/>
          </a:prstGeom>
          <a:noFill/>
        </p:spPr>
        <p:txBody>
          <a:bodyPr wrap="square" lIns="9144" rIns="9144" tIns="0" bIns="0" anchor="t">
            <a:spAutoFit/>
          </a:bodyPr>
          <a:lstStyle/>
          <a:p>
            <a:pPr algn="l">
              <a:spcBef>
                <a:spcPts val="0"/>
              </a:spcBef>
              <a:spcAft>
                <a:spcPts val="0"/>
              </a:spcAft>
            </a:pPr>
            <a:r>
              <a:rPr sz="1320" b="0" i="0">
                <a:solidFill>
                  <a:srgbClr val="1D2B3A"/>
                </a:solidFill>
                <a:latin typeface="Aptos"/>
              </a:rPr>
              <a:t>Time budget, road travel, breaks and user-supplied hours are considered.</a:t>
            </a:r>
          </a:p>
        </p:txBody>
      </p:sp>
      <p:sp>
        <p:nvSpPr>
          <p:cNvPr id="25" name="Rounded Rectangle 24"/>
          <p:cNvSpPr/>
          <p:nvPr/>
        </p:nvSpPr>
        <p:spPr>
          <a:xfrm>
            <a:off x="8439911" y="4178808"/>
            <a:ext cx="3511296" cy="155448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13647" y="4334256"/>
            <a:ext cx="338328" cy="329184"/>
          </a:xfrm>
          <a:prstGeom prst="rect">
            <a:avLst/>
          </a:prstGeom>
          <a:noFill/>
        </p:spPr>
        <p:txBody>
          <a:bodyPr wrap="square" lIns="9144" rIns="9144" tIns="0" bIns="0" anchor="ctr">
            <a:spAutoFit/>
          </a:bodyPr>
          <a:lstStyle/>
          <a:p>
            <a:pPr algn="l">
              <a:spcBef>
                <a:spcPts val="0"/>
              </a:spcBef>
              <a:spcAft>
                <a:spcPts val="0"/>
              </a:spcAft>
            </a:pPr>
            <a:r>
              <a:rPr sz="1900" b="1" i="0">
                <a:solidFill>
                  <a:srgbClr val="1769E0"/>
                </a:solidFill>
                <a:latin typeface="Aptos"/>
              </a:rPr>
              <a:t>03</a:t>
            </a:r>
          </a:p>
        </p:txBody>
      </p:sp>
      <p:sp>
        <p:nvSpPr>
          <p:cNvPr id="27" name="TextBox 26"/>
          <p:cNvSpPr txBox="1"/>
          <p:nvPr/>
        </p:nvSpPr>
        <p:spPr>
          <a:xfrm>
            <a:off x="9061703" y="4325112"/>
            <a:ext cx="2688336" cy="320040"/>
          </a:xfrm>
          <a:prstGeom prst="rect">
            <a:avLst/>
          </a:prstGeom>
          <a:noFill/>
        </p:spPr>
        <p:txBody>
          <a:bodyPr wrap="square" lIns="9144" rIns="9144" tIns="0" bIns="0" anchor="ctr">
            <a:spAutoFit/>
          </a:bodyPr>
          <a:lstStyle/>
          <a:p>
            <a:pPr algn="l">
              <a:spcBef>
                <a:spcPts val="0"/>
              </a:spcBef>
              <a:spcAft>
                <a:spcPts val="0"/>
              </a:spcAft>
            </a:pPr>
            <a:r>
              <a:rPr sz="1500" b="1" i="0">
                <a:solidFill>
                  <a:srgbClr val="0B2A4A"/>
                </a:solidFill>
                <a:latin typeface="Aptos"/>
              </a:rPr>
              <a:t>Plan regeneration</a:t>
            </a:r>
          </a:p>
        </p:txBody>
      </p:sp>
      <p:sp>
        <p:nvSpPr>
          <p:cNvPr id="28" name="TextBox 27"/>
          <p:cNvSpPr txBox="1"/>
          <p:nvPr/>
        </p:nvSpPr>
        <p:spPr>
          <a:xfrm>
            <a:off x="8659367" y="4782312"/>
            <a:ext cx="3072384" cy="822960"/>
          </a:xfrm>
          <a:prstGeom prst="rect">
            <a:avLst/>
          </a:prstGeom>
          <a:noFill/>
        </p:spPr>
        <p:txBody>
          <a:bodyPr wrap="square" lIns="9144" rIns="9144" tIns="0" bIns="0" anchor="t">
            <a:spAutoFit/>
          </a:bodyPr>
          <a:lstStyle/>
          <a:p>
            <a:pPr algn="l">
              <a:spcBef>
                <a:spcPts val="0"/>
              </a:spcBef>
              <a:spcAft>
                <a:spcPts val="0"/>
              </a:spcAft>
            </a:pPr>
            <a:r>
              <a:rPr sz="1320" b="0" i="0">
                <a:solidFill>
                  <a:srgbClr val="1D2B3A"/>
                </a:solidFill>
                <a:latin typeface="Aptos"/>
              </a:rPr>
              <a:t>Retained stops can be preserved while alternatives are scheduled.</a:t>
            </a:r>
          </a:p>
        </p:txBody>
      </p:sp>
      <p:sp>
        <p:nvSpPr>
          <p:cNvPr id="29" name="TextBox 28"/>
          <p:cNvSpPr txBox="1"/>
          <p:nvPr/>
        </p:nvSpPr>
        <p:spPr>
          <a:xfrm>
            <a:off x="832104" y="6053328"/>
            <a:ext cx="10789920" cy="256032"/>
          </a:xfrm>
          <a:prstGeom prst="rect">
            <a:avLst/>
          </a:prstGeom>
          <a:noFill/>
        </p:spPr>
        <p:txBody>
          <a:bodyPr wrap="square" lIns="9144" rIns="9144" tIns="0" bIns="0" anchor="ctr">
            <a:spAutoFit/>
          </a:bodyPr>
          <a:lstStyle/>
          <a:p>
            <a:pPr algn="l">
              <a:spcBef>
                <a:spcPts val="0"/>
              </a:spcBef>
              <a:spcAft>
                <a:spcPts val="0"/>
              </a:spcAft>
            </a:pPr>
            <a:r>
              <a:rPr sz="1120" b="0" i="0">
                <a:solidFill>
                  <a:srgbClr val="60738A"/>
                </a:solidFill>
                <a:latin typeface="Aptos"/>
              </a:rPr>
              <a:t>CORE APPROACH  ·  Linear SVM  ·  semantic similarity  ·  Genetic Algorithm  ·  OSRM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C3 · Itinerary Optimization &amp; Validation</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12</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078992"/>
            <a:ext cx="10881360" cy="292608"/>
          </a:xfrm>
          <a:prstGeom prst="rect">
            <a:avLst/>
          </a:prstGeom>
          <a:noFill/>
        </p:spPr>
        <p:txBody>
          <a:bodyPr wrap="square" lIns="9144" rIns="9144" tIns="0" bIns="0" anchor="ctr">
            <a:spAutoFit/>
          </a:bodyPr>
          <a:lstStyle/>
          <a:p>
            <a:pPr algn="l">
              <a:spcBef>
                <a:spcPts val="0"/>
              </a:spcBef>
              <a:spcAft>
                <a:spcPts val="0"/>
              </a:spcAft>
            </a:pPr>
            <a:r>
              <a:rPr sz="1230" b="0" i="0">
                <a:solidFill>
                  <a:srgbClr val="60738A"/>
                </a:solidFill>
                <a:latin typeface="Aptos"/>
              </a:rPr>
              <a:t>Active POI catalogue and bounded relevance evaluation</a:t>
            </a:r>
          </a:p>
        </p:txBody>
      </p:sp>
      <p:sp>
        <p:nvSpPr>
          <p:cNvPr id="7" name="TextBox 6"/>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8" name="Rounded Rectangle 7"/>
          <p:cNvSpPr/>
          <p:nvPr/>
        </p:nvSpPr>
        <p:spPr>
          <a:xfrm>
            <a:off x="749808" y="1481328"/>
            <a:ext cx="2633472" cy="795528"/>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1673352"/>
            <a:ext cx="402336" cy="256032"/>
          </a:xfrm>
          <a:prstGeom prst="rect">
            <a:avLst/>
          </a:prstGeom>
          <a:noFill/>
        </p:spPr>
        <p:txBody>
          <a:bodyPr wrap="square" lIns="9144" rIns="9144" tIns="0" bIns="0" anchor="ctr">
            <a:spAutoFit/>
          </a:bodyPr>
          <a:lstStyle/>
          <a:p>
            <a:pPr algn="l">
              <a:spcBef>
                <a:spcPts val="0"/>
              </a:spcBef>
              <a:spcAft>
                <a:spcPts val="0"/>
              </a:spcAft>
            </a:pPr>
            <a:r>
              <a:rPr sz="1600" b="1" i="0">
                <a:solidFill>
                  <a:srgbClr val="1769E0"/>
                </a:solidFill>
                <a:latin typeface="Aptos"/>
              </a:rPr>
              <a:t>01</a:t>
            </a:r>
          </a:p>
        </p:txBody>
      </p:sp>
      <p:sp>
        <p:nvSpPr>
          <p:cNvPr id="10" name="TextBox 9"/>
          <p:cNvSpPr txBox="1"/>
          <p:nvPr/>
        </p:nvSpPr>
        <p:spPr>
          <a:xfrm>
            <a:off x="1280160" y="1627632"/>
            <a:ext cx="1975104" cy="384048"/>
          </a:xfrm>
          <a:prstGeom prst="rect">
            <a:avLst/>
          </a:prstGeom>
          <a:noFill/>
        </p:spPr>
        <p:txBody>
          <a:bodyPr wrap="square" lIns="9144" rIns="9144" tIns="0" bIns="0" anchor="ctr">
            <a:spAutoFit/>
          </a:bodyPr>
          <a:lstStyle/>
          <a:p>
            <a:pPr algn="l">
              <a:spcBef>
                <a:spcPts val="0"/>
              </a:spcBef>
              <a:spcAft>
                <a:spcPts val="0"/>
              </a:spcAft>
            </a:pPr>
            <a:r>
              <a:rPr sz="1470" b="1" i="0">
                <a:solidFill>
                  <a:srgbClr val="0B2A4A"/>
                </a:solidFill>
                <a:latin typeface="Aptos"/>
              </a:rPr>
              <a:t>Preferences / POIs</a:t>
            </a:r>
          </a:p>
        </p:txBody>
      </p:sp>
      <p:sp>
        <p:nvSpPr>
          <p:cNvPr id="11" name="TextBox 10"/>
          <p:cNvSpPr txBox="1"/>
          <p:nvPr/>
        </p:nvSpPr>
        <p:spPr>
          <a:xfrm>
            <a:off x="3410712" y="1682496"/>
            <a:ext cx="210312" cy="292608"/>
          </a:xfrm>
          <a:prstGeom prst="rect">
            <a:avLst/>
          </a:prstGeom>
          <a:noFill/>
        </p:spPr>
        <p:txBody>
          <a:bodyPr wrap="square" lIns="9144" rIns="9144" tIns="0" bIns="0" anchor="ctr">
            <a:spAutoFit/>
          </a:bodyPr>
          <a:lstStyle/>
          <a:p>
            <a:pPr algn="ctr">
              <a:spcBef>
                <a:spcPts val="0"/>
              </a:spcBef>
              <a:spcAft>
                <a:spcPts val="0"/>
              </a:spcAft>
            </a:pPr>
            <a:r>
              <a:rPr sz="2500" b="1" i="0">
                <a:solidFill>
                  <a:srgbClr val="1769E0"/>
                </a:solidFill>
                <a:latin typeface="Aptos"/>
              </a:rPr>
              <a:t>›</a:t>
            </a:r>
          </a:p>
        </p:txBody>
      </p:sp>
      <p:sp>
        <p:nvSpPr>
          <p:cNvPr id="12" name="Rounded Rectangle 11"/>
          <p:cNvSpPr/>
          <p:nvPr/>
        </p:nvSpPr>
        <p:spPr>
          <a:xfrm>
            <a:off x="3630168" y="1481328"/>
            <a:ext cx="2633472" cy="795528"/>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21607" y="1673352"/>
            <a:ext cx="402336" cy="256032"/>
          </a:xfrm>
          <a:prstGeom prst="rect">
            <a:avLst/>
          </a:prstGeom>
          <a:noFill/>
        </p:spPr>
        <p:txBody>
          <a:bodyPr wrap="square" lIns="9144" rIns="9144" tIns="0" bIns="0" anchor="ctr">
            <a:spAutoFit/>
          </a:bodyPr>
          <a:lstStyle/>
          <a:p>
            <a:pPr algn="l">
              <a:spcBef>
                <a:spcPts val="0"/>
              </a:spcBef>
              <a:spcAft>
                <a:spcPts val="0"/>
              </a:spcAft>
            </a:pPr>
            <a:r>
              <a:rPr sz="1600" b="1" i="0">
                <a:solidFill>
                  <a:srgbClr val="1769E0"/>
                </a:solidFill>
                <a:latin typeface="Aptos"/>
              </a:rPr>
              <a:t>02</a:t>
            </a:r>
          </a:p>
        </p:txBody>
      </p:sp>
      <p:sp>
        <p:nvSpPr>
          <p:cNvPr id="14" name="TextBox 13"/>
          <p:cNvSpPr txBox="1"/>
          <p:nvPr/>
        </p:nvSpPr>
        <p:spPr>
          <a:xfrm>
            <a:off x="4160520" y="1627632"/>
            <a:ext cx="1975104" cy="384048"/>
          </a:xfrm>
          <a:prstGeom prst="rect">
            <a:avLst/>
          </a:prstGeom>
          <a:noFill/>
        </p:spPr>
        <p:txBody>
          <a:bodyPr wrap="square" lIns="9144" rIns="9144" tIns="0" bIns="0" anchor="ctr">
            <a:spAutoFit/>
          </a:bodyPr>
          <a:lstStyle/>
          <a:p>
            <a:pPr algn="l">
              <a:spcBef>
                <a:spcPts val="0"/>
              </a:spcBef>
              <a:spcAft>
                <a:spcPts val="0"/>
              </a:spcAft>
            </a:pPr>
            <a:r>
              <a:rPr sz="1470" b="1" i="0">
                <a:solidFill>
                  <a:srgbClr val="0B2A4A"/>
                </a:solidFill>
                <a:latin typeface="Aptos"/>
              </a:rPr>
              <a:t>SVM relevance gate</a:t>
            </a:r>
          </a:p>
        </p:txBody>
      </p:sp>
      <p:sp>
        <p:nvSpPr>
          <p:cNvPr id="15" name="TextBox 14"/>
          <p:cNvSpPr txBox="1"/>
          <p:nvPr/>
        </p:nvSpPr>
        <p:spPr>
          <a:xfrm>
            <a:off x="6291072" y="1682496"/>
            <a:ext cx="210312" cy="292608"/>
          </a:xfrm>
          <a:prstGeom prst="rect">
            <a:avLst/>
          </a:prstGeom>
          <a:noFill/>
        </p:spPr>
        <p:txBody>
          <a:bodyPr wrap="square" lIns="9144" rIns="9144" tIns="0" bIns="0" anchor="ctr">
            <a:spAutoFit/>
          </a:bodyPr>
          <a:lstStyle/>
          <a:p>
            <a:pPr algn="ctr">
              <a:spcBef>
                <a:spcPts val="0"/>
              </a:spcBef>
              <a:spcAft>
                <a:spcPts val="0"/>
              </a:spcAft>
            </a:pPr>
            <a:r>
              <a:rPr sz="2500" b="1" i="0">
                <a:solidFill>
                  <a:srgbClr val="1769E0"/>
                </a:solidFill>
                <a:latin typeface="Aptos"/>
              </a:rPr>
              <a:t>›</a:t>
            </a:r>
          </a:p>
        </p:txBody>
      </p:sp>
      <p:sp>
        <p:nvSpPr>
          <p:cNvPr id="16" name="Rounded Rectangle 15"/>
          <p:cNvSpPr/>
          <p:nvPr/>
        </p:nvSpPr>
        <p:spPr>
          <a:xfrm>
            <a:off x="6510528" y="1481328"/>
            <a:ext cx="2633472" cy="795528"/>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1968" y="1673352"/>
            <a:ext cx="402336" cy="256032"/>
          </a:xfrm>
          <a:prstGeom prst="rect">
            <a:avLst/>
          </a:prstGeom>
          <a:noFill/>
        </p:spPr>
        <p:txBody>
          <a:bodyPr wrap="square" lIns="9144" rIns="9144" tIns="0" bIns="0" anchor="ctr">
            <a:spAutoFit/>
          </a:bodyPr>
          <a:lstStyle/>
          <a:p>
            <a:pPr algn="l">
              <a:spcBef>
                <a:spcPts val="0"/>
              </a:spcBef>
              <a:spcAft>
                <a:spcPts val="0"/>
              </a:spcAft>
            </a:pPr>
            <a:r>
              <a:rPr sz="1600" b="1" i="0">
                <a:solidFill>
                  <a:srgbClr val="1769E0"/>
                </a:solidFill>
                <a:latin typeface="Aptos"/>
              </a:rPr>
              <a:t>03</a:t>
            </a:r>
          </a:p>
        </p:txBody>
      </p:sp>
      <p:sp>
        <p:nvSpPr>
          <p:cNvPr id="18" name="TextBox 17"/>
          <p:cNvSpPr txBox="1"/>
          <p:nvPr/>
        </p:nvSpPr>
        <p:spPr>
          <a:xfrm>
            <a:off x="7040880" y="1627632"/>
            <a:ext cx="1975104" cy="384048"/>
          </a:xfrm>
          <a:prstGeom prst="rect">
            <a:avLst/>
          </a:prstGeom>
          <a:noFill/>
        </p:spPr>
        <p:txBody>
          <a:bodyPr wrap="square" lIns="9144" rIns="9144" tIns="0" bIns="0" anchor="ctr">
            <a:spAutoFit/>
          </a:bodyPr>
          <a:lstStyle/>
          <a:p>
            <a:pPr algn="l">
              <a:spcBef>
                <a:spcPts val="0"/>
              </a:spcBef>
              <a:spcAft>
                <a:spcPts val="0"/>
              </a:spcAft>
            </a:pPr>
            <a:r>
              <a:rPr sz="1470" b="1" i="0">
                <a:solidFill>
                  <a:srgbClr val="0B2A4A"/>
                </a:solidFill>
                <a:latin typeface="Aptos"/>
              </a:rPr>
              <a:t>GA stop selection</a:t>
            </a:r>
          </a:p>
        </p:txBody>
      </p:sp>
      <p:sp>
        <p:nvSpPr>
          <p:cNvPr id="19" name="TextBox 18"/>
          <p:cNvSpPr txBox="1"/>
          <p:nvPr/>
        </p:nvSpPr>
        <p:spPr>
          <a:xfrm>
            <a:off x="9171432" y="1682496"/>
            <a:ext cx="210312" cy="292608"/>
          </a:xfrm>
          <a:prstGeom prst="rect">
            <a:avLst/>
          </a:prstGeom>
          <a:noFill/>
        </p:spPr>
        <p:txBody>
          <a:bodyPr wrap="square" lIns="9144" rIns="9144" tIns="0" bIns="0" anchor="ctr">
            <a:spAutoFit/>
          </a:bodyPr>
          <a:lstStyle/>
          <a:p>
            <a:pPr algn="ctr">
              <a:spcBef>
                <a:spcPts val="0"/>
              </a:spcBef>
              <a:spcAft>
                <a:spcPts val="0"/>
              </a:spcAft>
            </a:pPr>
            <a:r>
              <a:rPr sz="2500" b="1" i="0">
                <a:solidFill>
                  <a:srgbClr val="1769E0"/>
                </a:solidFill>
                <a:latin typeface="Aptos"/>
              </a:rPr>
              <a:t>›</a:t>
            </a:r>
          </a:p>
        </p:txBody>
      </p:sp>
      <p:sp>
        <p:nvSpPr>
          <p:cNvPr id="20" name="Rounded Rectangle 19"/>
          <p:cNvSpPr/>
          <p:nvPr/>
        </p:nvSpPr>
        <p:spPr>
          <a:xfrm>
            <a:off x="9390888" y="1481328"/>
            <a:ext cx="2633472" cy="795528"/>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82328" y="1673352"/>
            <a:ext cx="402336" cy="256032"/>
          </a:xfrm>
          <a:prstGeom prst="rect">
            <a:avLst/>
          </a:prstGeom>
          <a:noFill/>
        </p:spPr>
        <p:txBody>
          <a:bodyPr wrap="square" lIns="9144" rIns="9144" tIns="0" bIns="0" anchor="ctr">
            <a:spAutoFit/>
          </a:bodyPr>
          <a:lstStyle/>
          <a:p>
            <a:pPr algn="l">
              <a:spcBef>
                <a:spcPts val="0"/>
              </a:spcBef>
              <a:spcAft>
                <a:spcPts val="0"/>
              </a:spcAft>
            </a:pPr>
            <a:r>
              <a:rPr sz="1600" b="1" i="0">
                <a:solidFill>
                  <a:srgbClr val="1769E0"/>
                </a:solidFill>
                <a:latin typeface="Aptos"/>
              </a:rPr>
              <a:t>04</a:t>
            </a:r>
          </a:p>
        </p:txBody>
      </p:sp>
      <p:sp>
        <p:nvSpPr>
          <p:cNvPr id="22" name="TextBox 21"/>
          <p:cNvSpPr txBox="1"/>
          <p:nvPr/>
        </p:nvSpPr>
        <p:spPr>
          <a:xfrm>
            <a:off x="9921240" y="1627632"/>
            <a:ext cx="1975104" cy="384048"/>
          </a:xfrm>
          <a:prstGeom prst="rect">
            <a:avLst/>
          </a:prstGeom>
          <a:noFill/>
        </p:spPr>
        <p:txBody>
          <a:bodyPr wrap="square" lIns="9144" rIns="9144" tIns="0" bIns="0" anchor="ctr">
            <a:spAutoFit/>
          </a:bodyPr>
          <a:lstStyle/>
          <a:p>
            <a:pPr algn="l">
              <a:spcBef>
                <a:spcPts val="0"/>
              </a:spcBef>
              <a:spcAft>
                <a:spcPts val="0"/>
              </a:spcAft>
            </a:pPr>
            <a:r>
              <a:rPr sz="1470" b="1" i="0">
                <a:solidFill>
                  <a:srgbClr val="0B2A4A"/>
                </a:solidFill>
                <a:latin typeface="Aptos"/>
              </a:rPr>
              <a:t>OSRM scheduling</a:t>
            </a:r>
          </a:p>
        </p:txBody>
      </p:sp>
      <p:sp>
        <p:nvSpPr>
          <p:cNvPr id="23" name="Rounded Rectangle 22"/>
          <p:cNvSpPr/>
          <p:nvPr/>
        </p:nvSpPr>
        <p:spPr>
          <a:xfrm>
            <a:off x="758952" y="2752344"/>
            <a:ext cx="3374136" cy="1325880"/>
          </a:xfrm>
          <a:prstGeom prst="roundRect">
            <a:avLst>
              <a:gd name="adj" fmla="val 12000"/>
            </a:avLst>
          </a:prstGeom>
          <a:solidFill>
            <a:srgbClr val="EDF5FF"/>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2871215"/>
            <a:ext cx="3154680" cy="539496"/>
          </a:xfrm>
          <a:prstGeom prst="rect">
            <a:avLst/>
          </a:prstGeom>
          <a:noFill/>
        </p:spPr>
        <p:txBody>
          <a:bodyPr wrap="square" lIns="9144" rIns="9144" tIns="0" bIns="0" anchor="ctr">
            <a:spAutoFit/>
          </a:bodyPr>
          <a:lstStyle/>
          <a:p>
            <a:pPr algn="ctr">
              <a:spcBef>
                <a:spcPts val="0"/>
              </a:spcBef>
              <a:spcAft>
                <a:spcPts val="0"/>
              </a:spcAft>
            </a:pPr>
            <a:r>
              <a:rPr sz="3700" b="1" i="0">
                <a:solidFill>
                  <a:srgbClr val="1769E0"/>
                </a:solidFill>
                <a:latin typeface="Aptos Display"/>
              </a:rPr>
              <a:t>158</a:t>
            </a:r>
          </a:p>
        </p:txBody>
      </p:sp>
      <p:sp>
        <p:nvSpPr>
          <p:cNvPr id="25" name="TextBox 24"/>
          <p:cNvSpPr txBox="1"/>
          <p:nvPr/>
        </p:nvSpPr>
        <p:spPr>
          <a:xfrm>
            <a:off x="868680" y="3502151"/>
            <a:ext cx="3154680" cy="256032"/>
          </a:xfrm>
          <a:prstGeom prst="rect">
            <a:avLst/>
          </a:prstGeom>
          <a:noFill/>
        </p:spPr>
        <p:txBody>
          <a:bodyPr wrap="square" lIns="9144" rIns="9144" tIns="0" bIns="0" anchor="ctr">
            <a:spAutoFit/>
          </a:bodyPr>
          <a:lstStyle/>
          <a:p>
            <a:pPr algn="ctr">
              <a:spcBef>
                <a:spcPts val="0"/>
              </a:spcBef>
              <a:spcAft>
                <a:spcPts val="0"/>
              </a:spcAft>
            </a:pPr>
            <a:r>
              <a:rPr sz="1330" b="1" i="0">
                <a:solidFill>
                  <a:srgbClr val="0B2A4A"/>
                </a:solidFill>
                <a:latin typeface="Aptos"/>
              </a:rPr>
              <a:t>Active verified POIs</a:t>
            </a:r>
          </a:p>
        </p:txBody>
      </p:sp>
      <p:sp>
        <p:nvSpPr>
          <p:cNvPr id="26" name="TextBox 25"/>
          <p:cNvSpPr txBox="1"/>
          <p:nvPr/>
        </p:nvSpPr>
        <p:spPr>
          <a:xfrm>
            <a:off x="859536" y="3803904"/>
            <a:ext cx="3172968" cy="164592"/>
          </a:xfrm>
          <a:prstGeom prst="rect">
            <a:avLst/>
          </a:prstGeom>
          <a:noFill/>
        </p:spPr>
        <p:txBody>
          <a:bodyPr wrap="square" lIns="9144" rIns="9144" tIns="0" bIns="0" anchor="ctr">
            <a:spAutoFit/>
          </a:bodyPr>
          <a:lstStyle/>
          <a:p>
            <a:pPr algn="ctr">
              <a:spcBef>
                <a:spcPts val="0"/>
              </a:spcBef>
              <a:spcAft>
                <a:spcPts val="0"/>
              </a:spcAft>
            </a:pPr>
            <a:r>
              <a:rPr sz="950" b="0" i="0">
                <a:solidFill>
                  <a:srgbClr val="60738A"/>
                </a:solidFill>
                <a:latin typeface="Aptos"/>
              </a:rPr>
              <a:t>60 Kandy · 53 Matale · 45 Nuwara Eliya</a:t>
            </a:r>
          </a:p>
        </p:txBody>
      </p:sp>
      <p:sp>
        <p:nvSpPr>
          <p:cNvPr id="27" name="Rounded Rectangle 26"/>
          <p:cNvSpPr/>
          <p:nvPr/>
        </p:nvSpPr>
        <p:spPr>
          <a:xfrm>
            <a:off x="4416552" y="2752344"/>
            <a:ext cx="3374136" cy="1325880"/>
          </a:xfrm>
          <a:prstGeom prst="roundRect">
            <a:avLst>
              <a:gd name="adj" fmla="val 12000"/>
            </a:avLst>
          </a:prstGeom>
          <a:solidFill>
            <a:srgbClr val="EDF5FF"/>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26280" y="2871215"/>
            <a:ext cx="3154680" cy="539496"/>
          </a:xfrm>
          <a:prstGeom prst="rect">
            <a:avLst/>
          </a:prstGeom>
          <a:noFill/>
        </p:spPr>
        <p:txBody>
          <a:bodyPr wrap="square" lIns="9144" rIns="9144" tIns="0" bIns="0" anchor="ctr">
            <a:spAutoFit/>
          </a:bodyPr>
          <a:lstStyle/>
          <a:p>
            <a:pPr algn="ctr">
              <a:spcBef>
                <a:spcPts val="0"/>
              </a:spcBef>
              <a:spcAft>
                <a:spcPts val="0"/>
              </a:spcAft>
            </a:pPr>
            <a:r>
              <a:rPr sz="3500" b="1" i="0">
                <a:solidFill>
                  <a:srgbClr val="1769E0"/>
                </a:solidFill>
                <a:latin typeface="Aptos Display"/>
              </a:rPr>
              <a:t>68.33%</a:t>
            </a:r>
          </a:p>
        </p:txBody>
      </p:sp>
      <p:sp>
        <p:nvSpPr>
          <p:cNvPr id="29" name="TextBox 28"/>
          <p:cNvSpPr txBox="1"/>
          <p:nvPr/>
        </p:nvSpPr>
        <p:spPr>
          <a:xfrm>
            <a:off x="4526280" y="3502151"/>
            <a:ext cx="3154680" cy="256032"/>
          </a:xfrm>
          <a:prstGeom prst="rect">
            <a:avLst/>
          </a:prstGeom>
          <a:noFill/>
        </p:spPr>
        <p:txBody>
          <a:bodyPr wrap="square" lIns="9144" rIns="9144" tIns="0" bIns="0" anchor="ctr">
            <a:spAutoFit/>
          </a:bodyPr>
          <a:lstStyle/>
          <a:p>
            <a:pPr algn="ctr">
              <a:spcBef>
                <a:spcPts val="0"/>
              </a:spcBef>
              <a:spcAft>
                <a:spcPts val="0"/>
              </a:spcAft>
            </a:pPr>
            <a:r>
              <a:rPr sz="1330" b="1" i="0">
                <a:solidFill>
                  <a:srgbClr val="0B2A4A"/>
                </a:solidFill>
                <a:latin typeface="Aptos"/>
              </a:rPr>
              <a:t>Relevance accuracy</a:t>
            </a:r>
          </a:p>
        </p:txBody>
      </p:sp>
      <p:sp>
        <p:nvSpPr>
          <p:cNvPr id="30" name="TextBox 29"/>
          <p:cNvSpPr txBox="1"/>
          <p:nvPr/>
        </p:nvSpPr>
        <p:spPr>
          <a:xfrm>
            <a:off x="4517136" y="3803904"/>
            <a:ext cx="3172968" cy="164592"/>
          </a:xfrm>
          <a:prstGeom prst="rect">
            <a:avLst/>
          </a:prstGeom>
          <a:noFill/>
        </p:spPr>
        <p:txBody>
          <a:bodyPr wrap="square" lIns="9144" rIns="9144" tIns="0" bIns="0" anchor="ctr">
            <a:spAutoFit/>
          </a:bodyPr>
          <a:lstStyle/>
          <a:p>
            <a:pPr algn="ctr">
              <a:spcBef>
                <a:spcPts val="0"/>
              </a:spcBef>
              <a:spcAft>
                <a:spcPts val="0"/>
              </a:spcAft>
            </a:pPr>
            <a:r>
              <a:rPr sz="950" b="0" i="0">
                <a:solidFill>
                  <a:srgbClr val="60738A"/>
                </a:solidFill>
                <a:latin typeface="Aptos"/>
              </a:rPr>
              <a:t>60 reviewed pairs / limited holdout</a:t>
            </a:r>
          </a:p>
        </p:txBody>
      </p:sp>
      <p:sp>
        <p:nvSpPr>
          <p:cNvPr id="31" name="Rounded Rectangle 30"/>
          <p:cNvSpPr/>
          <p:nvPr/>
        </p:nvSpPr>
        <p:spPr>
          <a:xfrm>
            <a:off x="8074152" y="2752344"/>
            <a:ext cx="3374136" cy="1325880"/>
          </a:xfrm>
          <a:prstGeom prst="roundRect">
            <a:avLst>
              <a:gd name="adj" fmla="val 12000"/>
            </a:avLst>
          </a:prstGeom>
          <a:solidFill>
            <a:srgbClr val="EDF5FF"/>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83879" y="2871215"/>
            <a:ext cx="3154680" cy="539496"/>
          </a:xfrm>
          <a:prstGeom prst="rect">
            <a:avLst/>
          </a:prstGeom>
          <a:noFill/>
        </p:spPr>
        <p:txBody>
          <a:bodyPr wrap="square" lIns="9144" rIns="9144" tIns="0" bIns="0" anchor="ctr">
            <a:spAutoFit/>
          </a:bodyPr>
          <a:lstStyle/>
          <a:p>
            <a:pPr algn="ctr">
              <a:spcBef>
                <a:spcPts val="0"/>
              </a:spcBef>
              <a:spcAft>
                <a:spcPts val="0"/>
              </a:spcAft>
            </a:pPr>
            <a:r>
              <a:rPr sz="3400" b="1" i="0">
                <a:solidFill>
                  <a:srgbClr val="1769E0"/>
                </a:solidFill>
                <a:latin typeface="Aptos Display"/>
              </a:rPr>
              <a:t>0.5196</a:t>
            </a:r>
          </a:p>
        </p:txBody>
      </p:sp>
      <p:sp>
        <p:nvSpPr>
          <p:cNvPr id="33" name="TextBox 32"/>
          <p:cNvSpPr txBox="1"/>
          <p:nvPr/>
        </p:nvSpPr>
        <p:spPr>
          <a:xfrm>
            <a:off x="8183879" y="3502151"/>
            <a:ext cx="3154680" cy="256032"/>
          </a:xfrm>
          <a:prstGeom prst="rect">
            <a:avLst/>
          </a:prstGeom>
          <a:noFill/>
        </p:spPr>
        <p:txBody>
          <a:bodyPr wrap="square" lIns="9144" rIns="9144" tIns="0" bIns="0" anchor="ctr">
            <a:spAutoFit/>
          </a:bodyPr>
          <a:lstStyle/>
          <a:p>
            <a:pPr algn="ctr">
              <a:spcBef>
                <a:spcPts val="0"/>
              </a:spcBef>
              <a:spcAft>
                <a:spcPts val="0"/>
              </a:spcAft>
            </a:pPr>
            <a:r>
              <a:rPr sz="1330" b="1" i="0">
                <a:solidFill>
                  <a:srgbClr val="0B2A4A"/>
                </a:solidFill>
                <a:latin typeface="Aptos"/>
              </a:rPr>
              <a:t>Relevance macro-F1</a:t>
            </a:r>
          </a:p>
        </p:txBody>
      </p:sp>
      <p:sp>
        <p:nvSpPr>
          <p:cNvPr id="34" name="TextBox 33"/>
          <p:cNvSpPr txBox="1"/>
          <p:nvPr/>
        </p:nvSpPr>
        <p:spPr>
          <a:xfrm>
            <a:off x="8174736" y="3803904"/>
            <a:ext cx="3172968" cy="164592"/>
          </a:xfrm>
          <a:prstGeom prst="rect">
            <a:avLst/>
          </a:prstGeom>
          <a:noFill/>
        </p:spPr>
        <p:txBody>
          <a:bodyPr wrap="square" lIns="9144" rIns="9144" tIns="0" bIns="0" anchor="ctr">
            <a:spAutoFit/>
          </a:bodyPr>
          <a:lstStyle/>
          <a:p>
            <a:pPr algn="ctr">
              <a:spcBef>
                <a:spcPts val="0"/>
              </a:spcBef>
              <a:spcAft>
                <a:spcPts val="0"/>
              </a:spcAft>
            </a:pPr>
            <a:r>
              <a:rPr sz="950" b="0" i="0">
                <a:solidFill>
                  <a:srgbClr val="60738A"/>
                </a:solidFill>
                <a:latin typeface="Aptos"/>
              </a:rPr>
              <a:t>bounded v1 evaluation</a:t>
            </a:r>
          </a:p>
        </p:txBody>
      </p:sp>
      <p:sp>
        <p:nvSpPr>
          <p:cNvPr id="35" name="TextBox 34"/>
          <p:cNvSpPr txBox="1"/>
          <p:nvPr/>
        </p:nvSpPr>
        <p:spPr>
          <a:xfrm>
            <a:off x="841248" y="4572000"/>
            <a:ext cx="3474720" cy="274320"/>
          </a:xfrm>
          <a:prstGeom prst="rect">
            <a:avLst/>
          </a:prstGeom>
          <a:noFill/>
        </p:spPr>
        <p:txBody>
          <a:bodyPr wrap="square" lIns="9144" rIns="9144" tIns="0" bIns="0" anchor="ctr">
            <a:spAutoFit/>
          </a:bodyPr>
          <a:lstStyle/>
          <a:p>
            <a:pPr algn="l">
              <a:spcBef>
                <a:spcPts val="0"/>
              </a:spcBef>
              <a:spcAft>
                <a:spcPts val="0"/>
              </a:spcAft>
            </a:pPr>
            <a:r>
              <a:rPr sz="1250" b="1" i="0">
                <a:solidFill>
                  <a:srgbClr val="1769E0"/>
                </a:solidFill>
                <a:latin typeface="Aptos"/>
              </a:rPr>
              <a:t>RESEARCH APPROACH</a:t>
            </a:r>
          </a:p>
        </p:txBody>
      </p:sp>
      <p:cxnSp>
        <p:nvCxnSpPr>
          <p:cNvPr id="36" name="Connector 35"/>
          <p:cNvCxnSpPr/>
          <p:nvPr/>
        </p:nvCxnSpPr>
        <p:spPr>
          <a:xfrm>
            <a:off x="841248" y="4892040"/>
            <a:ext cx="2651760" cy="0"/>
          </a:xfrm>
          <a:prstGeom prst="line">
            <a:avLst/>
          </a:prstGeom>
          <a:ln w="19050">
            <a:solidFill>
              <a:srgbClr val="1769E0"/>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23544" y="5084064"/>
            <a:ext cx="73152" cy="73152"/>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24712" y="4974336"/>
            <a:ext cx="10131552" cy="411480"/>
          </a:xfrm>
          <a:prstGeom prst="rect">
            <a:avLst/>
          </a:prstGeom>
          <a:noFill/>
        </p:spPr>
        <p:txBody>
          <a:bodyPr wrap="square" lIns="9144" rIns="9144" tIns="0" bIns="0" anchor="t">
            <a:spAutoFit/>
          </a:bodyPr>
          <a:lstStyle/>
          <a:p>
            <a:pPr algn="l">
              <a:spcBef>
                <a:spcPts val="0"/>
              </a:spcBef>
              <a:spcAft>
                <a:spcPts val="0"/>
              </a:spcAft>
            </a:pPr>
            <a:r>
              <a:rPr sz="1400" b="0" i="0">
                <a:solidFill>
                  <a:srgbClr val="1D2B3A"/>
                </a:solidFill>
                <a:latin typeface="Aptos"/>
              </a:rPr>
              <a:t>70% proximity + 30% semantic similarity in the deterministic ranking stage</a:t>
            </a:r>
          </a:p>
        </p:txBody>
      </p:sp>
      <p:sp>
        <p:nvSpPr>
          <p:cNvPr id="39" name="Rounded Rectangle 38"/>
          <p:cNvSpPr/>
          <p:nvPr/>
        </p:nvSpPr>
        <p:spPr>
          <a:xfrm>
            <a:off x="923544" y="5541264"/>
            <a:ext cx="73152" cy="73152"/>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712" y="5431536"/>
            <a:ext cx="10131552" cy="411480"/>
          </a:xfrm>
          <a:prstGeom prst="rect">
            <a:avLst/>
          </a:prstGeom>
          <a:noFill/>
        </p:spPr>
        <p:txBody>
          <a:bodyPr wrap="square" lIns="9144" rIns="9144" tIns="0" bIns="0" anchor="t">
            <a:spAutoFit/>
          </a:bodyPr>
          <a:lstStyle/>
          <a:p>
            <a:pPr algn="l">
              <a:spcBef>
                <a:spcPts val="0"/>
              </a:spcBef>
              <a:spcAft>
                <a:spcPts val="0"/>
              </a:spcAft>
            </a:pPr>
            <a:r>
              <a:rPr sz="1400" b="0" i="0">
                <a:solidFill>
                  <a:srgbClr val="1D2B3A"/>
                </a:solidFill>
                <a:latin typeface="Aptos"/>
              </a:rPr>
              <a:t>Route optimization has no guaranteed global optimum; time and visit duration are estimates</a:t>
            </a:r>
          </a:p>
        </p:txBody>
      </p:sp>
      <p:sp>
        <p:nvSpPr>
          <p:cNvPr id="41" name="TextBox 40"/>
          <p:cNvSpPr txBox="1"/>
          <p:nvPr/>
        </p:nvSpPr>
        <p:spPr>
          <a:xfrm>
            <a:off x="841248" y="5998464"/>
            <a:ext cx="10424160" cy="274320"/>
          </a:xfrm>
          <a:prstGeom prst="rect">
            <a:avLst/>
          </a:prstGeom>
          <a:noFill/>
        </p:spPr>
        <p:txBody>
          <a:bodyPr wrap="square" lIns="9144" rIns="9144" tIns="0" bIns="0" anchor="ctr">
            <a:spAutoFit/>
          </a:bodyPr>
          <a:lstStyle/>
          <a:p>
            <a:pPr algn="l">
              <a:spcBef>
                <a:spcPts val="0"/>
              </a:spcBef>
              <a:spcAft>
                <a:spcPts val="0"/>
              </a:spcAft>
            </a:pPr>
            <a:r>
              <a:rPr sz="1170" b="1" i="0">
                <a:solidFill>
                  <a:srgbClr val="A7563B"/>
                </a:solidFill>
                <a:latin typeface="Aptos"/>
              </a:rPr>
              <a:t>EVALUATION LIMIT: relevance results do not cover all 158 active POIs or real-trip feasibility.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Component 4  |  Research Contribution</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13</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7" name="Rounded Rectangle 6"/>
          <p:cNvSpPr/>
          <p:nvPr/>
        </p:nvSpPr>
        <p:spPr>
          <a:xfrm>
            <a:off x="749808" y="1316736"/>
            <a:ext cx="1307592" cy="347472"/>
          </a:xfrm>
          <a:prstGeom prst="roundRect">
            <a:avLst>
              <a:gd name="adj" fmla="val 12000"/>
            </a:avLst>
          </a:prstGeom>
          <a:solidFill>
            <a:srgbClr val="ED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5" y="1325880"/>
            <a:ext cx="1179576" cy="329184"/>
          </a:xfrm>
          <a:prstGeom prst="rect">
            <a:avLst/>
          </a:prstGeom>
          <a:noFill/>
        </p:spPr>
        <p:txBody>
          <a:bodyPr wrap="square" lIns="9144" rIns="9144" tIns="0" bIns="0" anchor="ctr">
            <a:spAutoFit/>
          </a:bodyPr>
          <a:lstStyle/>
          <a:p>
            <a:r>
              <a:rPr sz="1050" b="1">
                <a:solidFill>
                  <a:srgbClr val="1769E0"/>
                </a:solidFill>
                <a:latin typeface="Aptos"/>
              </a:rPr>
              <a:t>COMPONENT 04</a:t>
            </a:r>
          </a:p>
        </p:txBody>
      </p:sp>
      <p:sp>
        <p:nvSpPr>
          <p:cNvPr id="9" name="TextBox 8"/>
          <p:cNvSpPr txBox="1"/>
          <p:nvPr/>
        </p:nvSpPr>
        <p:spPr>
          <a:xfrm>
            <a:off x="768096" y="1837943"/>
            <a:ext cx="7589520" cy="996696"/>
          </a:xfrm>
          <a:prstGeom prst="rect">
            <a:avLst/>
          </a:prstGeom>
          <a:noFill/>
        </p:spPr>
        <p:txBody>
          <a:bodyPr wrap="square" lIns="9144" rIns="9144" tIns="0" bIns="0" anchor="t">
            <a:spAutoFit/>
          </a:bodyPr>
          <a:lstStyle/>
          <a:p>
            <a:pPr algn="l">
              <a:spcBef>
                <a:spcPts val="0"/>
              </a:spcBef>
              <a:spcAft>
                <a:spcPts val="0"/>
              </a:spcAft>
            </a:pPr>
            <a:r>
              <a:rPr sz="3000" b="1" i="0">
                <a:solidFill>
                  <a:srgbClr val="0B2A4A"/>
                </a:solidFill>
                <a:latin typeface="Aptos Display"/>
              </a:rPr>
              <a:t>AI Landmark Recognition &amp; Tourist Information</a:t>
            </a:r>
          </a:p>
        </p:txBody>
      </p:sp>
      <p:sp>
        <p:nvSpPr>
          <p:cNvPr id="10" name="TextBox 9"/>
          <p:cNvSpPr txBox="1"/>
          <p:nvPr/>
        </p:nvSpPr>
        <p:spPr>
          <a:xfrm>
            <a:off x="795528" y="2871216"/>
            <a:ext cx="7315200" cy="493776"/>
          </a:xfrm>
          <a:prstGeom prst="rect">
            <a:avLst/>
          </a:prstGeom>
          <a:noFill/>
        </p:spPr>
        <p:txBody>
          <a:bodyPr wrap="square" lIns="9144" rIns="9144" tIns="0" bIns="0" anchor="t">
            <a:spAutoFit/>
          </a:bodyPr>
          <a:lstStyle/>
          <a:p>
            <a:pPr algn="l">
              <a:spcBef>
                <a:spcPts val="0"/>
              </a:spcBef>
              <a:spcAft>
                <a:spcPts val="0"/>
              </a:spcAft>
            </a:pPr>
            <a:r>
              <a:rPr sz="1720" b="0" i="0">
                <a:solidFill>
                  <a:srgbClr val="60738A"/>
                </a:solidFill>
                <a:latin typeface="Aptos"/>
              </a:rPr>
              <a:t>Identify supported Sri Lankan landmarks from images and connect them to visitor information.</a:t>
            </a:r>
          </a:p>
        </p:txBody>
      </p:sp>
      <p:sp>
        <p:nvSpPr>
          <p:cNvPr id="11" name="Rounded Rectangle 10"/>
          <p:cNvSpPr/>
          <p:nvPr/>
        </p:nvSpPr>
        <p:spPr>
          <a:xfrm>
            <a:off x="8613648" y="1463040"/>
            <a:ext cx="2752344" cy="2048256"/>
          </a:xfrm>
          <a:prstGeom prst="roundRect">
            <a:avLst>
              <a:gd name="adj" fmla="val 12000"/>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7112" y="1682496"/>
            <a:ext cx="2249424" cy="274320"/>
          </a:xfrm>
          <a:prstGeom prst="rect">
            <a:avLst/>
          </a:prstGeom>
          <a:noFill/>
        </p:spPr>
        <p:txBody>
          <a:bodyPr wrap="square" lIns="9144" rIns="9144" tIns="0" bIns="0" anchor="ctr">
            <a:spAutoFit/>
          </a:bodyPr>
          <a:lstStyle/>
          <a:p>
            <a:pPr algn="l">
              <a:spcBef>
                <a:spcPts val="0"/>
              </a:spcBef>
              <a:spcAft>
                <a:spcPts val="0"/>
              </a:spcAft>
            </a:pPr>
            <a:r>
              <a:rPr sz="1100" b="1" i="0">
                <a:solidFill>
                  <a:srgbClr val="F5B942"/>
                </a:solidFill>
                <a:latin typeface="Aptos"/>
              </a:rPr>
              <a:t>RESEARCHER</a:t>
            </a:r>
          </a:p>
        </p:txBody>
      </p:sp>
      <p:sp>
        <p:nvSpPr>
          <p:cNvPr id="13" name="TextBox 12"/>
          <p:cNvSpPr txBox="1"/>
          <p:nvPr/>
        </p:nvSpPr>
        <p:spPr>
          <a:xfrm>
            <a:off x="8887968" y="2048256"/>
            <a:ext cx="2286000" cy="548640"/>
          </a:xfrm>
          <a:prstGeom prst="rect">
            <a:avLst/>
          </a:prstGeom>
          <a:noFill/>
        </p:spPr>
        <p:txBody>
          <a:bodyPr wrap="square" lIns="9144" rIns="9144" tIns="0" bIns="0" anchor="t">
            <a:spAutoFit/>
          </a:bodyPr>
          <a:lstStyle/>
          <a:p>
            <a:pPr algn="l">
              <a:spcBef>
                <a:spcPts val="0"/>
              </a:spcBef>
              <a:spcAft>
                <a:spcPts val="0"/>
              </a:spcAft>
            </a:pPr>
            <a:r>
              <a:rPr sz="1700" b="1" i="0">
                <a:solidFill>
                  <a:srgbClr val="FFFFFF"/>
                </a:solidFill>
                <a:latin typeface="Aptos"/>
              </a:rPr>
              <a:t>Madushan M.</a:t>
            </a:r>
          </a:p>
        </p:txBody>
      </p:sp>
      <p:sp>
        <p:nvSpPr>
          <p:cNvPr id="14" name="TextBox 13"/>
          <p:cNvSpPr txBox="1"/>
          <p:nvPr/>
        </p:nvSpPr>
        <p:spPr>
          <a:xfrm>
            <a:off x="8887968" y="2944368"/>
            <a:ext cx="2286000" cy="246888"/>
          </a:xfrm>
          <a:prstGeom prst="rect">
            <a:avLst/>
          </a:prstGeom>
          <a:noFill/>
        </p:spPr>
        <p:txBody>
          <a:bodyPr wrap="square" lIns="9144" rIns="9144" tIns="0" bIns="0" anchor="ctr">
            <a:spAutoFit/>
          </a:bodyPr>
          <a:lstStyle/>
          <a:p>
            <a:pPr algn="l">
              <a:spcBef>
                <a:spcPts val="0"/>
              </a:spcBef>
              <a:spcAft>
                <a:spcPts val="0"/>
              </a:spcAft>
            </a:pPr>
            <a:r>
              <a:rPr sz="1450" b="1" i="0">
                <a:solidFill>
                  <a:srgbClr val="F5B942"/>
                </a:solidFill>
                <a:latin typeface="Aptos"/>
              </a:rPr>
              <a:t>IT22214720</a:t>
            </a:r>
          </a:p>
        </p:txBody>
      </p:sp>
      <p:sp>
        <p:nvSpPr>
          <p:cNvPr id="15" name="TextBox 14"/>
          <p:cNvSpPr txBox="1"/>
          <p:nvPr/>
        </p:nvSpPr>
        <p:spPr>
          <a:xfrm>
            <a:off x="804672" y="3657600"/>
            <a:ext cx="3200400" cy="274320"/>
          </a:xfrm>
          <a:prstGeom prst="rect">
            <a:avLst/>
          </a:prstGeom>
          <a:noFill/>
        </p:spPr>
        <p:txBody>
          <a:bodyPr wrap="square" lIns="9144" rIns="9144" tIns="0" bIns="0" anchor="ctr">
            <a:spAutoFit/>
          </a:bodyPr>
          <a:lstStyle/>
          <a:p>
            <a:pPr algn="l">
              <a:spcBef>
                <a:spcPts val="0"/>
              </a:spcBef>
              <a:spcAft>
                <a:spcPts val="0"/>
              </a:spcAft>
            </a:pPr>
            <a:r>
              <a:rPr sz="1250" b="1" i="0">
                <a:solidFill>
                  <a:srgbClr val="1769E0"/>
                </a:solidFill>
                <a:latin typeface="Aptos"/>
              </a:rPr>
              <a:t>RESEARCH CONTRIBUTION</a:t>
            </a:r>
          </a:p>
        </p:txBody>
      </p:sp>
      <p:cxnSp>
        <p:nvCxnSpPr>
          <p:cNvPr id="16" name="Connector 15"/>
          <p:cNvCxnSpPr/>
          <p:nvPr/>
        </p:nvCxnSpPr>
        <p:spPr>
          <a:xfrm>
            <a:off x="804672" y="3977639"/>
            <a:ext cx="2651760" cy="0"/>
          </a:xfrm>
          <a:prstGeom prst="line">
            <a:avLst/>
          </a:prstGeom>
          <a:ln w="19050">
            <a:solidFill>
              <a:srgbClr val="1769E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5528" y="4178808"/>
            <a:ext cx="3511296" cy="155448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334256"/>
            <a:ext cx="338328" cy="329184"/>
          </a:xfrm>
          <a:prstGeom prst="rect">
            <a:avLst/>
          </a:prstGeom>
          <a:noFill/>
        </p:spPr>
        <p:txBody>
          <a:bodyPr wrap="square" lIns="9144" rIns="9144" tIns="0" bIns="0" anchor="ctr">
            <a:spAutoFit/>
          </a:bodyPr>
          <a:lstStyle/>
          <a:p>
            <a:pPr algn="l">
              <a:spcBef>
                <a:spcPts val="0"/>
              </a:spcBef>
              <a:spcAft>
                <a:spcPts val="0"/>
              </a:spcAft>
            </a:pPr>
            <a:r>
              <a:rPr sz="1900" b="1" i="0">
                <a:solidFill>
                  <a:srgbClr val="1769E0"/>
                </a:solidFill>
                <a:latin typeface="Aptos"/>
              </a:rPr>
              <a:t>01</a:t>
            </a:r>
          </a:p>
        </p:txBody>
      </p:sp>
      <p:sp>
        <p:nvSpPr>
          <p:cNvPr id="19" name="TextBox 18"/>
          <p:cNvSpPr txBox="1"/>
          <p:nvPr/>
        </p:nvSpPr>
        <p:spPr>
          <a:xfrm>
            <a:off x="1417320" y="4325112"/>
            <a:ext cx="2688336" cy="320040"/>
          </a:xfrm>
          <a:prstGeom prst="rect">
            <a:avLst/>
          </a:prstGeom>
          <a:noFill/>
        </p:spPr>
        <p:txBody>
          <a:bodyPr wrap="square" lIns="9144" rIns="9144" tIns="0" bIns="0" anchor="ctr">
            <a:spAutoFit/>
          </a:bodyPr>
          <a:lstStyle/>
          <a:p>
            <a:pPr algn="l">
              <a:spcBef>
                <a:spcPts val="0"/>
              </a:spcBef>
              <a:spcAft>
                <a:spcPts val="0"/>
              </a:spcAft>
            </a:pPr>
            <a:r>
              <a:rPr sz="1500" b="1" i="0">
                <a:solidFill>
                  <a:srgbClr val="0B2A4A"/>
                </a:solidFill>
                <a:latin typeface="Aptos"/>
              </a:rPr>
              <a:t>Visual recognition</a:t>
            </a:r>
          </a:p>
        </p:txBody>
      </p:sp>
      <p:sp>
        <p:nvSpPr>
          <p:cNvPr id="20" name="TextBox 19"/>
          <p:cNvSpPr txBox="1"/>
          <p:nvPr/>
        </p:nvSpPr>
        <p:spPr>
          <a:xfrm>
            <a:off x="1014983" y="4782312"/>
            <a:ext cx="3072384" cy="822960"/>
          </a:xfrm>
          <a:prstGeom prst="rect">
            <a:avLst/>
          </a:prstGeom>
          <a:noFill/>
        </p:spPr>
        <p:txBody>
          <a:bodyPr wrap="square" lIns="9144" rIns="9144" tIns="0" bIns="0" anchor="t">
            <a:spAutoFit/>
          </a:bodyPr>
          <a:lstStyle/>
          <a:p>
            <a:pPr algn="l">
              <a:spcBef>
                <a:spcPts val="0"/>
              </a:spcBef>
              <a:spcAft>
                <a:spcPts val="0"/>
              </a:spcAft>
            </a:pPr>
            <a:r>
              <a:rPr sz="1320" b="0" i="0">
                <a:solidFill>
                  <a:srgbClr val="1D2B3A"/>
                </a:solidFill>
                <a:latin typeface="Aptos"/>
              </a:rPr>
              <a:t>MobileNetV2 image features support a 17-class SVM classifier.</a:t>
            </a:r>
          </a:p>
        </p:txBody>
      </p:sp>
      <p:sp>
        <p:nvSpPr>
          <p:cNvPr id="21" name="Rounded Rectangle 20"/>
          <p:cNvSpPr/>
          <p:nvPr/>
        </p:nvSpPr>
        <p:spPr>
          <a:xfrm>
            <a:off x="4617720" y="4178808"/>
            <a:ext cx="3511296" cy="155448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91456" y="4334256"/>
            <a:ext cx="338328" cy="329184"/>
          </a:xfrm>
          <a:prstGeom prst="rect">
            <a:avLst/>
          </a:prstGeom>
          <a:noFill/>
        </p:spPr>
        <p:txBody>
          <a:bodyPr wrap="square" lIns="9144" rIns="9144" tIns="0" bIns="0" anchor="ctr">
            <a:spAutoFit/>
          </a:bodyPr>
          <a:lstStyle/>
          <a:p>
            <a:pPr algn="l">
              <a:spcBef>
                <a:spcPts val="0"/>
              </a:spcBef>
              <a:spcAft>
                <a:spcPts val="0"/>
              </a:spcAft>
            </a:pPr>
            <a:r>
              <a:rPr sz="1900" b="1" i="0">
                <a:solidFill>
                  <a:srgbClr val="1769E0"/>
                </a:solidFill>
                <a:latin typeface="Aptos"/>
              </a:rPr>
              <a:t>02</a:t>
            </a:r>
          </a:p>
        </p:txBody>
      </p:sp>
      <p:sp>
        <p:nvSpPr>
          <p:cNvPr id="23" name="TextBox 22"/>
          <p:cNvSpPr txBox="1"/>
          <p:nvPr/>
        </p:nvSpPr>
        <p:spPr>
          <a:xfrm>
            <a:off x="5239512" y="4325112"/>
            <a:ext cx="2688336" cy="320040"/>
          </a:xfrm>
          <a:prstGeom prst="rect">
            <a:avLst/>
          </a:prstGeom>
          <a:noFill/>
        </p:spPr>
        <p:txBody>
          <a:bodyPr wrap="square" lIns="9144" rIns="9144" tIns="0" bIns="0" anchor="ctr">
            <a:spAutoFit/>
          </a:bodyPr>
          <a:lstStyle/>
          <a:p>
            <a:pPr algn="l">
              <a:spcBef>
                <a:spcPts val="0"/>
              </a:spcBef>
              <a:spcAft>
                <a:spcPts val="0"/>
              </a:spcAft>
            </a:pPr>
            <a:r>
              <a:rPr sz="1500" b="1" i="0">
                <a:solidFill>
                  <a:srgbClr val="0B2A4A"/>
                </a:solidFill>
                <a:latin typeface="Aptos"/>
              </a:rPr>
              <a:t>Fallback inference</a:t>
            </a:r>
          </a:p>
        </p:txBody>
      </p:sp>
      <p:sp>
        <p:nvSpPr>
          <p:cNvPr id="24" name="TextBox 23"/>
          <p:cNvSpPr txBox="1"/>
          <p:nvPr/>
        </p:nvSpPr>
        <p:spPr>
          <a:xfrm>
            <a:off x="4837176" y="4782312"/>
            <a:ext cx="3072384" cy="822960"/>
          </a:xfrm>
          <a:prstGeom prst="rect">
            <a:avLst/>
          </a:prstGeom>
          <a:noFill/>
        </p:spPr>
        <p:txBody>
          <a:bodyPr wrap="square" lIns="9144" rIns="9144" tIns="0" bIns="0" anchor="t">
            <a:spAutoFit/>
          </a:bodyPr>
          <a:lstStyle/>
          <a:p>
            <a:pPr algn="l">
              <a:spcBef>
                <a:spcPts val="0"/>
              </a:spcBef>
              <a:spcAft>
                <a:spcPts val="0"/>
              </a:spcAft>
            </a:pPr>
            <a:r>
              <a:rPr sz="1320" b="0" i="0">
                <a:solidFill>
                  <a:srgbClr val="1D2B3A"/>
                </a:solidFill>
                <a:latin typeface="Aptos"/>
              </a:rPr>
              <a:t>A TFLite prediction path is available for recognition requests.</a:t>
            </a:r>
          </a:p>
        </p:txBody>
      </p:sp>
      <p:sp>
        <p:nvSpPr>
          <p:cNvPr id="25" name="Rounded Rectangle 24"/>
          <p:cNvSpPr/>
          <p:nvPr/>
        </p:nvSpPr>
        <p:spPr>
          <a:xfrm>
            <a:off x="8439911" y="4178808"/>
            <a:ext cx="3511296" cy="155448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13647" y="4334256"/>
            <a:ext cx="338328" cy="329184"/>
          </a:xfrm>
          <a:prstGeom prst="rect">
            <a:avLst/>
          </a:prstGeom>
          <a:noFill/>
        </p:spPr>
        <p:txBody>
          <a:bodyPr wrap="square" lIns="9144" rIns="9144" tIns="0" bIns="0" anchor="ctr">
            <a:spAutoFit/>
          </a:bodyPr>
          <a:lstStyle/>
          <a:p>
            <a:pPr algn="l">
              <a:spcBef>
                <a:spcPts val="0"/>
              </a:spcBef>
              <a:spcAft>
                <a:spcPts val="0"/>
              </a:spcAft>
            </a:pPr>
            <a:r>
              <a:rPr sz="1900" b="1" i="0">
                <a:solidFill>
                  <a:srgbClr val="1769E0"/>
                </a:solidFill>
                <a:latin typeface="Aptos"/>
              </a:rPr>
              <a:t>03</a:t>
            </a:r>
          </a:p>
        </p:txBody>
      </p:sp>
      <p:sp>
        <p:nvSpPr>
          <p:cNvPr id="27" name="TextBox 26"/>
          <p:cNvSpPr txBox="1"/>
          <p:nvPr/>
        </p:nvSpPr>
        <p:spPr>
          <a:xfrm>
            <a:off x="9061703" y="4325112"/>
            <a:ext cx="2688336" cy="320040"/>
          </a:xfrm>
          <a:prstGeom prst="rect">
            <a:avLst/>
          </a:prstGeom>
          <a:noFill/>
        </p:spPr>
        <p:txBody>
          <a:bodyPr wrap="square" lIns="9144" rIns="9144" tIns="0" bIns="0" anchor="ctr">
            <a:spAutoFit/>
          </a:bodyPr>
          <a:lstStyle/>
          <a:p>
            <a:pPr algn="l">
              <a:spcBef>
                <a:spcPts val="0"/>
              </a:spcBef>
              <a:spcAft>
                <a:spcPts val="0"/>
              </a:spcAft>
            </a:pPr>
            <a:r>
              <a:rPr sz="1500" b="1" i="0">
                <a:solidFill>
                  <a:srgbClr val="0B2A4A"/>
                </a:solidFill>
                <a:latin typeface="Aptos"/>
              </a:rPr>
              <a:t>Visitor assistance</a:t>
            </a:r>
          </a:p>
        </p:txBody>
      </p:sp>
      <p:sp>
        <p:nvSpPr>
          <p:cNvPr id="28" name="TextBox 27"/>
          <p:cNvSpPr txBox="1"/>
          <p:nvPr/>
        </p:nvSpPr>
        <p:spPr>
          <a:xfrm>
            <a:off x="8659367" y="4782312"/>
            <a:ext cx="3072384" cy="822960"/>
          </a:xfrm>
          <a:prstGeom prst="rect">
            <a:avLst/>
          </a:prstGeom>
          <a:noFill/>
        </p:spPr>
        <p:txBody>
          <a:bodyPr wrap="square" lIns="9144" rIns="9144" tIns="0" bIns="0" anchor="t">
            <a:spAutoFit/>
          </a:bodyPr>
          <a:lstStyle/>
          <a:p>
            <a:pPr algn="l">
              <a:spcBef>
                <a:spcPts val="0"/>
              </a:spcBef>
              <a:spcAft>
                <a:spcPts val="0"/>
              </a:spcAft>
            </a:pPr>
            <a:r>
              <a:rPr sz="1320" b="0" i="0">
                <a:solidFill>
                  <a:srgbClr val="1D2B3A"/>
                </a:solidFill>
                <a:latin typeface="Aptos"/>
              </a:rPr>
              <a:t>Class-mapped metadata and optional chat extend beyond labels.</a:t>
            </a:r>
          </a:p>
        </p:txBody>
      </p:sp>
      <p:sp>
        <p:nvSpPr>
          <p:cNvPr id="29" name="TextBox 28"/>
          <p:cNvSpPr txBox="1"/>
          <p:nvPr/>
        </p:nvSpPr>
        <p:spPr>
          <a:xfrm>
            <a:off x="832104" y="6053328"/>
            <a:ext cx="10789920" cy="256032"/>
          </a:xfrm>
          <a:prstGeom prst="rect">
            <a:avLst/>
          </a:prstGeom>
          <a:noFill/>
        </p:spPr>
        <p:txBody>
          <a:bodyPr wrap="square" lIns="9144" rIns="9144" tIns="0" bIns="0" anchor="ctr">
            <a:spAutoFit/>
          </a:bodyPr>
          <a:lstStyle/>
          <a:p>
            <a:pPr algn="l">
              <a:spcBef>
                <a:spcPts val="0"/>
              </a:spcBef>
              <a:spcAft>
                <a:spcPts val="0"/>
              </a:spcAft>
            </a:pPr>
            <a:r>
              <a:rPr sz="1120" b="0" i="0">
                <a:solidFill>
                  <a:srgbClr val="60738A"/>
                </a:solidFill>
                <a:latin typeface="Aptos"/>
              </a:rPr>
              <a:t>CORE APPROACH  ·  MobileNetV2 + SVM  ·  Flask  ·  TFLite fallback  ·  metadata CSV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C4 · Landmark Recognition &amp; Results</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14</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078992"/>
            <a:ext cx="10881360" cy="292608"/>
          </a:xfrm>
          <a:prstGeom prst="rect">
            <a:avLst/>
          </a:prstGeom>
          <a:noFill/>
        </p:spPr>
        <p:txBody>
          <a:bodyPr wrap="square" lIns="9144" rIns="9144" tIns="0" bIns="0" anchor="ctr">
            <a:spAutoFit/>
          </a:bodyPr>
          <a:lstStyle/>
          <a:p>
            <a:pPr algn="l">
              <a:spcBef>
                <a:spcPts val="0"/>
              </a:spcBef>
              <a:spcAft>
                <a:spcPts val="0"/>
              </a:spcAft>
            </a:pPr>
            <a:r>
              <a:rPr sz="1230" b="0" i="0">
                <a:solidFill>
                  <a:srgbClr val="60738A"/>
                </a:solidFill>
                <a:latin typeface="Aptos"/>
              </a:rPr>
              <a:t>Notebook validation results are not yet a verified deployed-system accuracy measurement</a:t>
            </a:r>
          </a:p>
        </p:txBody>
      </p:sp>
      <p:sp>
        <p:nvSpPr>
          <p:cNvPr id="7" name="TextBox 6"/>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8" name="Rounded Rectangle 7"/>
          <p:cNvSpPr/>
          <p:nvPr/>
        </p:nvSpPr>
        <p:spPr>
          <a:xfrm>
            <a:off x="749808" y="1453896"/>
            <a:ext cx="2642616" cy="82296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664208"/>
            <a:ext cx="411480" cy="265176"/>
          </a:xfrm>
          <a:prstGeom prst="rect">
            <a:avLst/>
          </a:prstGeom>
          <a:noFill/>
        </p:spPr>
        <p:txBody>
          <a:bodyPr wrap="square" lIns="9144" rIns="9144" tIns="0" bIns="0" anchor="ctr">
            <a:spAutoFit/>
          </a:bodyPr>
          <a:lstStyle/>
          <a:p>
            <a:pPr algn="l">
              <a:spcBef>
                <a:spcPts val="0"/>
              </a:spcBef>
              <a:spcAft>
                <a:spcPts val="0"/>
              </a:spcAft>
            </a:pPr>
            <a:r>
              <a:rPr sz="1600" b="1" i="0">
                <a:solidFill>
                  <a:srgbClr val="1769E0"/>
                </a:solidFill>
                <a:latin typeface="Aptos"/>
              </a:rPr>
              <a:t>01</a:t>
            </a:r>
          </a:p>
        </p:txBody>
      </p:sp>
      <p:sp>
        <p:nvSpPr>
          <p:cNvPr id="10" name="TextBox 9"/>
          <p:cNvSpPr txBox="1"/>
          <p:nvPr/>
        </p:nvSpPr>
        <p:spPr>
          <a:xfrm>
            <a:off x="1271016" y="1627632"/>
            <a:ext cx="1993392" cy="393192"/>
          </a:xfrm>
          <a:prstGeom prst="rect">
            <a:avLst/>
          </a:prstGeom>
          <a:noFill/>
        </p:spPr>
        <p:txBody>
          <a:bodyPr wrap="square" lIns="9144" rIns="9144" tIns="0" bIns="0" anchor="ctr">
            <a:spAutoFit/>
          </a:bodyPr>
          <a:lstStyle/>
          <a:p>
            <a:pPr algn="l">
              <a:spcBef>
                <a:spcPts val="0"/>
              </a:spcBef>
              <a:spcAft>
                <a:spcPts val="0"/>
              </a:spcAft>
            </a:pPr>
            <a:r>
              <a:rPr sz="1440" b="1" i="0">
                <a:solidFill>
                  <a:srgbClr val="0B2A4A"/>
                </a:solidFill>
                <a:latin typeface="Aptos"/>
              </a:rPr>
              <a:t>Photo upload</a:t>
            </a:r>
          </a:p>
        </p:txBody>
      </p:sp>
      <p:sp>
        <p:nvSpPr>
          <p:cNvPr id="11" name="TextBox 10"/>
          <p:cNvSpPr txBox="1"/>
          <p:nvPr/>
        </p:nvSpPr>
        <p:spPr>
          <a:xfrm>
            <a:off x="3401568" y="1682496"/>
            <a:ext cx="219456" cy="274320"/>
          </a:xfrm>
          <a:prstGeom prst="rect">
            <a:avLst/>
          </a:prstGeom>
          <a:noFill/>
        </p:spPr>
        <p:txBody>
          <a:bodyPr wrap="square" lIns="9144" rIns="9144" tIns="0" bIns="0" anchor="ctr">
            <a:spAutoFit/>
          </a:bodyPr>
          <a:lstStyle/>
          <a:p>
            <a:pPr algn="ctr">
              <a:spcBef>
                <a:spcPts val="0"/>
              </a:spcBef>
              <a:spcAft>
                <a:spcPts val="0"/>
              </a:spcAft>
            </a:pPr>
            <a:r>
              <a:rPr sz="2500" b="1" i="0">
                <a:solidFill>
                  <a:srgbClr val="1769E0"/>
                </a:solidFill>
                <a:latin typeface="Aptos"/>
              </a:rPr>
              <a:t>›</a:t>
            </a:r>
          </a:p>
        </p:txBody>
      </p:sp>
      <p:sp>
        <p:nvSpPr>
          <p:cNvPr id="12" name="Rounded Rectangle 11"/>
          <p:cNvSpPr/>
          <p:nvPr/>
        </p:nvSpPr>
        <p:spPr>
          <a:xfrm>
            <a:off x="3630168" y="1453896"/>
            <a:ext cx="2642616" cy="82296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30752" y="1664208"/>
            <a:ext cx="411480" cy="265176"/>
          </a:xfrm>
          <a:prstGeom prst="rect">
            <a:avLst/>
          </a:prstGeom>
          <a:noFill/>
        </p:spPr>
        <p:txBody>
          <a:bodyPr wrap="square" lIns="9144" rIns="9144" tIns="0" bIns="0" anchor="ctr">
            <a:spAutoFit/>
          </a:bodyPr>
          <a:lstStyle/>
          <a:p>
            <a:pPr algn="l">
              <a:spcBef>
                <a:spcPts val="0"/>
              </a:spcBef>
              <a:spcAft>
                <a:spcPts val="0"/>
              </a:spcAft>
            </a:pPr>
            <a:r>
              <a:rPr sz="1600" b="1" i="0">
                <a:solidFill>
                  <a:srgbClr val="1769E0"/>
                </a:solidFill>
                <a:latin typeface="Aptos"/>
              </a:rPr>
              <a:t>02</a:t>
            </a:r>
          </a:p>
        </p:txBody>
      </p:sp>
      <p:sp>
        <p:nvSpPr>
          <p:cNvPr id="14" name="TextBox 13"/>
          <p:cNvSpPr txBox="1"/>
          <p:nvPr/>
        </p:nvSpPr>
        <p:spPr>
          <a:xfrm>
            <a:off x="4151376" y="1627632"/>
            <a:ext cx="1993392" cy="393192"/>
          </a:xfrm>
          <a:prstGeom prst="rect">
            <a:avLst/>
          </a:prstGeom>
          <a:noFill/>
        </p:spPr>
        <p:txBody>
          <a:bodyPr wrap="square" lIns="9144" rIns="9144" tIns="0" bIns="0" anchor="ctr">
            <a:spAutoFit/>
          </a:bodyPr>
          <a:lstStyle/>
          <a:p>
            <a:pPr algn="l">
              <a:spcBef>
                <a:spcPts val="0"/>
              </a:spcBef>
              <a:spcAft>
                <a:spcPts val="0"/>
              </a:spcAft>
            </a:pPr>
            <a:r>
              <a:rPr sz="1440" b="1" i="0">
                <a:solidFill>
                  <a:srgbClr val="0B2A4A"/>
                </a:solidFill>
                <a:latin typeface="Aptos"/>
              </a:rPr>
              <a:t>224 × 224 image</a:t>
            </a:r>
          </a:p>
        </p:txBody>
      </p:sp>
      <p:sp>
        <p:nvSpPr>
          <p:cNvPr id="15" name="TextBox 14"/>
          <p:cNvSpPr txBox="1"/>
          <p:nvPr/>
        </p:nvSpPr>
        <p:spPr>
          <a:xfrm>
            <a:off x="6281927" y="1682496"/>
            <a:ext cx="219456" cy="274320"/>
          </a:xfrm>
          <a:prstGeom prst="rect">
            <a:avLst/>
          </a:prstGeom>
          <a:noFill/>
        </p:spPr>
        <p:txBody>
          <a:bodyPr wrap="square" lIns="9144" rIns="9144" tIns="0" bIns="0" anchor="ctr">
            <a:spAutoFit/>
          </a:bodyPr>
          <a:lstStyle/>
          <a:p>
            <a:pPr algn="ctr">
              <a:spcBef>
                <a:spcPts val="0"/>
              </a:spcBef>
              <a:spcAft>
                <a:spcPts val="0"/>
              </a:spcAft>
            </a:pPr>
            <a:r>
              <a:rPr sz="2500" b="1" i="0">
                <a:solidFill>
                  <a:srgbClr val="1769E0"/>
                </a:solidFill>
                <a:latin typeface="Aptos"/>
              </a:rPr>
              <a:t>›</a:t>
            </a:r>
          </a:p>
        </p:txBody>
      </p:sp>
      <p:sp>
        <p:nvSpPr>
          <p:cNvPr id="16" name="Rounded Rectangle 15"/>
          <p:cNvSpPr/>
          <p:nvPr/>
        </p:nvSpPr>
        <p:spPr>
          <a:xfrm>
            <a:off x="6510528" y="1453896"/>
            <a:ext cx="2642616" cy="82296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11112" y="1664208"/>
            <a:ext cx="411480" cy="265176"/>
          </a:xfrm>
          <a:prstGeom prst="rect">
            <a:avLst/>
          </a:prstGeom>
          <a:noFill/>
        </p:spPr>
        <p:txBody>
          <a:bodyPr wrap="square" lIns="9144" rIns="9144" tIns="0" bIns="0" anchor="ctr">
            <a:spAutoFit/>
          </a:bodyPr>
          <a:lstStyle/>
          <a:p>
            <a:pPr algn="l">
              <a:spcBef>
                <a:spcPts val="0"/>
              </a:spcBef>
              <a:spcAft>
                <a:spcPts val="0"/>
              </a:spcAft>
            </a:pPr>
            <a:r>
              <a:rPr sz="1600" b="1" i="0">
                <a:solidFill>
                  <a:srgbClr val="1769E0"/>
                </a:solidFill>
                <a:latin typeface="Aptos"/>
              </a:rPr>
              <a:t>03</a:t>
            </a:r>
          </a:p>
        </p:txBody>
      </p:sp>
      <p:sp>
        <p:nvSpPr>
          <p:cNvPr id="18" name="TextBox 17"/>
          <p:cNvSpPr txBox="1"/>
          <p:nvPr/>
        </p:nvSpPr>
        <p:spPr>
          <a:xfrm>
            <a:off x="7031736" y="1627632"/>
            <a:ext cx="1993392" cy="393192"/>
          </a:xfrm>
          <a:prstGeom prst="rect">
            <a:avLst/>
          </a:prstGeom>
          <a:noFill/>
        </p:spPr>
        <p:txBody>
          <a:bodyPr wrap="square" lIns="9144" rIns="9144" tIns="0" bIns="0" anchor="ctr">
            <a:spAutoFit/>
          </a:bodyPr>
          <a:lstStyle/>
          <a:p>
            <a:pPr algn="l">
              <a:spcBef>
                <a:spcPts val="0"/>
              </a:spcBef>
              <a:spcAft>
                <a:spcPts val="0"/>
              </a:spcAft>
            </a:pPr>
            <a:r>
              <a:rPr sz="1440" b="1" i="0">
                <a:solidFill>
                  <a:srgbClr val="0B2A4A"/>
                </a:solidFill>
                <a:latin typeface="Aptos"/>
              </a:rPr>
              <a:t>MobileNetV2 + SVM</a:t>
            </a:r>
          </a:p>
        </p:txBody>
      </p:sp>
      <p:sp>
        <p:nvSpPr>
          <p:cNvPr id="19" name="TextBox 18"/>
          <p:cNvSpPr txBox="1"/>
          <p:nvPr/>
        </p:nvSpPr>
        <p:spPr>
          <a:xfrm>
            <a:off x="9162288" y="1682496"/>
            <a:ext cx="219456" cy="274320"/>
          </a:xfrm>
          <a:prstGeom prst="rect">
            <a:avLst/>
          </a:prstGeom>
          <a:noFill/>
        </p:spPr>
        <p:txBody>
          <a:bodyPr wrap="square" lIns="9144" rIns="9144" tIns="0" bIns="0" anchor="ctr">
            <a:spAutoFit/>
          </a:bodyPr>
          <a:lstStyle/>
          <a:p>
            <a:pPr algn="ctr">
              <a:spcBef>
                <a:spcPts val="0"/>
              </a:spcBef>
              <a:spcAft>
                <a:spcPts val="0"/>
              </a:spcAft>
            </a:pPr>
            <a:r>
              <a:rPr sz="2500" b="1" i="0">
                <a:solidFill>
                  <a:srgbClr val="1769E0"/>
                </a:solidFill>
                <a:latin typeface="Aptos"/>
              </a:rPr>
              <a:t>›</a:t>
            </a:r>
          </a:p>
        </p:txBody>
      </p:sp>
      <p:sp>
        <p:nvSpPr>
          <p:cNvPr id="20" name="Rounded Rectangle 19"/>
          <p:cNvSpPr/>
          <p:nvPr/>
        </p:nvSpPr>
        <p:spPr>
          <a:xfrm>
            <a:off x="9390888" y="1453896"/>
            <a:ext cx="2642616" cy="82296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91472" y="1664208"/>
            <a:ext cx="411480" cy="265176"/>
          </a:xfrm>
          <a:prstGeom prst="rect">
            <a:avLst/>
          </a:prstGeom>
          <a:noFill/>
        </p:spPr>
        <p:txBody>
          <a:bodyPr wrap="square" lIns="9144" rIns="9144" tIns="0" bIns="0" anchor="ctr">
            <a:spAutoFit/>
          </a:bodyPr>
          <a:lstStyle/>
          <a:p>
            <a:pPr algn="l">
              <a:spcBef>
                <a:spcPts val="0"/>
              </a:spcBef>
              <a:spcAft>
                <a:spcPts val="0"/>
              </a:spcAft>
            </a:pPr>
            <a:r>
              <a:rPr sz="1600" b="1" i="0">
                <a:solidFill>
                  <a:srgbClr val="1769E0"/>
                </a:solidFill>
                <a:latin typeface="Aptos"/>
              </a:rPr>
              <a:t>04</a:t>
            </a:r>
          </a:p>
        </p:txBody>
      </p:sp>
      <p:sp>
        <p:nvSpPr>
          <p:cNvPr id="22" name="TextBox 21"/>
          <p:cNvSpPr txBox="1"/>
          <p:nvPr/>
        </p:nvSpPr>
        <p:spPr>
          <a:xfrm>
            <a:off x="9912096" y="1627632"/>
            <a:ext cx="1993392" cy="393192"/>
          </a:xfrm>
          <a:prstGeom prst="rect">
            <a:avLst/>
          </a:prstGeom>
          <a:noFill/>
        </p:spPr>
        <p:txBody>
          <a:bodyPr wrap="square" lIns="9144" rIns="9144" tIns="0" bIns="0" anchor="ctr">
            <a:spAutoFit/>
          </a:bodyPr>
          <a:lstStyle/>
          <a:p>
            <a:pPr algn="l">
              <a:spcBef>
                <a:spcPts val="0"/>
              </a:spcBef>
              <a:spcAft>
                <a:spcPts val="0"/>
              </a:spcAft>
            </a:pPr>
            <a:r>
              <a:rPr sz="1440" b="1" i="0">
                <a:solidFill>
                  <a:srgbClr val="0B2A4A"/>
                </a:solidFill>
                <a:latin typeface="Aptos"/>
              </a:rPr>
              <a:t>Metadata / guide</a:t>
            </a:r>
          </a:p>
        </p:txBody>
      </p:sp>
      <p:sp>
        <p:nvSpPr>
          <p:cNvPr id="23" name="Rounded Rectangle 22"/>
          <p:cNvSpPr/>
          <p:nvPr/>
        </p:nvSpPr>
        <p:spPr>
          <a:xfrm>
            <a:off x="758952" y="2752344"/>
            <a:ext cx="3374136" cy="1325880"/>
          </a:xfrm>
          <a:prstGeom prst="roundRect">
            <a:avLst>
              <a:gd name="adj" fmla="val 12000"/>
            </a:avLst>
          </a:prstGeom>
          <a:solidFill>
            <a:srgbClr val="EDF5FF"/>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2871215"/>
            <a:ext cx="3154680" cy="539496"/>
          </a:xfrm>
          <a:prstGeom prst="rect">
            <a:avLst/>
          </a:prstGeom>
          <a:noFill/>
        </p:spPr>
        <p:txBody>
          <a:bodyPr wrap="square" lIns="9144" rIns="9144" tIns="0" bIns="0" anchor="ctr">
            <a:spAutoFit/>
          </a:bodyPr>
          <a:lstStyle/>
          <a:p>
            <a:pPr algn="ctr">
              <a:spcBef>
                <a:spcPts val="0"/>
              </a:spcBef>
              <a:spcAft>
                <a:spcPts val="0"/>
              </a:spcAft>
            </a:pPr>
            <a:r>
              <a:rPr sz="3500" b="1" i="0">
                <a:solidFill>
                  <a:srgbClr val="1769E0"/>
                </a:solidFill>
                <a:latin typeface="Aptos Display"/>
              </a:rPr>
              <a:t>93.18%</a:t>
            </a:r>
          </a:p>
        </p:txBody>
      </p:sp>
      <p:sp>
        <p:nvSpPr>
          <p:cNvPr id="25" name="TextBox 24"/>
          <p:cNvSpPr txBox="1"/>
          <p:nvPr/>
        </p:nvSpPr>
        <p:spPr>
          <a:xfrm>
            <a:off x="868680" y="3502151"/>
            <a:ext cx="3154680" cy="256032"/>
          </a:xfrm>
          <a:prstGeom prst="rect">
            <a:avLst/>
          </a:prstGeom>
          <a:noFill/>
        </p:spPr>
        <p:txBody>
          <a:bodyPr wrap="square" lIns="9144" rIns="9144" tIns="0" bIns="0" anchor="ctr">
            <a:spAutoFit/>
          </a:bodyPr>
          <a:lstStyle/>
          <a:p>
            <a:pPr algn="ctr">
              <a:spcBef>
                <a:spcPts val="0"/>
              </a:spcBef>
              <a:spcAft>
                <a:spcPts val="0"/>
              </a:spcAft>
            </a:pPr>
            <a:r>
              <a:rPr sz="1330" b="1" i="0">
                <a:solidFill>
                  <a:srgbClr val="0B2A4A"/>
                </a:solidFill>
                <a:latin typeface="Aptos"/>
              </a:rPr>
              <a:t>SVM accuracy</a:t>
            </a:r>
          </a:p>
        </p:txBody>
      </p:sp>
      <p:sp>
        <p:nvSpPr>
          <p:cNvPr id="26" name="TextBox 25"/>
          <p:cNvSpPr txBox="1"/>
          <p:nvPr/>
        </p:nvSpPr>
        <p:spPr>
          <a:xfrm>
            <a:off x="859536" y="3803904"/>
            <a:ext cx="3172968" cy="164592"/>
          </a:xfrm>
          <a:prstGeom prst="rect">
            <a:avLst/>
          </a:prstGeom>
          <a:noFill/>
        </p:spPr>
        <p:txBody>
          <a:bodyPr wrap="square" lIns="9144" rIns="9144" tIns="0" bIns="0" anchor="ctr">
            <a:spAutoFit/>
          </a:bodyPr>
          <a:lstStyle/>
          <a:p>
            <a:pPr algn="ctr">
              <a:spcBef>
                <a:spcPts val="0"/>
              </a:spcBef>
              <a:spcAft>
                <a:spcPts val="0"/>
              </a:spcAft>
            </a:pPr>
            <a:r>
              <a:rPr sz="950" b="0" i="0">
                <a:solidFill>
                  <a:srgbClr val="60738A"/>
                </a:solidFill>
                <a:latin typeface="Aptos"/>
              </a:rPr>
              <a:t>notebook validation</a:t>
            </a:r>
          </a:p>
        </p:txBody>
      </p:sp>
      <p:sp>
        <p:nvSpPr>
          <p:cNvPr id="27" name="Rounded Rectangle 26"/>
          <p:cNvSpPr/>
          <p:nvPr/>
        </p:nvSpPr>
        <p:spPr>
          <a:xfrm>
            <a:off x="4416552" y="2752344"/>
            <a:ext cx="3374136" cy="1325880"/>
          </a:xfrm>
          <a:prstGeom prst="roundRect">
            <a:avLst>
              <a:gd name="adj" fmla="val 12000"/>
            </a:avLst>
          </a:prstGeom>
          <a:solidFill>
            <a:srgbClr val="EDF5FF"/>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26280" y="2871215"/>
            <a:ext cx="3154680" cy="539496"/>
          </a:xfrm>
          <a:prstGeom prst="rect">
            <a:avLst/>
          </a:prstGeom>
          <a:noFill/>
        </p:spPr>
        <p:txBody>
          <a:bodyPr wrap="square" lIns="9144" rIns="9144" tIns="0" bIns="0" anchor="ctr">
            <a:spAutoFit/>
          </a:bodyPr>
          <a:lstStyle/>
          <a:p>
            <a:pPr algn="ctr">
              <a:spcBef>
                <a:spcPts val="0"/>
              </a:spcBef>
              <a:spcAft>
                <a:spcPts val="0"/>
              </a:spcAft>
            </a:pPr>
            <a:r>
              <a:rPr sz="3500" b="1" i="0">
                <a:solidFill>
                  <a:srgbClr val="1769E0"/>
                </a:solidFill>
                <a:latin typeface="Aptos Display"/>
              </a:rPr>
              <a:t>93.23%</a:t>
            </a:r>
          </a:p>
        </p:txBody>
      </p:sp>
      <p:sp>
        <p:nvSpPr>
          <p:cNvPr id="29" name="TextBox 28"/>
          <p:cNvSpPr txBox="1"/>
          <p:nvPr/>
        </p:nvSpPr>
        <p:spPr>
          <a:xfrm>
            <a:off x="4526280" y="3502151"/>
            <a:ext cx="3154680" cy="256032"/>
          </a:xfrm>
          <a:prstGeom prst="rect">
            <a:avLst/>
          </a:prstGeom>
          <a:noFill/>
        </p:spPr>
        <p:txBody>
          <a:bodyPr wrap="square" lIns="9144" rIns="9144" tIns="0" bIns="0" anchor="ctr">
            <a:spAutoFit/>
          </a:bodyPr>
          <a:lstStyle/>
          <a:p>
            <a:pPr algn="ctr">
              <a:spcBef>
                <a:spcPts val="0"/>
              </a:spcBef>
              <a:spcAft>
                <a:spcPts val="0"/>
              </a:spcAft>
            </a:pPr>
            <a:r>
              <a:rPr sz="1330" b="1" i="0">
                <a:solidFill>
                  <a:srgbClr val="0B2A4A"/>
                </a:solidFill>
                <a:latin typeface="Aptos"/>
              </a:rPr>
              <a:t>Weighted F1</a:t>
            </a:r>
          </a:p>
        </p:txBody>
      </p:sp>
      <p:sp>
        <p:nvSpPr>
          <p:cNvPr id="30" name="TextBox 29"/>
          <p:cNvSpPr txBox="1"/>
          <p:nvPr/>
        </p:nvSpPr>
        <p:spPr>
          <a:xfrm>
            <a:off x="4517136" y="3803904"/>
            <a:ext cx="3172968" cy="164592"/>
          </a:xfrm>
          <a:prstGeom prst="rect">
            <a:avLst/>
          </a:prstGeom>
          <a:noFill/>
        </p:spPr>
        <p:txBody>
          <a:bodyPr wrap="square" lIns="9144" rIns="9144" tIns="0" bIns="0" anchor="ctr">
            <a:spAutoFit/>
          </a:bodyPr>
          <a:lstStyle/>
          <a:p>
            <a:pPr algn="ctr">
              <a:spcBef>
                <a:spcPts val="0"/>
              </a:spcBef>
              <a:spcAft>
                <a:spcPts val="0"/>
              </a:spcAft>
            </a:pPr>
            <a:r>
              <a:rPr sz="950" b="0" i="0">
                <a:solidFill>
                  <a:srgbClr val="60738A"/>
                </a:solidFill>
                <a:latin typeface="Aptos"/>
              </a:rPr>
              <a:t>notebook validation</a:t>
            </a:r>
          </a:p>
        </p:txBody>
      </p:sp>
      <p:sp>
        <p:nvSpPr>
          <p:cNvPr id="31" name="Rounded Rectangle 30"/>
          <p:cNvSpPr/>
          <p:nvPr/>
        </p:nvSpPr>
        <p:spPr>
          <a:xfrm>
            <a:off x="8074152" y="2752344"/>
            <a:ext cx="3374136" cy="1325880"/>
          </a:xfrm>
          <a:prstGeom prst="roundRect">
            <a:avLst>
              <a:gd name="adj" fmla="val 12000"/>
            </a:avLst>
          </a:prstGeom>
          <a:solidFill>
            <a:srgbClr val="EDF5FF"/>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83879" y="2871215"/>
            <a:ext cx="3154680" cy="539496"/>
          </a:xfrm>
          <a:prstGeom prst="rect">
            <a:avLst/>
          </a:prstGeom>
          <a:noFill/>
        </p:spPr>
        <p:txBody>
          <a:bodyPr wrap="square" lIns="9144" rIns="9144" tIns="0" bIns="0" anchor="ctr">
            <a:spAutoFit/>
          </a:bodyPr>
          <a:lstStyle/>
          <a:p>
            <a:pPr algn="ctr">
              <a:spcBef>
                <a:spcPts val="0"/>
              </a:spcBef>
              <a:spcAft>
                <a:spcPts val="0"/>
              </a:spcAft>
            </a:pPr>
            <a:r>
              <a:rPr sz="3700" b="1" i="0">
                <a:solidFill>
                  <a:srgbClr val="1769E0"/>
                </a:solidFill>
                <a:latin typeface="Aptos Display"/>
              </a:rPr>
              <a:t>17</a:t>
            </a:r>
          </a:p>
        </p:txBody>
      </p:sp>
      <p:sp>
        <p:nvSpPr>
          <p:cNvPr id="33" name="TextBox 32"/>
          <p:cNvSpPr txBox="1"/>
          <p:nvPr/>
        </p:nvSpPr>
        <p:spPr>
          <a:xfrm>
            <a:off x="8183879" y="3502151"/>
            <a:ext cx="3154680" cy="256032"/>
          </a:xfrm>
          <a:prstGeom prst="rect">
            <a:avLst/>
          </a:prstGeom>
          <a:noFill/>
        </p:spPr>
        <p:txBody>
          <a:bodyPr wrap="square" lIns="9144" rIns="9144" tIns="0" bIns="0" anchor="ctr">
            <a:spAutoFit/>
          </a:bodyPr>
          <a:lstStyle/>
          <a:p>
            <a:pPr algn="ctr">
              <a:spcBef>
                <a:spcPts val="0"/>
              </a:spcBef>
              <a:spcAft>
                <a:spcPts val="0"/>
              </a:spcAft>
            </a:pPr>
            <a:r>
              <a:rPr sz="1330" b="1" i="0">
                <a:solidFill>
                  <a:srgbClr val="0B2A4A"/>
                </a:solidFill>
                <a:latin typeface="Aptos"/>
              </a:rPr>
              <a:t>Landmark classes</a:t>
            </a:r>
          </a:p>
        </p:txBody>
      </p:sp>
      <p:sp>
        <p:nvSpPr>
          <p:cNvPr id="34" name="TextBox 33"/>
          <p:cNvSpPr txBox="1"/>
          <p:nvPr/>
        </p:nvSpPr>
        <p:spPr>
          <a:xfrm>
            <a:off x="8174736" y="3803904"/>
            <a:ext cx="3172968" cy="164592"/>
          </a:xfrm>
          <a:prstGeom prst="rect">
            <a:avLst/>
          </a:prstGeom>
          <a:noFill/>
        </p:spPr>
        <p:txBody>
          <a:bodyPr wrap="square" lIns="9144" rIns="9144" tIns="0" bIns="0" anchor="ctr">
            <a:spAutoFit/>
          </a:bodyPr>
          <a:lstStyle/>
          <a:p>
            <a:pPr algn="ctr">
              <a:spcBef>
                <a:spcPts val="0"/>
              </a:spcBef>
              <a:spcAft>
                <a:spcPts val="0"/>
              </a:spcAft>
            </a:pPr>
            <a:r>
              <a:rPr sz="950" b="0" i="0">
                <a:solidFill>
                  <a:srgbClr val="60738A"/>
                </a:solidFill>
                <a:latin typeface="Aptos"/>
              </a:rPr>
              <a:t>5,500 images in notebook</a:t>
            </a:r>
          </a:p>
        </p:txBody>
      </p:sp>
      <p:sp>
        <p:nvSpPr>
          <p:cNvPr id="35" name="TextBox 34"/>
          <p:cNvSpPr txBox="1"/>
          <p:nvPr/>
        </p:nvSpPr>
        <p:spPr>
          <a:xfrm>
            <a:off x="832104" y="4590288"/>
            <a:ext cx="3931920" cy="274320"/>
          </a:xfrm>
          <a:prstGeom prst="rect">
            <a:avLst/>
          </a:prstGeom>
          <a:noFill/>
        </p:spPr>
        <p:txBody>
          <a:bodyPr wrap="square" lIns="9144" rIns="9144" tIns="0" bIns="0" anchor="ctr">
            <a:spAutoFit/>
          </a:bodyPr>
          <a:lstStyle/>
          <a:p>
            <a:pPr algn="l">
              <a:spcBef>
                <a:spcPts val="0"/>
              </a:spcBef>
              <a:spcAft>
                <a:spcPts val="0"/>
              </a:spcAft>
            </a:pPr>
            <a:r>
              <a:rPr sz="1250" b="1" i="0">
                <a:solidFill>
                  <a:srgbClr val="1769E0"/>
                </a:solidFill>
                <a:latin typeface="Aptos"/>
              </a:rPr>
              <a:t>ADDITIONAL FEATURES</a:t>
            </a:r>
          </a:p>
        </p:txBody>
      </p:sp>
      <p:cxnSp>
        <p:nvCxnSpPr>
          <p:cNvPr id="36" name="Connector 35"/>
          <p:cNvCxnSpPr/>
          <p:nvPr/>
        </p:nvCxnSpPr>
        <p:spPr>
          <a:xfrm>
            <a:off x="832104" y="4910327"/>
            <a:ext cx="2651760" cy="0"/>
          </a:xfrm>
          <a:prstGeom prst="line">
            <a:avLst/>
          </a:prstGeom>
          <a:ln w="19050">
            <a:solidFill>
              <a:srgbClr val="1769E0"/>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23544" y="5120640"/>
            <a:ext cx="73152" cy="73152"/>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24712" y="5010912"/>
            <a:ext cx="10058400" cy="374904"/>
          </a:xfrm>
          <a:prstGeom prst="rect">
            <a:avLst/>
          </a:prstGeom>
          <a:noFill/>
        </p:spPr>
        <p:txBody>
          <a:bodyPr wrap="square" lIns="9144" rIns="9144" tIns="0" bIns="0" anchor="t">
            <a:spAutoFit/>
          </a:bodyPr>
          <a:lstStyle/>
          <a:p>
            <a:pPr algn="l">
              <a:spcBef>
                <a:spcPts val="0"/>
              </a:spcBef>
              <a:spcAft>
                <a:spcPts val="0"/>
              </a:spcAft>
            </a:pPr>
            <a:r>
              <a:rPr sz="1390" b="0" i="0">
                <a:solidFill>
                  <a:srgbClr val="1D2B3A"/>
                </a:solidFill>
                <a:latin typeface="Aptos"/>
              </a:rPr>
              <a:t>Low-confidence rejection; CSV-based visitor information; optional Gemini guide</a:t>
            </a:r>
          </a:p>
        </p:txBody>
      </p:sp>
      <p:sp>
        <p:nvSpPr>
          <p:cNvPr id="39" name="Rounded Rectangle 38"/>
          <p:cNvSpPr/>
          <p:nvPr/>
        </p:nvSpPr>
        <p:spPr>
          <a:xfrm>
            <a:off x="923544" y="5541264"/>
            <a:ext cx="73152" cy="73152"/>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712" y="5431536"/>
            <a:ext cx="10058400" cy="374904"/>
          </a:xfrm>
          <a:prstGeom prst="rect">
            <a:avLst/>
          </a:prstGeom>
          <a:noFill/>
        </p:spPr>
        <p:txBody>
          <a:bodyPr wrap="square" lIns="9144" rIns="9144" tIns="0" bIns="0" anchor="t">
            <a:spAutoFit/>
          </a:bodyPr>
          <a:lstStyle/>
          <a:p>
            <a:pPr algn="l">
              <a:spcBef>
                <a:spcPts val="0"/>
              </a:spcBef>
              <a:spcAft>
                <a:spcPts val="0"/>
              </a:spcAft>
            </a:pPr>
            <a:r>
              <a:rPr sz="1390" b="0" i="0">
                <a:solidFill>
                  <a:srgbClr val="1D2B3A"/>
                </a:solidFill>
                <a:latin typeface="Aptos"/>
              </a:rPr>
              <a:t>Runtime model feature extractor may differ from notebook training pipeline</a:t>
            </a:r>
          </a:p>
        </p:txBody>
      </p:sp>
      <p:sp>
        <p:nvSpPr>
          <p:cNvPr id="41" name="TextBox 40"/>
          <p:cNvSpPr txBox="1"/>
          <p:nvPr/>
        </p:nvSpPr>
        <p:spPr>
          <a:xfrm>
            <a:off x="850392" y="5989320"/>
            <a:ext cx="10341864" cy="265176"/>
          </a:xfrm>
          <a:prstGeom prst="rect">
            <a:avLst/>
          </a:prstGeom>
          <a:noFill/>
        </p:spPr>
        <p:txBody>
          <a:bodyPr wrap="square" lIns="9144" rIns="9144" tIns="0" bIns="0" anchor="ctr">
            <a:spAutoFit/>
          </a:bodyPr>
          <a:lstStyle/>
          <a:p>
            <a:pPr algn="l">
              <a:spcBef>
                <a:spcPts val="0"/>
              </a:spcBef>
              <a:spcAft>
                <a:spcPts val="0"/>
              </a:spcAft>
            </a:pPr>
            <a:r>
              <a:rPr sz="1180" b="1" i="0">
                <a:solidFill>
                  <a:srgbClr val="A7563B"/>
                </a:solidFill>
                <a:latin typeface="Aptos"/>
              </a:rPr>
              <a:t>EVALUATION LIMIT: independent test and deployed-artifact equivalence were not verified.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Integrated User Journeys</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15</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078992"/>
            <a:ext cx="10881360" cy="292608"/>
          </a:xfrm>
          <a:prstGeom prst="rect">
            <a:avLst/>
          </a:prstGeom>
          <a:noFill/>
        </p:spPr>
        <p:txBody>
          <a:bodyPr wrap="square" lIns="9144" rIns="9144" tIns="0" bIns="0" anchor="ctr">
            <a:spAutoFit/>
          </a:bodyPr>
          <a:lstStyle/>
          <a:p>
            <a:pPr algn="l">
              <a:spcBef>
                <a:spcPts val="0"/>
              </a:spcBef>
              <a:spcAft>
                <a:spcPts val="0"/>
              </a:spcAft>
            </a:pPr>
            <a:r>
              <a:rPr sz="1230" b="0" i="0">
                <a:solidFill>
                  <a:srgbClr val="60738A"/>
                </a:solidFill>
                <a:latin typeface="Aptos"/>
              </a:rPr>
              <a:t>Working interface/API handoffs confirmed from code; live end-to-end success rates were not rerun</a:t>
            </a:r>
          </a:p>
        </p:txBody>
      </p:sp>
      <p:sp>
        <p:nvSpPr>
          <p:cNvPr id="7" name="TextBox 6"/>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8" name="Rounded Rectangle 7"/>
          <p:cNvSpPr/>
          <p:nvPr/>
        </p:nvSpPr>
        <p:spPr>
          <a:xfrm>
            <a:off x="822960" y="1536192"/>
            <a:ext cx="10570464" cy="132588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691639"/>
            <a:ext cx="10003536" cy="329184"/>
          </a:xfrm>
          <a:prstGeom prst="rect">
            <a:avLst/>
          </a:prstGeom>
          <a:noFill/>
        </p:spPr>
        <p:txBody>
          <a:bodyPr wrap="square" lIns="9144" rIns="9144" tIns="0" bIns="0" anchor="ctr">
            <a:spAutoFit/>
          </a:bodyPr>
          <a:lstStyle/>
          <a:p>
            <a:pPr algn="l">
              <a:spcBef>
                <a:spcPts val="0"/>
              </a:spcBef>
              <a:spcAft>
                <a:spcPts val="0"/>
              </a:spcAft>
            </a:pPr>
            <a:r>
              <a:rPr sz="1700" b="1" i="0">
                <a:solidFill>
                  <a:srgbClr val="1769E0"/>
                </a:solidFill>
                <a:latin typeface="Aptos"/>
              </a:rPr>
              <a:t>Journey A · Hotel to Mobility</a:t>
            </a:r>
          </a:p>
        </p:txBody>
      </p:sp>
      <p:sp>
        <p:nvSpPr>
          <p:cNvPr id="10" name="TextBox 9"/>
          <p:cNvSpPr txBox="1"/>
          <p:nvPr/>
        </p:nvSpPr>
        <p:spPr>
          <a:xfrm>
            <a:off x="1033271" y="2093976"/>
            <a:ext cx="9902952" cy="301752"/>
          </a:xfrm>
          <a:prstGeom prst="rect">
            <a:avLst/>
          </a:prstGeom>
          <a:noFill/>
        </p:spPr>
        <p:txBody>
          <a:bodyPr wrap="square" lIns="9144" rIns="9144" tIns="0" bIns="0" anchor="ctr">
            <a:spAutoFit/>
          </a:bodyPr>
          <a:lstStyle/>
          <a:p>
            <a:pPr algn="l">
              <a:spcBef>
                <a:spcPts val="0"/>
              </a:spcBef>
              <a:spcAft>
                <a:spcPts val="0"/>
              </a:spcAft>
            </a:pPr>
            <a:r>
              <a:rPr sz="1420" b="1" i="0">
                <a:solidFill>
                  <a:srgbClr val="0B2A4A"/>
                </a:solidFill>
                <a:latin typeface="Aptos"/>
              </a:rPr>
              <a:t>Travel request  →  matching package  →  selected hotel  →  mobility</a:t>
            </a:r>
          </a:p>
        </p:txBody>
      </p:sp>
      <p:sp>
        <p:nvSpPr>
          <p:cNvPr id="11" name="TextBox 10"/>
          <p:cNvSpPr txBox="1"/>
          <p:nvPr/>
        </p:nvSpPr>
        <p:spPr>
          <a:xfrm>
            <a:off x="1033271" y="2496312"/>
            <a:ext cx="9930384" cy="228600"/>
          </a:xfrm>
          <a:prstGeom prst="rect">
            <a:avLst/>
          </a:prstGeom>
          <a:noFill/>
        </p:spPr>
        <p:txBody>
          <a:bodyPr wrap="square" lIns="9144" rIns="9144" tIns="0" bIns="0" anchor="ctr">
            <a:spAutoFit/>
          </a:bodyPr>
          <a:lstStyle/>
          <a:p>
            <a:pPr algn="l">
              <a:spcBef>
                <a:spcPts val="0"/>
              </a:spcBef>
              <a:spcAft>
                <a:spcPts val="0"/>
              </a:spcAft>
            </a:pPr>
            <a:r>
              <a:rPr sz="1220" b="0" i="0">
                <a:solidFill>
                  <a:srgbClr val="60738A"/>
                </a:solidFill>
                <a:latin typeface="Aptos"/>
              </a:rPr>
              <a:t>User selects package/hotel before checking suitable vehicle and travel context.</a:t>
            </a:r>
          </a:p>
        </p:txBody>
      </p:sp>
      <p:sp>
        <p:nvSpPr>
          <p:cNvPr id="12" name="Rounded Rectangle 11"/>
          <p:cNvSpPr/>
          <p:nvPr/>
        </p:nvSpPr>
        <p:spPr>
          <a:xfrm>
            <a:off x="822960" y="3090672"/>
            <a:ext cx="10570464" cy="132588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246120"/>
            <a:ext cx="10003536" cy="329184"/>
          </a:xfrm>
          <a:prstGeom prst="rect">
            <a:avLst/>
          </a:prstGeom>
          <a:noFill/>
        </p:spPr>
        <p:txBody>
          <a:bodyPr wrap="square" lIns="9144" rIns="9144" tIns="0" bIns="0" anchor="ctr">
            <a:spAutoFit/>
          </a:bodyPr>
          <a:lstStyle/>
          <a:p>
            <a:pPr algn="l">
              <a:spcBef>
                <a:spcPts val="0"/>
              </a:spcBef>
              <a:spcAft>
                <a:spcPts val="0"/>
              </a:spcAft>
            </a:pPr>
            <a:r>
              <a:rPr sz="1700" b="1" i="0">
                <a:solidFill>
                  <a:srgbClr val="146C94"/>
                </a:solidFill>
                <a:latin typeface="Aptos"/>
              </a:rPr>
              <a:t>Journey B · Itinerary to Safety</a:t>
            </a:r>
          </a:p>
        </p:txBody>
      </p:sp>
      <p:sp>
        <p:nvSpPr>
          <p:cNvPr id="14" name="TextBox 13"/>
          <p:cNvSpPr txBox="1"/>
          <p:nvPr/>
        </p:nvSpPr>
        <p:spPr>
          <a:xfrm>
            <a:off x="1033271" y="3648456"/>
            <a:ext cx="9902952" cy="301752"/>
          </a:xfrm>
          <a:prstGeom prst="rect">
            <a:avLst/>
          </a:prstGeom>
          <a:noFill/>
        </p:spPr>
        <p:txBody>
          <a:bodyPr wrap="square" lIns="9144" rIns="9144" tIns="0" bIns="0" anchor="ctr">
            <a:spAutoFit/>
          </a:bodyPr>
          <a:lstStyle/>
          <a:p>
            <a:pPr algn="l">
              <a:spcBef>
                <a:spcPts val="0"/>
              </a:spcBef>
              <a:spcAft>
                <a:spcPts val="0"/>
              </a:spcAft>
            </a:pPr>
            <a:r>
              <a:rPr sz="1420" b="1" i="0">
                <a:solidFill>
                  <a:srgbClr val="0B2A4A"/>
                </a:solidFill>
                <a:latin typeface="Aptos"/>
              </a:rPr>
              <a:t>Interests &amp; time  →  ordered stops  →  leg-by-leg evaluation  →  vehicle</a:t>
            </a:r>
          </a:p>
        </p:txBody>
      </p:sp>
      <p:sp>
        <p:nvSpPr>
          <p:cNvPr id="15" name="TextBox 14"/>
          <p:cNvSpPr txBox="1"/>
          <p:nvPr/>
        </p:nvSpPr>
        <p:spPr>
          <a:xfrm>
            <a:off x="1033271" y="4050791"/>
            <a:ext cx="9930384" cy="228600"/>
          </a:xfrm>
          <a:prstGeom prst="rect">
            <a:avLst/>
          </a:prstGeom>
          <a:noFill/>
        </p:spPr>
        <p:txBody>
          <a:bodyPr wrap="square" lIns="9144" rIns="9144" tIns="0" bIns="0" anchor="ctr">
            <a:spAutoFit/>
          </a:bodyPr>
          <a:lstStyle/>
          <a:p>
            <a:pPr algn="l">
              <a:spcBef>
                <a:spcPts val="0"/>
              </a:spcBef>
              <a:spcAft>
                <a:spcPts val="0"/>
              </a:spcAft>
            </a:pPr>
            <a:r>
              <a:rPr sz="1220" b="0" i="0">
                <a:solidFill>
                  <a:srgbClr val="60738A"/>
                </a:solidFill>
                <a:latin typeface="Aptos"/>
              </a:rPr>
              <a:t>Itinerary stop order becomes input for route-leg and whole-plan vehicle analysis.</a:t>
            </a:r>
          </a:p>
        </p:txBody>
      </p:sp>
      <p:sp>
        <p:nvSpPr>
          <p:cNvPr id="16" name="Rounded Rectangle 15"/>
          <p:cNvSpPr/>
          <p:nvPr/>
        </p:nvSpPr>
        <p:spPr>
          <a:xfrm>
            <a:off x="822960" y="4645152"/>
            <a:ext cx="10570464" cy="132588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4800600"/>
            <a:ext cx="10003536" cy="329184"/>
          </a:xfrm>
          <a:prstGeom prst="rect">
            <a:avLst/>
          </a:prstGeom>
          <a:noFill/>
        </p:spPr>
        <p:txBody>
          <a:bodyPr wrap="square" lIns="9144" rIns="9144" tIns="0" bIns="0" anchor="ctr">
            <a:spAutoFit/>
          </a:bodyPr>
          <a:lstStyle/>
          <a:p>
            <a:pPr algn="l">
              <a:spcBef>
                <a:spcPts val="0"/>
              </a:spcBef>
              <a:spcAft>
                <a:spcPts val="0"/>
              </a:spcAft>
            </a:pPr>
            <a:r>
              <a:rPr sz="1700" b="1" i="0">
                <a:solidFill>
                  <a:srgbClr val="1769E0"/>
                </a:solidFill>
                <a:latin typeface="Aptos"/>
              </a:rPr>
              <a:t>Journey C · Landmark Information</a:t>
            </a:r>
          </a:p>
        </p:txBody>
      </p:sp>
      <p:sp>
        <p:nvSpPr>
          <p:cNvPr id="18" name="TextBox 17"/>
          <p:cNvSpPr txBox="1"/>
          <p:nvPr/>
        </p:nvSpPr>
        <p:spPr>
          <a:xfrm>
            <a:off x="1033271" y="5202936"/>
            <a:ext cx="9902952" cy="301752"/>
          </a:xfrm>
          <a:prstGeom prst="rect">
            <a:avLst/>
          </a:prstGeom>
          <a:noFill/>
        </p:spPr>
        <p:txBody>
          <a:bodyPr wrap="square" lIns="9144" rIns="9144" tIns="0" bIns="0" anchor="ctr">
            <a:spAutoFit/>
          </a:bodyPr>
          <a:lstStyle/>
          <a:p>
            <a:pPr algn="l">
              <a:spcBef>
                <a:spcPts val="0"/>
              </a:spcBef>
              <a:spcAft>
                <a:spcPts val="0"/>
              </a:spcAft>
            </a:pPr>
            <a:r>
              <a:rPr sz="1420" b="1" i="0">
                <a:solidFill>
                  <a:srgbClr val="0B2A4A"/>
                </a:solidFill>
                <a:latin typeface="Aptos"/>
              </a:rPr>
              <a:t>Image  →  landmark prediction  →  mapped metadata  →  optional guide</a:t>
            </a:r>
          </a:p>
        </p:txBody>
      </p:sp>
      <p:sp>
        <p:nvSpPr>
          <p:cNvPr id="19" name="TextBox 18"/>
          <p:cNvSpPr txBox="1"/>
          <p:nvPr/>
        </p:nvSpPr>
        <p:spPr>
          <a:xfrm>
            <a:off x="1033271" y="5605272"/>
            <a:ext cx="9930384" cy="228600"/>
          </a:xfrm>
          <a:prstGeom prst="rect">
            <a:avLst/>
          </a:prstGeom>
          <a:noFill/>
        </p:spPr>
        <p:txBody>
          <a:bodyPr wrap="square" lIns="9144" rIns="9144" tIns="0" bIns="0" anchor="ctr">
            <a:spAutoFit/>
          </a:bodyPr>
          <a:lstStyle/>
          <a:p>
            <a:pPr algn="l">
              <a:spcBef>
                <a:spcPts val="0"/>
              </a:spcBef>
              <a:spcAft>
                <a:spcPts val="0"/>
              </a:spcAft>
            </a:pPr>
            <a:r>
              <a:rPr sz="1220" b="0" i="0">
                <a:solidFill>
                  <a:srgbClr val="60738A"/>
                </a:solidFill>
                <a:latin typeface="Aptos"/>
              </a:rPr>
              <a:t>Landmark support is a separate feature in shared app navigation.</a:t>
            </a:r>
          </a:p>
        </p:txBody>
      </p:sp>
      <p:sp>
        <p:nvSpPr>
          <p:cNvPr id="20" name="Rectangle 19"/>
          <p:cNvSpPr/>
          <p:nvPr/>
        </p:nvSpPr>
        <p:spPr>
          <a:xfrm>
            <a:off x="1024128" y="6263640"/>
            <a:ext cx="10149840" cy="9144"/>
          </a:xfrm>
          <a:prstGeom prst="rect">
            <a:avLst/>
          </a:prstGeom>
          <a:solidFill>
            <a:srgbClr val="D5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Results &amp; Evaluation Summary</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16</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078992"/>
            <a:ext cx="10881360" cy="292608"/>
          </a:xfrm>
          <a:prstGeom prst="rect">
            <a:avLst/>
          </a:prstGeom>
          <a:noFill/>
        </p:spPr>
        <p:txBody>
          <a:bodyPr wrap="square" lIns="9144" rIns="9144" tIns="0" bIns="0" anchor="ctr">
            <a:spAutoFit/>
          </a:bodyPr>
          <a:lstStyle/>
          <a:p>
            <a:pPr algn="l">
              <a:spcBef>
                <a:spcPts val="0"/>
              </a:spcBef>
              <a:spcAft>
                <a:spcPts val="0"/>
              </a:spcAft>
            </a:pPr>
            <a:r>
              <a:rPr sz="1230" b="0" i="0">
                <a:solidFill>
                  <a:srgbClr val="60738A"/>
                </a:solidFill>
                <a:latin typeface="Aptos"/>
              </a:rPr>
              <a:t>The four components have different evidence types — no overall platform accuracy is claimed</a:t>
            </a:r>
          </a:p>
        </p:txBody>
      </p:sp>
      <p:sp>
        <p:nvSpPr>
          <p:cNvPr id="7" name="TextBox 6"/>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8" name="Rounded Rectangle 7"/>
          <p:cNvSpPr/>
          <p:nvPr/>
        </p:nvSpPr>
        <p:spPr>
          <a:xfrm>
            <a:off x="722376" y="1408176"/>
            <a:ext cx="10753344" cy="530352"/>
          </a:xfrm>
          <a:prstGeom prst="roundRect">
            <a:avLst>
              <a:gd name="adj" fmla="val 12000"/>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517904"/>
            <a:ext cx="1920240" cy="274320"/>
          </a:xfrm>
          <a:prstGeom prst="rect">
            <a:avLst/>
          </a:prstGeom>
          <a:noFill/>
        </p:spPr>
        <p:txBody>
          <a:bodyPr wrap="square" lIns="9144" rIns="9144" tIns="0" bIns="0" anchor="ctr">
            <a:spAutoFit/>
          </a:bodyPr>
          <a:lstStyle/>
          <a:p>
            <a:pPr algn="l">
              <a:spcBef>
                <a:spcPts val="0"/>
              </a:spcBef>
              <a:spcAft>
                <a:spcPts val="0"/>
              </a:spcAft>
            </a:pPr>
            <a:r>
              <a:rPr sz="1190" b="1" i="0">
                <a:solidFill>
                  <a:srgbClr val="FFFFFF"/>
                </a:solidFill>
                <a:latin typeface="Aptos"/>
              </a:rPr>
              <a:t>COMPONENT</a:t>
            </a:r>
          </a:p>
        </p:txBody>
      </p:sp>
      <p:sp>
        <p:nvSpPr>
          <p:cNvPr id="10" name="TextBox 9"/>
          <p:cNvSpPr txBox="1"/>
          <p:nvPr/>
        </p:nvSpPr>
        <p:spPr>
          <a:xfrm>
            <a:off x="3017520" y="1517904"/>
            <a:ext cx="2578608" cy="274320"/>
          </a:xfrm>
          <a:prstGeom prst="rect">
            <a:avLst/>
          </a:prstGeom>
          <a:noFill/>
        </p:spPr>
        <p:txBody>
          <a:bodyPr wrap="square" lIns="9144" rIns="9144" tIns="0" bIns="0" anchor="ctr">
            <a:spAutoFit/>
          </a:bodyPr>
          <a:lstStyle/>
          <a:p>
            <a:pPr algn="l">
              <a:spcBef>
                <a:spcPts val="0"/>
              </a:spcBef>
              <a:spcAft>
                <a:spcPts val="0"/>
              </a:spcAft>
            </a:pPr>
            <a:r>
              <a:rPr sz="1190" b="1" i="0">
                <a:solidFill>
                  <a:srgbClr val="FFFFFF"/>
                </a:solidFill>
                <a:latin typeface="Aptos"/>
              </a:rPr>
              <a:t>METHOD</a:t>
            </a:r>
          </a:p>
        </p:txBody>
      </p:sp>
      <p:sp>
        <p:nvSpPr>
          <p:cNvPr id="11" name="TextBox 10"/>
          <p:cNvSpPr txBox="1"/>
          <p:nvPr/>
        </p:nvSpPr>
        <p:spPr>
          <a:xfrm>
            <a:off x="5916168" y="1517904"/>
            <a:ext cx="2249424" cy="274320"/>
          </a:xfrm>
          <a:prstGeom prst="rect">
            <a:avLst/>
          </a:prstGeom>
          <a:noFill/>
        </p:spPr>
        <p:txBody>
          <a:bodyPr wrap="square" lIns="9144" rIns="9144" tIns="0" bIns="0" anchor="ctr">
            <a:spAutoFit/>
          </a:bodyPr>
          <a:lstStyle/>
          <a:p>
            <a:pPr algn="l">
              <a:spcBef>
                <a:spcPts val="0"/>
              </a:spcBef>
              <a:spcAft>
                <a:spcPts val="0"/>
              </a:spcAft>
            </a:pPr>
            <a:r>
              <a:rPr sz="1190" b="1" i="0">
                <a:solidFill>
                  <a:srgbClr val="FFFFFF"/>
                </a:solidFill>
                <a:latin typeface="Aptos"/>
              </a:rPr>
              <a:t>STRONGEST STORED EVIDENCE</a:t>
            </a:r>
          </a:p>
        </p:txBody>
      </p:sp>
      <p:sp>
        <p:nvSpPr>
          <p:cNvPr id="12" name="TextBox 11"/>
          <p:cNvSpPr txBox="1"/>
          <p:nvPr/>
        </p:nvSpPr>
        <p:spPr>
          <a:xfrm>
            <a:off x="8385048" y="1517904"/>
            <a:ext cx="2432304" cy="274320"/>
          </a:xfrm>
          <a:prstGeom prst="rect">
            <a:avLst/>
          </a:prstGeom>
          <a:noFill/>
        </p:spPr>
        <p:txBody>
          <a:bodyPr wrap="square" lIns="9144" rIns="9144" tIns="0" bIns="0" anchor="ctr">
            <a:spAutoFit/>
          </a:bodyPr>
          <a:lstStyle/>
          <a:p>
            <a:pPr algn="l">
              <a:spcBef>
                <a:spcPts val="0"/>
              </a:spcBef>
              <a:spcAft>
                <a:spcPts val="0"/>
              </a:spcAft>
            </a:pPr>
            <a:r>
              <a:rPr sz="1190" b="1" i="0">
                <a:solidFill>
                  <a:srgbClr val="FFFFFF"/>
                </a:solidFill>
                <a:latin typeface="Aptos"/>
              </a:rPr>
              <a:t>INTERPRETATION</a:t>
            </a:r>
          </a:p>
        </p:txBody>
      </p:sp>
      <p:sp>
        <p:nvSpPr>
          <p:cNvPr id="13" name="Rounded Rectangle 12"/>
          <p:cNvSpPr/>
          <p:nvPr/>
        </p:nvSpPr>
        <p:spPr>
          <a:xfrm>
            <a:off x="731520" y="2066543"/>
            <a:ext cx="10735056" cy="786384"/>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8952" y="2130551"/>
            <a:ext cx="54864" cy="64008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6" y="2194560"/>
            <a:ext cx="1938528" cy="438912"/>
          </a:xfrm>
          <a:prstGeom prst="rect">
            <a:avLst/>
          </a:prstGeom>
          <a:noFill/>
        </p:spPr>
        <p:txBody>
          <a:bodyPr wrap="square" lIns="9144" rIns="9144" tIns="0" bIns="0" anchor="ctr">
            <a:spAutoFit/>
          </a:bodyPr>
          <a:lstStyle/>
          <a:p>
            <a:pPr algn="l">
              <a:spcBef>
                <a:spcPts val="0"/>
              </a:spcBef>
              <a:spcAft>
                <a:spcPts val="0"/>
              </a:spcAft>
            </a:pPr>
            <a:r>
              <a:rPr sz="1470" b="1" i="0">
                <a:solidFill>
                  <a:srgbClr val="0B2A4A"/>
                </a:solidFill>
                <a:latin typeface="Aptos"/>
              </a:rPr>
              <a:t>C1 · Packages</a:t>
            </a:r>
          </a:p>
        </p:txBody>
      </p:sp>
      <p:sp>
        <p:nvSpPr>
          <p:cNvPr id="16" name="TextBox 15"/>
          <p:cNvSpPr txBox="1"/>
          <p:nvPr/>
        </p:nvSpPr>
        <p:spPr>
          <a:xfrm>
            <a:off x="3044952" y="2194560"/>
            <a:ext cx="2724912" cy="438912"/>
          </a:xfrm>
          <a:prstGeom prst="rect">
            <a:avLst/>
          </a:prstGeom>
          <a:noFill/>
        </p:spPr>
        <p:txBody>
          <a:bodyPr wrap="square" lIns="9144" rIns="9144" tIns="0" bIns="0" anchor="ctr">
            <a:spAutoFit/>
          </a:bodyPr>
          <a:lstStyle/>
          <a:p>
            <a:pPr algn="l">
              <a:spcBef>
                <a:spcPts val="0"/>
              </a:spcBef>
              <a:spcAft>
                <a:spcPts val="0"/>
              </a:spcAft>
            </a:pPr>
            <a:r>
              <a:rPr sz="1380" b="0" i="0">
                <a:solidFill>
                  <a:srgbClr val="1D2B3A"/>
                </a:solidFill>
                <a:latin typeface="Aptos"/>
              </a:rPr>
              <a:t>Graph retrieval &amp; rules</a:t>
            </a:r>
          </a:p>
        </p:txBody>
      </p:sp>
      <p:sp>
        <p:nvSpPr>
          <p:cNvPr id="17" name="TextBox 16"/>
          <p:cNvSpPr txBox="1"/>
          <p:nvPr/>
        </p:nvSpPr>
        <p:spPr>
          <a:xfrm>
            <a:off x="5907024" y="2185415"/>
            <a:ext cx="2304288" cy="484632"/>
          </a:xfrm>
          <a:prstGeom prst="rect">
            <a:avLst/>
          </a:prstGeom>
          <a:noFill/>
        </p:spPr>
        <p:txBody>
          <a:bodyPr wrap="square" lIns="9144" rIns="9144" tIns="0" bIns="0" anchor="ctr">
            <a:spAutoFit/>
          </a:bodyPr>
          <a:lstStyle/>
          <a:p>
            <a:pPr algn="l">
              <a:spcBef>
                <a:spcPts val="0"/>
              </a:spcBef>
              <a:spcAft>
                <a:spcPts val="0"/>
              </a:spcAft>
            </a:pPr>
            <a:r>
              <a:rPr sz="1330" b="1" i="0">
                <a:solidFill>
                  <a:srgbClr val="1769E0"/>
                </a:solidFill>
                <a:latin typeface="Aptos"/>
              </a:rPr>
              <a:t>1,830 hotels + 2,000 activities</a:t>
            </a:r>
          </a:p>
        </p:txBody>
      </p:sp>
      <p:sp>
        <p:nvSpPr>
          <p:cNvPr id="18" name="TextBox 17"/>
          <p:cNvSpPr txBox="1"/>
          <p:nvPr/>
        </p:nvSpPr>
        <p:spPr>
          <a:xfrm>
            <a:off x="8375904" y="2185415"/>
            <a:ext cx="2679192" cy="484632"/>
          </a:xfrm>
          <a:prstGeom prst="rect">
            <a:avLst/>
          </a:prstGeom>
          <a:noFill/>
        </p:spPr>
        <p:txBody>
          <a:bodyPr wrap="square" lIns="9144" rIns="9144" tIns="0" bIns="0" anchor="ctr">
            <a:spAutoFit/>
          </a:bodyPr>
          <a:lstStyle/>
          <a:p>
            <a:pPr algn="l">
              <a:spcBef>
                <a:spcPts val="0"/>
              </a:spcBef>
              <a:spcAft>
                <a:spcPts val="0"/>
              </a:spcAft>
            </a:pPr>
            <a:r>
              <a:rPr sz="1280" b="0" i="0">
                <a:solidFill>
                  <a:srgbClr val="60738A"/>
                </a:solidFill>
                <a:latin typeface="Aptos"/>
              </a:rPr>
              <a:t>Dataset coverage; not accuracy</a:t>
            </a:r>
          </a:p>
        </p:txBody>
      </p:sp>
      <p:sp>
        <p:nvSpPr>
          <p:cNvPr id="19" name="Rounded Rectangle 18"/>
          <p:cNvSpPr/>
          <p:nvPr/>
        </p:nvSpPr>
        <p:spPr>
          <a:xfrm>
            <a:off x="731520" y="2962656"/>
            <a:ext cx="10735056" cy="786384"/>
          </a:xfrm>
          <a:prstGeom prst="roundRect">
            <a:avLst>
              <a:gd name="adj" fmla="val 12000"/>
            </a:avLst>
          </a:prstGeom>
          <a:solidFill>
            <a:srgbClr val="FFFFFF"/>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58952" y="3026663"/>
            <a:ext cx="54864" cy="64008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3090672"/>
            <a:ext cx="1938528" cy="438912"/>
          </a:xfrm>
          <a:prstGeom prst="rect">
            <a:avLst/>
          </a:prstGeom>
          <a:noFill/>
        </p:spPr>
        <p:txBody>
          <a:bodyPr wrap="square" lIns="9144" rIns="9144" tIns="0" bIns="0" anchor="ctr">
            <a:spAutoFit/>
          </a:bodyPr>
          <a:lstStyle/>
          <a:p>
            <a:pPr algn="l">
              <a:spcBef>
                <a:spcPts val="0"/>
              </a:spcBef>
              <a:spcAft>
                <a:spcPts val="0"/>
              </a:spcAft>
            </a:pPr>
            <a:r>
              <a:rPr sz="1470" b="1" i="0">
                <a:solidFill>
                  <a:srgbClr val="0B2A4A"/>
                </a:solidFill>
                <a:latin typeface="Aptos"/>
              </a:rPr>
              <a:t>C2 · Mobility</a:t>
            </a:r>
          </a:p>
        </p:txBody>
      </p:sp>
      <p:sp>
        <p:nvSpPr>
          <p:cNvPr id="22" name="TextBox 21"/>
          <p:cNvSpPr txBox="1"/>
          <p:nvPr/>
        </p:nvSpPr>
        <p:spPr>
          <a:xfrm>
            <a:off x="3044952" y="3090672"/>
            <a:ext cx="2724912" cy="438912"/>
          </a:xfrm>
          <a:prstGeom prst="rect">
            <a:avLst/>
          </a:prstGeom>
          <a:noFill/>
        </p:spPr>
        <p:txBody>
          <a:bodyPr wrap="square" lIns="9144" rIns="9144" tIns="0" bIns="0" anchor="ctr">
            <a:spAutoFit/>
          </a:bodyPr>
          <a:lstStyle/>
          <a:p>
            <a:pPr algn="l">
              <a:spcBef>
                <a:spcPts val="0"/>
              </a:spcBef>
              <a:spcAft>
                <a:spcPts val="0"/>
              </a:spcAft>
            </a:pPr>
            <a:r>
              <a:rPr sz="1380" b="0" i="0">
                <a:solidFill>
                  <a:srgbClr val="1D2B3A"/>
                </a:solidFill>
                <a:latin typeface="Aptos"/>
              </a:rPr>
              <a:t>Gradient Boosting</a:t>
            </a:r>
          </a:p>
        </p:txBody>
      </p:sp>
      <p:sp>
        <p:nvSpPr>
          <p:cNvPr id="23" name="TextBox 22"/>
          <p:cNvSpPr txBox="1"/>
          <p:nvPr/>
        </p:nvSpPr>
        <p:spPr>
          <a:xfrm>
            <a:off x="5907024" y="3081527"/>
            <a:ext cx="2304288" cy="484632"/>
          </a:xfrm>
          <a:prstGeom prst="rect">
            <a:avLst/>
          </a:prstGeom>
          <a:noFill/>
        </p:spPr>
        <p:txBody>
          <a:bodyPr wrap="square" lIns="9144" rIns="9144" tIns="0" bIns="0" anchor="ctr">
            <a:spAutoFit/>
          </a:bodyPr>
          <a:lstStyle/>
          <a:p>
            <a:pPr algn="l">
              <a:spcBef>
                <a:spcPts val="0"/>
              </a:spcBef>
              <a:spcAft>
                <a:spcPts val="0"/>
              </a:spcAft>
            </a:pPr>
            <a:r>
              <a:rPr sz="1330" b="1" i="0">
                <a:solidFill>
                  <a:srgbClr val="1769E0"/>
                </a:solidFill>
                <a:latin typeface="Aptos"/>
              </a:rPr>
              <a:t>88.20% accuracy · 0.8780 macro-F1</a:t>
            </a:r>
          </a:p>
        </p:txBody>
      </p:sp>
      <p:sp>
        <p:nvSpPr>
          <p:cNvPr id="24" name="TextBox 23"/>
          <p:cNvSpPr txBox="1"/>
          <p:nvPr/>
        </p:nvSpPr>
        <p:spPr>
          <a:xfrm>
            <a:off x="8375904" y="3081527"/>
            <a:ext cx="2679192" cy="484632"/>
          </a:xfrm>
          <a:prstGeom prst="rect">
            <a:avLst/>
          </a:prstGeom>
          <a:noFill/>
        </p:spPr>
        <p:txBody>
          <a:bodyPr wrap="square" lIns="9144" rIns="9144" tIns="0" bIns="0" anchor="ctr">
            <a:spAutoFit/>
          </a:bodyPr>
          <a:lstStyle/>
          <a:p>
            <a:pPr algn="l">
              <a:spcBef>
                <a:spcPts val="0"/>
              </a:spcBef>
              <a:spcAft>
                <a:spcPts val="0"/>
              </a:spcAft>
            </a:pPr>
            <a:r>
              <a:rPr sz="1280" b="0" i="0">
                <a:solidFill>
                  <a:srgbClr val="60738A"/>
                </a:solidFill>
                <a:latin typeface="Aptos"/>
              </a:rPr>
              <a:t>Route-group holdout labels</a:t>
            </a:r>
          </a:p>
        </p:txBody>
      </p:sp>
      <p:sp>
        <p:nvSpPr>
          <p:cNvPr id="25" name="Rounded Rectangle 24"/>
          <p:cNvSpPr/>
          <p:nvPr/>
        </p:nvSpPr>
        <p:spPr>
          <a:xfrm>
            <a:off x="731520" y="3858768"/>
            <a:ext cx="10735056" cy="786384"/>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58952" y="3922776"/>
            <a:ext cx="54864" cy="64008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5256" y="3986783"/>
            <a:ext cx="1938528" cy="438912"/>
          </a:xfrm>
          <a:prstGeom prst="rect">
            <a:avLst/>
          </a:prstGeom>
          <a:noFill/>
        </p:spPr>
        <p:txBody>
          <a:bodyPr wrap="square" lIns="9144" rIns="9144" tIns="0" bIns="0" anchor="ctr">
            <a:spAutoFit/>
          </a:bodyPr>
          <a:lstStyle/>
          <a:p>
            <a:pPr algn="l">
              <a:spcBef>
                <a:spcPts val="0"/>
              </a:spcBef>
              <a:spcAft>
                <a:spcPts val="0"/>
              </a:spcAft>
            </a:pPr>
            <a:r>
              <a:rPr sz="1470" b="1" i="0">
                <a:solidFill>
                  <a:srgbClr val="0B2A4A"/>
                </a:solidFill>
                <a:latin typeface="Aptos"/>
              </a:rPr>
              <a:t>C3 · Itinerary</a:t>
            </a:r>
          </a:p>
        </p:txBody>
      </p:sp>
      <p:sp>
        <p:nvSpPr>
          <p:cNvPr id="28" name="TextBox 27"/>
          <p:cNvSpPr txBox="1"/>
          <p:nvPr/>
        </p:nvSpPr>
        <p:spPr>
          <a:xfrm>
            <a:off x="3044952" y="3986783"/>
            <a:ext cx="2724912" cy="438912"/>
          </a:xfrm>
          <a:prstGeom prst="rect">
            <a:avLst/>
          </a:prstGeom>
          <a:noFill/>
        </p:spPr>
        <p:txBody>
          <a:bodyPr wrap="square" lIns="9144" rIns="9144" tIns="0" bIns="0" anchor="ctr">
            <a:spAutoFit/>
          </a:bodyPr>
          <a:lstStyle/>
          <a:p>
            <a:pPr algn="l">
              <a:spcBef>
                <a:spcPts val="0"/>
              </a:spcBef>
              <a:spcAft>
                <a:spcPts val="0"/>
              </a:spcAft>
            </a:pPr>
            <a:r>
              <a:rPr sz="1380" b="0" i="0">
                <a:solidFill>
                  <a:srgbClr val="1D2B3A"/>
                </a:solidFill>
                <a:latin typeface="Aptos"/>
              </a:rPr>
              <a:t>SVM / GA / road schedule</a:t>
            </a:r>
          </a:p>
        </p:txBody>
      </p:sp>
      <p:sp>
        <p:nvSpPr>
          <p:cNvPr id="29" name="TextBox 28"/>
          <p:cNvSpPr txBox="1"/>
          <p:nvPr/>
        </p:nvSpPr>
        <p:spPr>
          <a:xfrm>
            <a:off x="5907024" y="3977639"/>
            <a:ext cx="2304288" cy="484632"/>
          </a:xfrm>
          <a:prstGeom prst="rect">
            <a:avLst/>
          </a:prstGeom>
          <a:noFill/>
        </p:spPr>
        <p:txBody>
          <a:bodyPr wrap="square" lIns="9144" rIns="9144" tIns="0" bIns="0" anchor="ctr">
            <a:spAutoFit/>
          </a:bodyPr>
          <a:lstStyle/>
          <a:p>
            <a:pPr algn="l">
              <a:spcBef>
                <a:spcPts val="0"/>
              </a:spcBef>
              <a:spcAft>
                <a:spcPts val="0"/>
              </a:spcAft>
            </a:pPr>
            <a:r>
              <a:rPr sz="1330" b="1" i="0">
                <a:solidFill>
                  <a:srgbClr val="1769E0"/>
                </a:solidFill>
                <a:latin typeface="Aptos"/>
              </a:rPr>
              <a:t>68.33% relevance accuracy</a:t>
            </a:r>
          </a:p>
        </p:txBody>
      </p:sp>
      <p:sp>
        <p:nvSpPr>
          <p:cNvPr id="30" name="TextBox 29"/>
          <p:cNvSpPr txBox="1"/>
          <p:nvPr/>
        </p:nvSpPr>
        <p:spPr>
          <a:xfrm>
            <a:off x="8375904" y="3977639"/>
            <a:ext cx="2679192" cy="484632"/>
          </a:xfrm>
          <a:prstGeom prst="rect">
            <a:avLst/>
          </a:prstGeom>
          <a:noFill/>
        </p:spPr>
        <p:txBody>
          <a:bodyPr wrap="square" lIns="9144" rIns="9144" tIns="0" bIns="0" anchor="ctr">
            <a:spAutoFit/>
          </a:bodyPr>
          <a:lstStyle/>
          <a:p>
            <a:pPr algn="l">
              <a:spcBef>
                <a:spcPts val="0"/>
              </a:spcBef>
              <a:spcAft>
                <a:spcPts val="0"/>
              </a:spcAft>
            </a:pPr>
            <a:r>
              <a:rPr sz="1280" b="0" i="0">
                <a:solidFill>
                  <a:srgbClr val="60738A"/>
                </a:solidFill>
                <a:latin typeface="Aptos"/>
              </a:rPr>
              <a:t>Narrow human-reviewed evaluation</a:t>
            </a:r>
          </a:p>
        </p:txBody>
      </p:sp>
      <p:sp>
        <p:nvSpPr>
          <p:cNvPr id="31" name="Rounded Rectangle 30"/>
          <p:cNvSpPr/>
          <p:nvPr/>
        </p:nvSpPr>
        <p:spPr>
          <a:xfrm>
            <a:off x="731520" y="4754879"/>
            <a:ext cx="10735056" cy="786384"/>
          </a:xfrm>
          <a:prstGeom prst="roundRect">
            <a:avLst>
              <a:gd name="adj" fmla="val 12000"/>
            </a:avLst>
          </a:prstGeom>
          <a:solidFill>
            <a:srgbClr val="FFFFFF"/>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58952" y="4818888"/>
            <a:ext cx="54864" cy="64008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5256" y="4882895"/>
            <a:ext cx="1938528" cy="438912"/>
          </a:xfrm>
          <a:prstGeom prst="rect">
            <a:avLst/>
          </a:prstGeom>
          <a:noFill/>
        </p:spPr>
        <p:txBody>
          <a:bodyPr wrap="square" lIns="9144" rIns="9144" tIns="0" bIns="0" anchor="ctr">
            <a:spAutoFit/>
          </a:bodyPr>
          <a:lstStyle/>
          <a:p>
            <a:pPr algn="l">
              <a:spcBef>
                <a:spcPts val="0"/>
              </a:spcBef>
              <a:spcAft>
                <a:spcPts val="0"/>
              </a:spcAft>
            </a:pPr>
            <a:r>
              <a:rPr sz="1470" b="1" i="0">
                <a:solidFill>
                  <a:srgbClr val="0B2A4A"/>
                </a:solidFill>
                <a:latin typeface="Aptos"/>
              </a:rPr>
              <a:t>C4 · Landmark</a:t>
            </a:r>
          </a:p>
        </p:txBody>
      </p:sp>
      <p:sp>
        <p:nvSpPr>
          <p:cNvPr id="34" name="TextBox 33"/>
          <p:cNvSpPr txBox="1"/>
          <p:nvPr/>
        </p:nvSpPr>
        <p:spPr>
          <a:xfrm>
            <a:off x="3044952" y="4882895"/>
            <a:ext cx="2724912" cy="438912"/>
          </a:xfrm>
          <a:prstGeom prst="rect">
            <a:avLst/>
          </a:prstGeom>
          <a:noFill/>
        </p:spPr>
        <p:txBody>
          <a:bodyPr wrap="square" lIns="9144" rIns="9144" tIns="0" bIns="0" anchor="ctr">
            <a:spAutoFit/>
          </a:bodyPr>
          <a:lstStyle/>
          <a:p>
            <a:pPr algn="l">
              <a:spcBef>
                <a:spcPts val="0"/>
              </a:spcBef>
              <a:spcAft>
                <a:spcPts val="0"/>
              </a:spcAft>
            </a:pPr>
            <a:r>
              <a:rPr sz="1380" b="0" i="0">
                <a:solidFill>
                  <a:srgbClr val="1D2B3A"/>
                </a:solidFill>
                <a:latin typeface="Aptos"/>
              </a:rPr>
              <a:t>MobileNetV2 features + SVM</a:t>
            </a:r>
          </a:p>
        </p:txBody>
      </p:sp>
      <p:sp>
        <p:nvSpPr>
          <p:cNvPr id="35" name="TextBox 34"/>
          <p:cNvSpPr txBox="1"/>
          <p:nvPr/>
        </p:nvSpPr>
        <p:spPr>
          <a:xfrm>
            <a:off x="5907024" y="4873751"/>
            <a:ext cx="2304288" cy="484632"/>
          </a:xfrm>
          <a:prstGeom prst="rect">
            <a:avLst/>
          </a:prstGeom>
          <a:noFill/>
        </p:spPr>
        <p:txBody>
          <a:bodyPr wrap="square" lIns="9144" rIns="9144" tIns="0" bIns="0" anchor="ctr">
            <a:spAutoFit/>
          </a:bodyPr>
          <a:lstStyle/>
          <a:p>
            <a:pPr algn="l">
              <a:spcBef>
                <a:spcPts val="0"/>
              </a:spcBef>
              <a:spcAft>
                <a:spcPts val="0"/>
              </a:spcAft>
            </a:pPr>
            <a:r>
              <a:rPr sz="1330" b="1" i="0">
                <a:solidFill>
                  <a:srgbClr val="1769E0"/>
                </a:solidFill>
                <a:latin typeface="Aptos"/>
              </a:rPr>
              <a:t>93.18% accuracy</a:t>
            </a:r>
          </a:p>
        </p:txBody>
      </p:sp>
      <p:sp>
        <p:nvSpPr>
          <p:cNvPr id="36" name="TextBox 35"/>
          <p:cNvSpPr txBox="1"/>
          <p:nvPr/>
        </p:nvSpPr>
        <p:spPr>
          <a:xfrm>
            <a:off x="8375904" y="4873751"/>
            <a:ext cx="2679192" cy="484632"/>
          </a:xfrm>
          <a:prstGeom prst="rect">
            <a:avLst/>
          </a:prstGeom>
          <a:noFill/>
        </p:spPr>
        <p:txBody>
          <a:bodyPr wrap="square" lIns="9144" rIns="9144" tIns="0" bIns="0" anchor="ctr">
            <a:spAutoFit/>
          </a:bodyPr>
          <a:lstStyle/>
          <a:p>
            <a:pPr algn="l">
              <a:spcBef>
                <a:spcPts val="0"/>
              </a:spcBef>
              <a:spcAft>
                <a:spcPts val="0"/>
              </a:spcAft>
            </a:pPr>
            <a:r>
              <a:rPr sz="1280" b="0" i="0">
                <a:solidFill>
                  <a:srgbClr val="60738A"/>
                </a:solidFill>
                <a:latin typeface="Aptos"/>
              </a:rPr>
              <a:t>Notebook validation only</a:t>
            </a:r>
          </a:p>
        </p:txBody>
      </p:sp>
      <p:sp>
        <p:nvSpPr>
          <p:cNvPr id="37" name="Rounded Rectangle 36"/>
          <p:cNvSpPr/>
          <p:nvPr/>
        </p:nvSpPr>
        <p:spPr>
          <a:xfrm>
            <a:off x="758952" y="5971032"/>
            <a:ext cx="10689336" cy="365760"/>
          </a:xfrm>
          <a:prstGeom prst="roundRect">
            <a:avLst>
              <a:gd name="adj" fmla="val 12000"/>
            </a:avLst>
          </a:prstGeom>
          <a:solidFill>
            <a:srgbClr val="ED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9264" y="6016752"/>
            <a:ext cx="10259568" cy="265176"/>
          </a:xfrm>
          <a:prstGeom prst="rect">
            <a:avLst/>
          </a:prstGeom>
          <a:noFill/>
        </p:spPr>
        <p:txBody>
          <a:bodyPr wrap="square" lIns="9144" rIns="9144" tIns="0" bIns="0" anchor="ctr">
            <a:spAutoFit/>
          </a:bodyPr>
          <a:lstStyle/>
          <a:p>
            <a:pPr algn="ctr">
              <a:spcBef>
                <a:spcPts val="0"/>
              </a:spcBef>
              <a:spcAft>
                <a:spcPts val="0"/>
              </a:spcAft>
            </a:pPr>
            <a:r>
              <a:rPr sz="1260" b="1" i="0">
                <a:solidFill>
                  <a:srgbClr val="1769E0"/>
                </a:solidFill>
                <a:latin typeface="Aptos"/>
              </a:rPr>
              <a:t>Model metrics, catalogue sizes and simulated test cases are reported separately for scientific validity.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Commercialization &amp; Practical Value</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17</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078992"/>
            <a:ext cx="10881360" cy="292608"/>
          </a:xfrm>
          <a:prstGeom prst="rect">
            <a:avLst/>
          </a:prstGeom>
          <a:noFill/>
        </p:spPr>
        <p:txBody>
          <a:bodyPr wrap="square" lIns="9144" rIns="9144" tIns="0" bIns="0" anchor="ctr">
            <a:spAutoFit/>
          </a:bodyPr>
          <a:lstStyle/>
          <a:p>
            <a:pPr algn="l">
              <a:spcBef>
                <a:spcPts val="0"/>
              </a:spcBef>
              <a:spcAft>
                <a:spcPts val="0"/>
              </a:spcAft>
            </a:pPr>
            <a:r>
              <a:rPr sz="1230" b="0" i="0">
                <a:solidFill>
                  <a:srgbClr val="60738A"/>
                </a:solidFill>
                <a:latin typeface="Aptos"/>
              </a:rPr>
              <a:t>Market and revenue pathways are proposals rather than validated commercial outcomes</a:t>
            </a:r>
          </a:p>
        </p:txBody>
      </p:sp>
      <p:sp>
        <p:nvSpPr>
          <p:cNvPr id="7" name="TextBox 6"/>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8" name="Rounded Rectangle 7"/>
          <p:cNvSpPr/>
          <p:nvPr/>
        </p:nvSpPr>
        <p:spPr>
          <a:xfrm>
            <a:off x="786384" y="1655064"/>
            <a:ext cx="3511296" cy="3456432"/>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69264" y="1920240"/>
            <a:ext cx="3108960" cy="82296"/>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139696"/>
            <a:ext cx="3090672" cy="612648"/>
          </a:xfrm>
          <a:prstGeom prst="rect">
            <a:avLst/>
          </a:prstGeom>
          <a:noFill/>
        </p:spPr>
        <p:txBody>
          <a:bodyPr wrap="square" lIns="9144" rIns="9144" tIns="0" bIns="0" anchor="t">
            <a:spAutoFit/>
          </a:bodyPr>
          <a:lstStyle/>
          <a:p>
            <a:pPr algn="l">
              <a:spcBef>
                <a:spcPts val="0"/>
              </a:spcBef>
              <a:spcAft>
                <a:spcPts val="0"/>
              </a:spcAft>
            </a:pPr>
            <a:r>
              <a:rPr sz="1900" b="1" i="0">
                <a:solidFill>
                  <a:srgbClr val="0B2A4A"/>
                </a:solidFill>
                <a:latin typeface="Aptos"/>
              </a:rPr>
              <a:t>Target users</a:t>
            </a:r>
          </a:p>
        </p:txBody>
      </p:sp>
      <p:sp>
        <p:nvSpPr>
          <p:cNvPr id="11" name="Rounded Rectangle 10"/>
          <p:cNvSpPr/>
          <p:nvPr/>
        </p:nvSpPr>
        <p:spPr>
          <a:xfrm>
            <a:off x="1005840" y="3081528"/>
            <a:ext cx="64008" cy="6400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3008376"/>
            <a:ext cx="2834640" cy="557784"/>
          </a:xfrm>
          <a:prstGeom prst="rect">
            <a:avLst/>
          </a:prstGeom>
          <a:noFill/>
        </p:spPr>
        <p:txBody>
          <a:bodyPr wrap="square" lIns="9144" rIns="9144" tIns="0" bIns="0" anchor="t">
            <a:spAutoFit/>
          </a:bodyPr>
          <a:lstStyle/>
          <a:p>
            <a:pPr algn="l">
              <a:spcBef>
                <a:spcPts val="0"/>
              </a:spcBef>
              <a:spcAft>
                <a:spcPts val="0"/>
              </a:spcAft>
            </a:pPr>
            <a:r>
              <a:rPr sz="1350" b="0" i="0">
                <a:solidFill>
                  <a:srgbClr val="1D2B3A"/>
                </a:solidFill>
                <a:latin typeface="Aptos"/>
              </a:rPr>
              <a:t>Sri Lankan and international travellers</a:t>
            </a:r>
          </a:p>
        </p:txBody>
      </p:sp>
      <p:sp>
        <p:nvSpPr>
          <p:cNvPr id="13" name="Rounded Rectangle 12"/>
          <p:cNvSpPr/>
          <p:nvPr/>
        </p:nvSpPr>
        <p:spPr>
          <a:xfrm>
            <a:off x="1005840" y="3721608"/>
            <a:ext cx="64008" cy="6400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3648456"/>
            <a:ext cx="2834640" cy="557784"/>
          </a:xfrm>
          <a:prstGeom prst="rect">
            <a:avLst/>
          </a:prstGeom>
          <a:noFill/>
        </p:spPr>
        <p:txBody>
          <a:bodyPr wrap="square" lIns="9144" rIns="9144" tIns="0" bIns="0" anchor="t">
            <a:spAutoFit/>
          </a:bodyPr>
          <a:lstStyle/>
          <a:p>
            <a:pPr algn="l">
              <a:spcBef>
                <a:spcPts val="0"/>
              </a:spcBef>
              <a:spcAft>
                <a:spcPts val="0"/>
              </a:spcAft>
            </a:pPr>
            <a:r>
              <a:rPr sz="1350" b="0" i="0">
                <a:solidFill>
                  <a:srgbClr val="1D2B3A"/>
                </a:solidFill>
                <a:latin typeface="Aptos"/>
              </a:rPr>
              <a:t>Tour operators and travel agencies</a:t>
            </a:r>
          </a:p>
        </p:txBody>
      </p:sp>
      <p:sp>
        <p:nvSpPr>
          <p:cNvPr id="15" name="Rounded Rectangle 14"/>
          <p:cNvSpPr/>
          <p:nvPr/>
        </p:nvSpPr>
        <p:spPr>
          <a:xfrm>
            <a:off x="1005840" y="4361688"/>
            <a:ext cx="64008" cy="6400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4288536"/>
            <a:ext cx="2834640" cy="557784"/>
          </a:xfrm>
          <a:prstGeom prst="rect">
            <a:avLst/>
          </a:prstGeom>
          <a:noFill/>
        </p:spPr>
        <p:txBody>
          <a:bodyPr wrap="square" lIns="9144" rIns="9144" tIns="0" bIns="0" anchor="t">
            <a:spAutoFit/>
          </a:bodyPr>
          <a:lstStyle/>
          <a:p>
            <a:pPr algn="l">
              <a:spcBef>
                <a:spcPts val="0"/>
              </a:spcBef>
              <a:spcAft>
                <a:spcPts val="0"/>
              </a:spcAft>
            </a:pPr>
            <a:r>
              <a:rPr sz="1350" b="0" i="0">
                <a:solidFill>
                  <a:srgbClr val="1D2B3A"/>
                </a:solidFill>
                <a:latin typeface="Aptos"/>
              </a:rPr>
              <a:t>Hotels and local activity providers</a:t>
            </a:r>
          </a:p>
        </p:txBody>
      </p:sp>
      <p:sp>
        <p:nvSpPr>
          <p:cNvPr id="17" name="Rounded Rectangle 16"/>
          <p:cNvSpPr/>
          <p:nvPr/>
        </p:nvSpPr>
        <p:spPr>
          <a:xfrm>
            <a:off x="4599432" y="1655064"/>
            <a:ext cx="3511296" cy="3456432"/>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82312" y="1920240"/>
            <a:ext cx="3108960" cy="82296"/>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18888" y="2139696"/>
            <a:ext cx="3090672" cy="612648"/>
          </a:xfrm>
          <a:prstGeom prst="rect">
            <a:avLst/>
          </a:prstGeom>
          <a:noFill/>
        </p:spPr>
        <p:txBody>
          <a:bodyPr wrap="square" lIns="9144" rIns="9144" tIns="0" bIns="0" anchor="t">
            <a:spAutoFit/>
          </a:bodyPr>
          <a:lstStyle/>
          <a:p>
            <a:pPr algn="l">
              <a:spcBef>
                <a:spcPts val="0"/>
              </a:spcBef>
              <a:spcAft>
                <a:spcPts val="0"/>
              </a:spcAft>
            </a:pPr>
            <a:r>
              <a:rPr sz="1900" b="1" i="0">
                <a:solidFill>
                  <a:srgbClr val="0B2A4A"/>
                </a:solidFill>
                <a:latin typeface="Aptos"/>
              </a:rPr>
              <a:t>Value proposition</a:t>
            </a:r>
          </a:p>
        </p:txBody>
      </p:sp>
      <p:sp>
        <p:nvSpPr>
          <p:cNvPr id="20" name="Rounded Rectangle 19"/>
          <p:cNvSpPr/>
          <p:nvPr/>
        </p:nvSpPr>
        <p:spPr>
          <a:xfrm>
            <a:off x="4818888" y="3081528"/>
            <a:ext cx="64008" cy="6400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1768" y="3008376"/>
            <a:ext cx="2834640" cy="557784"/>
          </a:xfrm>
          <a:prstGeom prst="rect">
            <a:avLst/>
          </a:prstGeom>
          <a:noFill/>
        </p:spPr>
        <p:txBody>
          <a:bodyPr wrap="square" lIns="9144" rIns="9144" tIns="0" bIns="0" anchor="t">
            <a:spAutoFit/>
          </a:bodyPr>
          <a:lstStyle/>
          <a:p>
            <a:pPr algn="l">
              <a:spcBef>
                <a:spcPts val="0"/>
              </a:spcBef>
              <a:spcAft>
                <a:spcPts val="0"/>
              </a:spcAft>
            </a:pPr>
            <a:r>
              <a:rPr sz="1350" b="0" i="0">
                <a:solidFill>
                  <a:srgbClr val="1D2B3A"/>
                </a:solidFill>
                <a:latin typeface="Aptos"/>
              </a:rPr>
              <a:t>One interface for connected trip decisions</a:t>
            </a:r>
          </a:p>
        </p:txBody>
      </p:sp>
      <p:sp>
        <p:nvSpPr>
          <p:cNvPr id="22" name="Rounded Rectangle 21"/>
          <p:cNvSpPr/>
          <p:nvPr/>
        </p:nvSpPr>
        <p:spPr>
          <a:xfrm>
            <a:off x="4818888" y="3721608"/>
            <a:ext cx="64008" cy="6400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1768" y="3648456"/>
            <a:ext cx="2834640" cy="557784"/>
          </a:xfrm>
          <a:prstGeom prst="rect">
            <a:avLst/>
          </a:prstGeom>
          <a:noFill/>
        </p:spPr>
        <p:txBody>
          <a:bodyPr wrap="square" lIns="9144" rIns="9144" tIns="0" bIns="0" anchor="t">
            <a:spAutoFit/>
          </a:bodyPr>
          <a:lstStyle/>
          <a:p>
            <a:pPr algn="l">
              <a:spcBef>
                <a:spcPts val="0"/>
              </a:spcBef>
              <a:spcAft>
                <a:spcPts val="0"/>
              </a:spcAft>
            </a:pPr>
            <a:r>
              <a:rPr sz="1350" b="0" i="0">
                <a:solidFill>
                  <a:srgbClr val="1D2B3A"/>
                </a:solidFill>
                <a:latin typeface="Aptos"/>
              </a:rPr>
              <a:t>Preference-aware itineraries and transport</a:t>
            </a:r>
          </a:p>
        </p:txBody>
      </p:sp>
      <p:sp>
        <p:nvSpPr>
          <p:cNvPr id="24" name="Rounded Rectangle 23"/>
          <p:cNvSpPr/>
          <p:nvPr/>
        </p:nvSpPr>
        <p:spPr>
          <a:xfrm>
            <a:off x="4818888" y="4361688"/>
            <a:ext cx="64008" cy="6400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01768" y="4288536"/>
            <a:ext cx="2834640" cy="557784"/>
          </a:xfrm>
          <a:prstGeom prst="rect">
            <a:avLst/>
          </a:prstGeom>
          <a:noFill/>
        </p:spPr>
        <p:txBody>
          <a:bodyPr wrap="square" lIns="9144" rIns="9144" tIns="0" bIns="0" anchor="t">
            <a:spAutoFit/>
          </a:bodyPr>
          <a:lstStyle/>
          <a:p>
            <a:pPr algn="l">
              <a:spcBef>
                <a:spcPts val="0"/>
              </a:spcBef>
              <a:spcAft>
                <a:spcPts val="0"/>
              </a:spcAft>
            </a:pPr>
            <a:r>
              <a:rPr sz="1350" b="0" i="0">
                <a:solidFill>
                  <a:srgbClr val="1D2B3A"/>
                </a:solidFill>
                <a:latin typeface="Aptos"/>
              </a:rPr>
              <a:t>Local landmark knowledge and visitor context</a:t>
            </a:r>
          </a:p>
        </p:txBody>
      </p:sp>
      <p:sp>
        <p:nvSpPr>
          <p:cNvPr id="26" name="Rounded Rectangle 25"/>
          <p:cNvSpPr/>
          <p:nvPr/>
        </p:nvSpPr>
        <p:spPr>
          <a:xfrm>
            <a:off x="8412480" y="1655064"/>
            <a:ext cx="3511296" cy="3456432"/>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595359" y="1920240"/>
            <a:ext cx="3108960" cy="82296"/>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31936" y="2139696"/>
            <a:ext cx="3090672" cy="612648"/>
          </a:xfrm>
          <a:prstGeom prst="rect">
            <a:avLst/>
          </a:prstGeom>
          <a:noFill/>
        </p:spPr>
        <p:txBody>
          <a:bodyPr wrap="square" lIns="9144" rIns="9144" tIns="0" bIns="0" anchor="t">
            <a:spAutoFit/>
          </a:bodyPr>
          <a:lstStyle/>
          <a:p>
            <a:pPr algn="l">
              <a:spcBef>
                <a:spcPts val="0"/>
              </a:spcBef>
              <a:spcAft>
                <a:spcPts val="0"/>
              </a:spcAft>
            </a:pPr>
            <a:r>
              <a:rPr sz="1900" b="1" i="0">
                <a:solidFill>
                  <a:srgbClr val="0B2A4A"/>
                </a:solidFill>
                <a:latin typeface="Aptos"/>
              </a:rPr>
              <a:t>Possible revenue models</a:t>
            </a:r>
          </a:p>
        </p:txBody>
      </p:sp>
      <p:sp>
        <p:nvSpPr>
          <p:cNvPr id="29" name="Rounded Rectangle 28"/>
          <p:cNvSpPr/>
          <p:nvPr/>
        </p:nvSpPr>
        <p:spPr>
          <a:xfrm>
            <a:off x="8631936" y="3081528"/>
            <a:ext cx="64008" cy="6400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14815" y="3008376"/>
            <a:ext cx="2834640" cy="557784"/>
          </a:xfrm>
          <a:prstGeom prst="rect">
            <a:avLst/>
          </a:prstGeom>
          <a:noFill/>
        </p:spPr>
        <p:txBody>
          <a:bodyPr wrap="square" lIns="9144" rIns="9144" tIns="0" bIns="0" anchor="t">
            <a:spAutoFit/>
          </a:bodyPr>
          <a:lstStyle/>
          <a:p>
            <a:pPr algn="l">
              <a:spcBef>
                <a:spcPts val="0"/>
              </a:spcBef>
              <a:spcAft>
                <a:spcPts val="0"/>
              </a:spcAft>
            </a:pPr>
            <a:r>
              <a:rPr sz="1350" b="0" i="0">
                <a:solidFill>
                  <a:srgbClr val="1D2B3A"/>
                </a:solidFill>
                <a:latin typeface="Aptos"/>
              </a:rPr>
              <a:t>Operator planning / business subscriptions</a:t>
            </a:r>
          </a:p>
        </p:txBody>
      </p:sp>
      <p:sp>
        <p:nvSpPr>
          <p:cNvPr id="31" name="Rounded Rectangle 30"/>
          <p:cNvSpPr/>
          <p:nvPr/>
        </p:nvSpPr>
        <p:spPr>
          <a:xfrm>
            <a:off x="8631936" y="3721608"/>
            <a:ext cx="64008" cy="6400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14815" y="3648456"/>
            <a:ext cx="2834640" cy="557784"/>
          </a:xfrm>
          <a:prstGeom prst="rect">
            <a:avLst/>
          </a:prstGeom>
          <a:noFill/>
        </p:spPr>
        <p:txBody>
          <a:bodyPr wrap="square" lIns="9144" rIns="9144" tIns="0" bIns="0" anchor="t">
            <a:spAutoFit/>
          </a:bodyPr>
          <a:lstStyle/>
          <a:p>
            <a:pPr algn="l">
              <a:spcBef>
                <a:spcPts val="0"/>
              </a:spcBef>
              <a:spcAft>
                <a:spcPts val="0"/>
              </a:spcAft>
            </a:pPr>
            <a:r>
              <a:rPr sz="1350" b="0" i="0">
                <a:solidFill>
                  <a:srgbClr val="1D2B3A"/>
                </a:solidFill>
                <a:latin typeface="Aptos"/>
              </a:rPr>
              <a:t>Hotel or activity referral partnerships</a:t>
            </a:r>
          </a:p>
        </p:txBody>
      </p:sp>
      <p:sp>
        <p:nvSpPr>
          <p:cNvPr id="33" name="Rounded Rectangle 32"/>
          <p:cNvSpPr/>
          <p:nvPr/>
        </p:nvSpPr>
        <p:spPr>
          <a:xfrm>
            <a:off x="8631936" y="4361688"/>
            <a:ext cx="64008" cy="64008"/>
          </a:xfrm>
          <a:prstGeom prst="roundRect">
            <a:avLst>
              <a:gd name="adj" fmla="val 12000"/>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14815" y="4288536"/>
            <a:ext cx="2834640" cy="557784"/>
          </a:xfrm>
          <a:prstGeom prst="rect">
            <a:avLst/>
          </a:prstGeom>
          <a:noFill/>
        </p:spPr>
        <p:txBody>
          <a:bodyPr wrap="square" lIns="9144" rIns="9144" tIns="0" bIns="0" anchor="t">
            <a:spAutoFit/>
          </a:bodyPr>
          <a:lstStyle/>
          <a:p>
            <a:pPr algn="l">
              <a:spcBef>
                <a:spcPts val="0"/>
              </a:spcBef>
              <a:spcAft>
                <a:spcPts val="0"/>
              </a:spcAft>
            </a:pPr>
            <a:r>
              <a:rPr sz="1350" b="0" i="0">
                <a:solidFill>
                  <a:srgbClr val="1D2B3A"/>
                </a:solidFill>
                <a:latin typeface="Aptos"/>
              </a:rPr>
              <a:t>Licensing decision-support APIs</a:t>
            </a:r>
          </a:p>
        </p:txBody>
      </p:sp>
      <p:sp>
        <p:nvSpPr>
          <p:cNvPr id="35" name="Rounded Rectangle 34"/>
          <p:cNvSpPr/>
          <p:nvPr/>
        </p:nvSpPr>
        <p:spPr>
          <a:xfrm>
            <a:off x="932688" y="5440680"/>
            <a:ext cx="10378440" cy="713232"/>
          </a:xfrm>
          <a:prstGeom prst="roundRect">
            <a:avLst>
              <a:gd name="adj" fmla="val 12000"/>
            </a:avLst>
          </a:prstGeom>
          <a:solidFill>
            <a:srgbClr val="EDF5FF"/>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88720" y="5614416"/>
            <a:ext cx="9820656" cy="365760"/>
          </a:xfrm>
          <a:prstGeom prst="rect">
            <a:avLst/>
          </a:prstGeom>
          <a:noFill/>
        </p:spPr>
        <p:txBody>
          <a:bodyPr wrap="square" lIns="9144" rIns="9144" tIns="0" bIns="0" anchor="ctr">
            <a:spAutoFit/>
          </a:bodyPr>
          <a:lstStyle/>
          <a:p>
            <a:pPr algn="ctr">
              <a:spcBef>
                <a:spcPts val="0"/>
              </a:spcBef>
              <a:spcAft>
                <a:spcPts val="0"/>
              </a:spcAft>
            </a:pPr>
            <a:r>
              <a:rPr sz="1510" b="1" i="0">
                <a:solidFill>
                  <a:srgbClr val="1769E0"/>
                </a:solidFill>
                <a:latin typeface="Aptos"/>
              </a:rPr>
              <a:t>Pilot pathway: real travellers → usability study → data improvements → industry partnerships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Limitations &amp; Future Work</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18</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078992"/>
            <a:ext cx="10881360" cy="292608"/>
          </a:xfrm>
          <a:prstGeom prst="rect">
            <a:avLst/>
          </a:prstGeom>
          <a:noFill/>
        </p:spPr>
        <p:txBody>
          <a:bodyPr wrap="square" lIns="9144" rIns="9144" tIns="0" bIns="0" anchor="ctr">
            <a:spAutoFit/>
          </a:bodyPr>
          <a:lstStyle/>
          <a:p>
            <a:pPr algn="l">
              <a:spcBef>
                <a:spcPts val="0"/>
              </a:spcBef>
              <a:spcAft>
                <a:spcPts val="0"/>
              </a:spcAft>
            </a:pPr>
            <a:r>
              <a:rPr sz="1230" b="0" i="0">
                <a:solidFill>
                  <a:srgbClr val="60738A"/>
                </a:solidFill>
                <a:latin typeface="Aptos"/>
              </a:rPr>
              <a:t>Transparent limitations strengthen the research claims and guide next experiments</a:t>
            </a:r>
          </a:p>
        </p:txBody>
      </p:sp>
      <p:sp>
        <p:nvSpPr>
          <p:cNvPr id="7" name="TextBox 6"/>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8" name="Rounded Rectangle 7"/>
          <p:cNvSpPr/>
          <p:nvPr/>
        </p:nvSpPr>
        <p:spPr>
          <a:xfrm>
            <a:off x="740664" y="1417320"/>
            <a:ext cx="10735056" cy="100584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527048"/>
            <a:ext cx="1920240" cy="338328"/>
          </a:xfrm>
          <a:prstGeom prst="rect">
            <a:avLst/>
          </a:prstGeom>
          <a:noFill/>
        </p:spPr>
        <p:txBody>
          <a:bodyPr wrap="square" lIns="9144" rIns="9144" tIns="0" bIns="0" anchor="ctr">
            <a:spAutoFit/>
          </a:bodyPr>
          <a:lstStyle/>
          <a:p>
            <a:pPr algn="l">
              <a:spcBef>
                <a:spcPts val="0"/>
              </a:spcBef>
              <a:spcAft>
                <a:spcPts val="0"/>
              </a:spcAft>
            </a:pPr>
            <a:r>
              <a:rPr sz="1550" b="1" i="0">
                <a:solidFill>
                  <a:srgbClr val="1769E0"/>
                </a:solidFill>
                <a:latin typeface="Aptos"/>
              </a:rPr>
              <a:t>C1 · Packages</a:t>
            </a:r>
          </a:p>
        </p:txBody>
      </p:sp>
      <p:sp>
        <p:nvSpPr>
          <p:cNvPr id="10" name="TextBox 9"/>
          <p:cNvSpPr txBox="1"/>
          <p:nvPr/>
        </p:nvSpPr>
        <p:spPr>
          <a:xfrm>
            <a:off x="2779776" y="1508760"/>
            <a:ext cx="4023360" cy="786384"/>
          </a:xfrm>
          <a:prstGeom prst="rect">
            <a:avLst/>
          </a:prstGeom>
          <a:noFill/>
        </p:spPr>
        <p:txBody>
          <a:bodyPr wrap="square" lIns="9144" rIns="9144" tIns="0" bIns="0" anchor="t">
            <a:spAutoFit/>
          </a:bodyPr>
          <a:lstStyle/>
          <a:p>
            <a:pPr algn="l">
              <a:spcBef>
                <a:spcPts val="0"/>
              </a:spcBef>
              <a:spcAft>
                <a:spcPts val="0"/>
              </a:spcAft>
            </a:pPr>
            <a:r>
              <a:rPr sz="1280" b="0" i="0">
                <a:solidFill>
                  <a:srgbClr val="1D2B3A"/>
                </a:solidFill>
                <a:latin typeface="Aptos"/>
              </a:rPr>
              <a:t>No formal recommendation quality study; district matching may imply false proximity.</a:t>
            </a:r>
          </a:p>
        </p:txBody>
      </p:sp>
      <p:cxnSp>
        <p:nvCxnSpPr>
          <p:cNvPr id="11" name="Connector 10"/>
          <p:cNvCxnSpPr/>
          <p:nvPr/>
        </p:nvCxnSpPr>
        <p:spPr>
          <a:xfrm>
            <a:off x="6967728" y="1536192"/>
            <a:ext cx="0" cy="77724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150608" y="1508760"/>
            <a:ext cx="3977639" cy="786384"/>
          </a:xfrm>
          <a:prstGeom prst="rect">
            <a:avLst/>
          </a:prstGeom>
          <a:noFill/>
        </p:spPr>
        <p:txBody>
          <a:bodyPr wrap="square" lIns="9144" rIns="9144" tIns="0" bIns="0" anchor="t">
            <a:spAutoFit/>
          </a:bodyPr>
          <a:lstStyle/>
          <a:p>
            <a:pPr algn="l">
              <a:spcBef>
                <a:spcPts val="0"/>
              </a:spcBef>
              <a:spcAft>
                <a:spcPts val="0"/>
              </a:spcAft>
            </a:pPr>
            <a:r>
              <a:rPr sz="1270" b="0" i="0">
                <a:solidFill>
                  <a:srgbClr val="0B2A4A"/>
                </a:solidFill>
                <a:latin typeface="Aptos"/>
              </a:rPr>
              <a:t>Distance-aware links, food normalization and judged relevance evaluation.</a:t>
            </a:r>
          </a:p>
        </p:txBody>
      </p:sp>
      <p:sp>
        <p:nvSpPr>
          <p:cNvPr id="13" name="Rounded Rectangle 12"/>
          <p:cNvSpPr/>
          <p:nvPr/>
        </p:nvSpPr>
        <p:spPr>
          <a:xfrm>
            <a:off x="740664" y="2551176"/>
            <a:ext cx="10735056" cy="100584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2660904"/>
            <a:ext cx="1920240" cy="338328"/>
          </a:xfrm>
          <a:prstGeom prst="rect">
            <a:avLst/>
          </a:prstGeom>
          <a:noFill/>
        </p:spPr>
        <p:txBody>
          <a:bodyPr wrap="square" lIns="9144" rIns="9144" tIns="0" bIns="0" anchor="ctr">
            <a:spAutoFit/>
          </a:bodyPr>
          <a:lstStyle/>
          <a:p>
            <a:pPr algn="l">
              <a:spcBef>
                <a:spcPts val="0"/>
              </a:spcBef>
              <a:spcAft>
                <a:spcPts val="0"/>
              </a:spcAft>
            </a:pPr>
            <a:r>
              <a:rPr sz="1550" b="1" i="0">
                <a:solidFill>
                  <a:srgbClr val="1769E0"/>
                </a:solidFill>
                <a:latin typeface="Aptos"/>
              </a:rPr>
              <a:t>C2 · Mobility</a:t>
            </a:r>
          </a:p>
        </p:txBody>
      </p:sp>
      <p:sp>
        <p:nvSpPr>
          <p:cNvPr id="15" name="TextBox 14"/>
          <p:cNvSpPr txBox="1"/>
          <p:nvPr/>
        </p:nvSpPr>
        <p:spPr>
          <a:xfrm>
            <a:off x="2779776" y="2642616"/>
            <a:ext cx="4023360" cy="786384"/>
          </a:xfrm>
          <a:prstGeom prst="rect">
            <a:avLst/>
          </a:prstGeom>
          <a:noFill/>
        </p:spPr>
        <p:txBody>
          <a:bodyPr wrap="square" lIns="9144" rIns="9144" tIns="0" bIns="0" anchor="t">
            <a:spAutoFit/>
          </a:bodyPr>
          <a:lstStyle/>
          <a:p>
            <a:pPr algn="l">
              <a:spcBef>
                <a:spcPts val="0"/>
              </a:spcBef>
              <a:spcAft>
                <a:spcPts val="0"/>
              </a:spcAft>
            </a:pPr>
            <a:r>
              <a:rPr sz="1280" b="0" i="0">
                <a:solidFill>
                  <a:srgbClr val="1D2B3A"/>
                </a:solidFill>
                <a:latin typeface="Aptos"/>
              </a:rPr>
              <a:t>Sparse matched road profiles; severity labels are not accident outcomes.</a:t>
            </a:r>
          </a:p>
        </p:txBody>
      </p:sp>
      <p:cxnSp>
        <p:nvCxnSpPr>
          <p:cNvPr id="16" name="Connector 15"/>
          <p:cNvCxnSpPr/>
          <p:nvPr/>
        </p:nvCxnSpPr>
        <p:spPr>
          <a:xfrm>
            <a:off x="6967728" y="2670048"/>
            <a:ext cx="0" cy="77724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50608" y="2642616"/>
            <a:ext cx="3977639" cy="786384"/>
          </a:xfrm>
          <a:prstGeom prst="rect">
            <a:avLst/>
          </a:prstGeom>
          <a:noFill/>
        </p:spPr>
        <p:txBody>
          <a:bodyPr wrap="square" lIns="9144" rIns="9144" tIns="0" bIns="0" anchor="t">
            <a:spAutoFit/>
          </a:bodyPr>
          <a:lstStyle/>
          <a:p>
            <a:pPr algn="l">
              <a:spcBef>
                <a:spcPts val="0"/>
              </a:spcBef>
              <a:spcAft>
                <a:spcPts val="0"/>
              </a:spcAft>
            </a:pPr>
            <a:r>
              <a:rPr sz="1270" b="0" i="0">
                <a:solidFill>
                  <a:srgbClr val="0B2A4A"/>
                </a:solidFill>
                <a:latin typeface="Aptos"/>
              </a:rPr>
              <a:t>More authoritative field observations and external model validation.</a:t>
            </a:r>
          </a:p>
        </p:txBody>
      </p:sp>
      <p:sp>
        <p:nvSpPr>
          <p:cNvPr id="18" name="Rounded Rectangle 17"/>
          <p:cNvSpPr/>
          <p:nvPr/>
        </p:nvSpPr>
        <p:spPr>
          <a:xfrm>
            <a:off x="740664" y="3685032"/>
            <a:ext cx="10735056" cy="100584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794760"/>
            <a:ext cx="1920240" cy="338328"/>
          </a:xfrm>
          <a:prstGeom prst="rect">
            <a:avLst/>
          </a:prstGeom>
          <a:noFill/>
        </p:spPr>
        <p:txBody>
          <a:bodyPr wrap="square" lIns="9144" rIns="9144" tIns="0" bIns="0" anchor="ctr">
            <a:spAutoFit/>
          </a:bodyPr>
          <a:lstStyle/>
          <a:p>
            <a:pPr algn="l">
              <a:spcBef>
                <a:spcPts val="0"/>
              </a:spcBef>
              <a:spcAft>
                <a:spcPts val="0"/>
              </a:spcAft>
            </a:pPr>
            <a:r>
              <a:rPr sz="1550" b="1" i="0">
                <a:solidFill>
                  <a:srgbClr val="1769E0"/>
                </a:solidFill>
                <a:latin typeface="Aptos"/>
              </a:rPr>
              <a:t>C3 · Itinerary</a:t>
            </a:r>
          </a:p>
        </p:txBody>
      </p:sp>
      <p:sp>
        <p:nvSpPr>
          <p:cNvPr id="20" name="TextBox 19"/>
          <p:cNvSpPr txBox="1"/>
          <p:nvPr/>
        </p:nvSpPr>
        <p:spPr>
          <a:xfrm>
            <a:off x="2779776" y="3776472"/>
            <a:ext cx="4023360" cy="786384"/>
          </a:xfrm>
          <a:prstGeom prst="rect">
            <a:avLst/>
          </a:prstGeom>
          <a:noFill/>
        </p:spPr>
        <p:txBody>
          <a:bodyPr wrap="square" lIns="9144" rIns="9144" tIns="0" bIns="0" anchor="t">
            <a:spAutoFit/>
          </a:bodyPr>
          <a:lstStyle/>
          <a:p>
            <a:pPr algn="l">
              <a:spcBef>
                <a:spcPts val="0"/>
              </a:spcBef>
              <a:spcAft>
                <a:spcPts val="0"/>
              </a:spcAft>
            </a:pPr>
            <a:r>
              <a:rPr sz="1280" b="0" i="0">
                <a:solidFill>
                  <a:srgbClr val="1D2B3A"/>
                </a:solidFill>
                <a:latin typeface="Aptos"/>
              </a:rPr>
              <a:t>Short relevance holdout; visit times and opening hours may be estimated.</a:t>
            </a:r>
          </a:p>
        </p:txBody>
      </p:sp>
      <p:cxnSp>
        <p:nvCxnSpPr>
          <p:cNvPr id="21" name="Connector 20"/>
          <p:cNvCxnSpPr/>
          <p:nvPr/>
        </p:nvCxnSpPr>
        <p:spPr>
          <a:xfrm>
            <a:off x="6967728" y="3803904"/>
            <a:ext cx="0" cy="77724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150608" y="3776472"/>
            <a:ext cx="3977639" cy="786384"/>
          </a:xfrm>
          <a:prstGeom prst="rect">
            <a:avLst/>
          </a:prstGeom>
          <a:noFill/>
        </p:spPr>
        <p:txBody>
          <a:bodyPr wrap="square" lIns="9144" rIns="9144" tIns="0" bIns="0" anchor="t">
            <a:spAutoFit/>
          </a:bodyPr>
          <a:lstStyle/>
          <a:p>
            <a:pPr algn="l">
              <a:spcBef>
                <a:spcPts val="0"/>
              </a:spcBef>
              <a:spcAft>
                <a:spcPts val="0"/>
              </a:spcAft>
            </a:pPr>
            <a:r>
              <a:rPr sz="1270" b="0" i="0">
                <a:solidFill>
                  <a:srgbClr val="0B2A4A"/>
                </a:solidFill>
                <a:latin typeface="Aptos"/>
              </a:rPr>
              <a:t>Broader adjudicated POIs and observed trip feasibility trials.</a:t>
            </a:r>
          </a:p>
        </p:txBody>
      </p:sp>
      <p:sp>
        <p:nvSpPr>
          <p:cNvPr id="23" name="Rounded Rectangle 22"/>
          <p:cNvSpPr/>
          <p:nvPr/>
        </p:nvSpPr>
        <p:spPr>
          <a:xfrm>
            <a:off x="740664" y="4818888"/>
            <a:ext cx="10735056" cy="1005840"/>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 y="4928616"/>
            <a:ext cx="1920240" cy="338328"/>
          </a:xfrm>
          <a:prstGeom prst="rect">
            <a:avLst/>
          </a:prstGeom>
          <a:noFill/>
        </p:spPr>
        <p:txBody>
          <a:bodyPr wrap="square" lIns="9144" rIns="9144" tIns="0" bIns="0" anchor="ctr">
            <a:spAutoFit/>
          </a:bodyPr>
          <a:lstStyle/>
          <a:p>
            <a:pPr algn="l">
              <a:spcBef>
                <a:spcPts val="0"/>
              </a:spcBef>
              <a:spcAft>
                <a:spcPts val="0"/>
              </a:spcAft>
            </a:pPr>
            <a:r>
              <a:rPr sz="1550" b="1" i="0">
                <a:solidFill>
                  <a:srgbClr val="1769E0"/>
                </a:solidFill>
                <a:latin typeface="Aptos"/>
              </a:rPr>
              <a:t>C4 · Landmark</a:t>
            </a:r>
          </a:p>
        </p:txBody>
      </p:sp>
      <p:sp>
        <p:nvSpPr>
          <p:cNvPr id="25" name="TextBox 24"/>
          <p:cNvSpPr txBox="1"/>
          <p:nvPr/>
        </p:nvSpPr>
        <p:spPr>
          <a:xfrm>
            <a:off x="2779776" y="4910327"/>
            <a:ext cx="4023360" cy="786384"/>
          </a:xfrm>
          <a:prstGeom prst="rect">
            <a:avLst/>
          </a:prstGeom>
          <a:noFill/>
        </p:spPr>
        <p:txBody>
          <a:bodyPr wrap="square" lIns="9144" rIns="9144" tIns="0" bIns="0" anchor="t">
            <a:spAutoFit/>
          </a:bodyPr>
          <a:lstStyle/>
          <a:p>
            <a:pPr algn="l">
              <a:spcBef>
                <a:spcPts val="0"/>
              </a:spcBef>
              <a:spcAft>
                <a:spcPts val="0"/>
              </a:spcAft>
            </a:pPr>
            <a:r>
              <a:rPr sz="1280" b="0" i="0">
                <a:solidFill>
                  <a:srgbClr val="1D2B3A"/>
                </a:solidFill>
                <a:latin typeface="Aptos"/>
              </a:rPr>
              <a:t>Validation-only model results; training/runtime feature mismatch possible.</a:t>
            </a:r>
          </a:p>
        </p:txBody>
      </p:sp>
      <p:cxnSp>
        <p:nvCxnSpPr>
          <p:cNvPr id="26" name="Connector 25"/>
          <p:cNvCxnSpPr/>
          <p:nvPr/>
        </p:nvCxnSpPr>
        <p:spPr>
          <a:xfrm>
            <a:off x="6967728" y="4937759"/>
            <a:ext cx="0" cy="777241"/>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150608" y="4910327"/>
            <a:ext cx="3977639" cy="786384"/>
          </a:xfrm>
          <a:prstGeom prst="rect">
            <a:avLst/>
          </a:prstGeom>
          <a:noFill/>
        </p:spPr>
        <p:txBody>
          <a:bodyPr wrap="square" lIns="9144" rIns="9144" tIns="0" bIns="0" anchor="t">
            <a:spAutoFit/>
          </a:bodyPr>
          <a:lstStyle/>
          <a:p>
            <a:pPr algn="l">
              <a:spcBef>
                <a:spcPts val="0"/>
              </a:spcBef>
              <a:spcAft>
                <a:spcPts val="0"/>
              </a:spcAft>
            </a:pPr>
            <a:r>
              <a:rPr sz="1270" b="0" i="0">
                <a:solidFill>
                  <a:srgbClr val="0B2A4A"/>
                </a:solidFill>
                <a:latin typeface="Aptos"/>
              </a:rPr>
              <a:t>Aligned deployed artifact and untouched independent test set.</a:t>
            </a:r>
          </a:p>
        </p:txBody>
      </p:sp>
      <p:sp>
        <p:nvSpPr>
          <p:cNvPr id="28" name="TextBox 27"/>
          <p:cNvSpPr txBox="1"/>
          <p:nvPr/>
        </p:nvSpPr>
        <p:spPr>
          <a:xfrm>
            <a:off x="850392" y="6144768"/>
            <a:ext cx="10378440" cy="210312"/>
          </a:xfrm>
          <a:prstGeom prst="rect">
            <a:avLst/>
          </a:prstGeom>
          <a:noFill/>
        </p:spPr>
        <p:txBody>
          <a:bodyPr wrap="square" lIns="9144" rIns="9144" tIns="0" bIns="0" anchor="ctr">
            <a:spAutoFit/>
          </a:bodyPr>
          <a:lstStyle/>
          <a:p>
            <a:pPr algn="l">
              <a:spcBef>
                <a:spcPts val="0"/>
              </a:spcBef>
              <a:spcAft>
                <a:spcPts val="0"/>
              </a:spcAft>
            </a:pPr>
            <a:r>
              <a:rPr sz="1170" b="1" i="0">
                <a:solidFill>
                  <a:srgbClr val="60738A"/>
                </a:solidFill>
                <a:latin typeface="Aptos"/>
              </a:rPr>
              <a:t>Across the platform: expand real-user evaluation, source provenance, data governance and reproducible deployment tests.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47472"/>
            <a:ext cx="10113264" cy="502920"/>
          </a:xfrm>
          <a:prstGeom prst="rect">
            <a:avLst/>
          </a:prstGeom>
          <a:noFill/>
        </p:spPr>
        <p:txBody>
          <a:bodyPr wrap="square" lIns="9144" rIns="9144" tIns="0" bIns="0" anchor="ctr">
            <a:spAutoFit/>
          </a:bodyPr>
          <a:lstStyle/>
          <a:p>
            <a:pPr algn="l">
              <a:spcBef>
                <a:spcPts val="0"/>
              </a:spcBef>
              <a:spcAft>
                <a:spcPts val="0"/>
              </a:spcAft>
            </a:pPr>
            <a:r>
              <a:rPr sz="2750" b="1" i="0">
                <a:solidFill>
                  <a:srgbClr val="0B2A4A"/>
                </a:solidFill>
                <a:latin typeface="Aptos Display"/>
              </a:rPr>
              <a:t>Research Conclusion</a:t>
            </a:r>
          </a:p>
        </p:txBody>
      </p:sp>
      <p:sp>
        <p:nvSpPr>
          <p:cNvPr id="4" name="TextBox 3"/>
          <p:cNvSpPr txBox="1"/>
          <p:nvPr/>
        </p:nvSpPr>
        <p:spPr>
          <a:xfrm>
            <a:off x="10972800" y="384048"/>
            <a:ext cx="566928" cy="265176"/>
          </a:xfrm>
          <a:prstGeom prst="rect">
            <a:avLst/>
          </a:prstGeom>
          <a:noFill/>
        </p:spPr>
        <p:txBody>
          <a:bodyPr wrap="square" lIns="9144" rIns="9144" tIns="0" bIns="0" anchor="ctr">
            <a:spAutoFit/>
          </a:bodyPr>
          <a:lstStyle/>
          <a:p>
            <a:pPr algn="r">
              <a:spcBef>
                <a:spcPts val="0"/>
              </a:spcBef>
              <a:spcAft>
                <a:spcPts val="0"/>
              </a:spcAft>
            </a:pPr>
            <a:r>
              <a:rPr sz="1050" b="1" i="0">
                <a:solidFill>
                  <a:srgbClr val="1769E0"/>
                </a:solidFill>
                <a:latin typeface="Aptos"/>
              </a:rPr>
              <a:t>19</a:t>
            </a:r>
          </a:p>
        </p:txBody>
      </p:sp>
      <p:cxnSp>
        <p:nvCxnSpPr>
          <p:cNvPr id="5" name="Connector 4"/>
          <p:cNvCxnSpPr/>
          <p:nvPr/>
        </p:nvCxnSpPr>
        <p:spPr>
          <a:xfrm>
            <a:off x="603504" y="996696"/>
            <a:ext cx="11009376" cy="0"/>
          </a:xfrm>
          <a:prstGeom prst="line">
            <a:avLst/>
          </a:prstGeom>
          <a:ln w="12700">
            <a:solidFill>
              <a:srgbClr val="D5E4F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078992"/>
            <a:ext cx="10881360" cy="292608"/>
          </a:xfrm>
          <a:prstGeom prst="rect">
            <a:avLst/>
          </a:prstGeom>
          <a:noFill/>
        </p:spPr>
        <p:txBody>
          <a:bodyPr wrap="square" lIns="9144" rIns="9144" tIns="0" bIns="0" anchor="ctr">
            <a:spAutoFit/>
          </a:bodyPr>
          <a:lstStyle/>
          <a:p>
            <a:pPr algn="l">
              <a:spcBef>
                <a:spcPts val="0"/>
              </a:spcBef>
              <a:spcAft>
                <a:spcPts val="0"/>
              </a:spcAft>
            </a:pPr>
            <a:r>
              <a:rPr sz="1230" b="0" i="0">
                <a:solidFill>
                  <a:srgbClr val="60738A"/>
                </a:solidFill>
                <a:latin typeface="Aptos"/>
              </a:rPr>
              <a:t>CeylonGo connects four complementary AI-assisted tourism decision capabilities</a:t>
            </a:r>
          </a:p>
        </p:txBody>
      </p:sp>
      <p:sp>
        <p:nvSpPr>
          <p:cNvPr id="7" name="TextBox 6"/>
          <p:cNvSpPr txBox="1"/>
          <p:nvPr/>
        </p:nvSpPr>
        <p:spPr>
          <a:xfrm>
            <a:off x="630936" y="6537960"/>
            <a:ext cx="10607040" cy="137160"/>
          </a:xfrm>
          <a:prstGeom prst="rect">
            <a:avLst/>
          </a:prstGeom>
          <a:noFill/>
        </p:spPr>
        <p:txBody>
          <a:bodyPr wrap="square" lIns="9144" rIns="9144" tIns="0" bIns="0" anchor="ctr">
            <a:spAutoFit/>
          </a:bodyPr>
          <a:lstStyle/>
          <a:p>
            <a:pPr algn="l">
              <a:spcBef>
                <a:spcPts val="0"/>
              </a:spcBef>
              <a:spcAft>
                <a:spcPts val="0"/>
              </a:spcAft>
            </a:pPr>
            <a:r>
              <a:rPr sz="860" b="0" i="0">
                <a:solidFill>
                  <a:srgbClr val="60738A"/>
                </a:solidFill>
                <a:latin typeface="Aptos"/>
              </a:rPr>
              <a:t>R26-IT-050  ·  CeylonGo  ·  Final Group Presentation</a:t>
            </a:r>
          </a:p>
        </p:txBody>
      </p:sp>
      <p:sp>
        <p:nvSpPr>
          <p:cNvPr id="8" name="Rounded Rectangle 7"/>
          <p:cNvSpPr/>
          <p:nvPr/>
        </p:nvSpPr>
        <p:spPr>
          <a:xfrm>
            <a:off x="804672" y="1664208"/>
            <a:ext cx="2633472" cy="2084831"/>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78992" y="1947672"/>
            <a:ext cx="2084831" cy="7315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258568"/>
            <a:ext cx="2249424" cy="402336"/>
          </a:xfrm>
          <a:prstGeom prst="rect">
            <a:avLst/>
          </a:prstGeom>
          <a:noFill/>
        </p:spPr>
        <p:txBody>
          <a:bodyPr wrap="square" lIns="9144" rIns="9144" tIns="0" bIns="0" anchor="ctr">
            <a:spAutoFit/>
          </a:bodyPr>
          <a:lstStyle/>
          <a:p>
            <a:pPr algn="ctr">
              <a:spcBef>
                <a:spcPts val="0"/>
              </a:spcBef>
              <a:spcAft>
                <a:spcPts val="0"/>
              </a:spcAft>
            </a:pPr>
            <a:r>
              <a:rPr sz="1540" b="1" i="0">
                <a:solidFill>
                  <a:srgbClr val="1769E0"/>
                </a:solidFill>
                <a:latin typeface="Aptos"/>
              </a:rPr>
              <a:t>PREFERENCE</a:t>
            </a:r>
          </a:p>
        </p:txBody>
      </p:sp>
      <p:sp>
        <p:nvSpPr>
          <p:cNvPr id="11" name="TextBox 10"/>
          <p:cNvSpPr txBox="1"/>
          <p:nvPr/>
        </p:nvSpPr>
        <p:spPr>
          <a:xfrm>
            <a:off x="950976" y="2761488"/>
            <a:ext cx="2340864" cy="722376"/>
          </a:xfrm>
          <a:prstGeom prst="rect">
            <a:avLst/>
          </a:prstGeom>
          <a:noFill/>
        </p:spPr>
        <p:txBody>
          <a:bodyPr wrap="square" lIns="9144" rIns="9144" tIns="0" bIns="0" anchor="t">
            <a:spAutoFit/>
          </a:bodyPr>
          <a:lstStyle/>
          <a:p>
            <a:pPr algn="ctr">
              <a:spcBef>
                <a:spcPts val="0"/>
              </a:spcBef>
              <a:spcAft>
                <a:spcPts val="0"/>
              </a:spcAft>
            </a:pPr>
            <a:r>
              <a:rPr sz="1500" b="1" i="0">
                <a:solidFill>
                  <a:srgbClr val="0B2A4A"/>
                </a:solidFill>
                <a:latin typeface="Aptos"/>
              </a:rPr>
              <a:t>Graph-backed hotel/activity packages</a:t>
            </a:r>
          </a:p>
        </p:txBody>
      </p:sp>
      <p:sp>
        <p:nvSpPr>
          <p:cNvPr id="12" name="Rounded Rectangle 11"/>
          <p:cNvSpPr/>
          <p:nvPr/>
        </p:nvSpPr>
        <p:spPr>
          <a:xfrm>
            <a:off x="3694176" y="1664208"/>
            <a:ext cx="2633472" cy="2084831"/>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68496" y="1947672"/>
            <a:ext cx="2084831" cy="7315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86200" y="2258568"/>
            <a:ext cx="2249424" cy="402336"/>
          </a:xfrm>
          <a:prstGeom prst="rect">
            <a:avLst/>
          </a:prstGeom>
          <a:noFill/>
        </p:spPr>
        <p:txBody>
          <a:bodyPr wrap="square" lIns="9144" rIns="9144" tIns="0" bIns="0" anchor="ctr">
            <a:spAutoFit/>
          </a:bodyPr>
          <a:lstStyle/>
          <a:p>
            <a:pPr algn="ctr">
              <a:spcBef>
                <a:spcPts val="0"/>
              </a:spcBef>
              <a:spcAft>
                <a:spcPts val="0"/>
              </a:spcAft>
            </a:pPr>
            <a:r>
              <a:rPr sz="1540" b="1" i="0">
                <a:solidFill>
                  <a:srgbClr val="1769E0"/>
                </a:solidFill>
                <a:latin typeface="Aptos"/>
              </a:rPr>
              <a:t>MOBILITY</a:t>
            </a:r>
          </a:p>
        </p:txBody>
      </p:sp>
      <p:sp>
        <p:nvSpPr>
          <p:cNvPr id="15" name="TextBox 14"/>
          <p:cNvSpPr txBox="1"/>
          <p:nvPr/>
        </p:nvSpPr>
        <p:spPr>
          <a:xfrm>
            <a:off x="3840480" y="2761488"/>
            <a:ext cx="2340864" cy="722376"/>
          </a:xfrm>
          <a:prstGeom prst="rect">
            <a:avLst/>
          </a:prstGeom>
          <a:noFill/>
        </p:spPr>
        <p:txBody>
          <a:bodyPr wrap="square" lIns="9144" rIns="9144" tIns="0" bIns="0" anchor="t">
            <a:spAutoFit/>
          </a:bodyPr>
          <a:lstStyle/>
          <a:p>
            <a:pPr algn="ctr">
              <a:spcBef>
                <a:spcPts val="0"/>
              </a:spcBef>
              <a:spcAft>
                <a:spcPts val="0"/>
              </a:spcAft>
            </a:pPr>
            <a:r>
              <a:rPr sz="1500" b="1" i="0">
                <a:solidFill>
                  <a:srgbClr val="0B2A4A"/>
                </a:solidFill>
                <a:latin typeface="Aptos"/>
              </a:rPr>
              <a:t>Route severity evidence and vehicle constraints</a:t>
            </a:r>
          </a:p>
        </p:txBody>
      </p:sp>
      <p:sp>
        <p:nvSpPr>
          <p:cNvPr id="16" name="Rounded Rectangle 15"/>
          <p:cNvSpPr/>
          <p:nvPr/>
        </p:nvSpPr>
        <p:spPr>
          <a:xfrm>
            <a:off x="6583680" y="1664208"/>
            <a:ext cx="2633472" cy="2084831"/>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0" y="1947672"/>
            <a:ext cx="2084831" cy="7315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75704" y="2258568"/>
            <a:ext cx="2249424" cy="402336"/>
          </a:xfrm>
          <a:prstGeom prst="rect">
            <a:avLst/>
          </a:prstGeom>
          <a:noFill/>
        </p:spPr>
        <p:txBody>
          <a:bodyPr wrap="square" lIns="9144" rIns="9144" tIns="0" bIns="0" anchor="ctr">
            <a:spAutoFit/>
          </a:bodyPr>
          <a:lstStyle/>
          <a:p>
            <a:pPr algn="ctr">
              <a:spcBef>
                <a:spcPts val="0"/>
              </a:spcBef>
              <a:spcAft>
                <a:spcPts val="0"/>
              </a:spcAft>
            </a:pPr>
            <a:r>
              <a:rPr sz="1540" b="1" i="0">
                <a:solidFill>
                  <a:srgbClr val="1769E0"/>
                </a:solidFill>
                <a:latin typeface="Aptos"/>
              </a:rPr>
              <a:t>ITINERARY</a:t>
            </a:r>
          </a:p>
        </p:txBody>
      </p:sp>
      <p:sp>
        <p:nvSpPr>
          <p:cNvPr id="19" name="TextBox 18"/>
          <p:cNvSpPr txBox="1"/>
          <p:nvPr/>
        </p:nvSpPr>
        <p:spPr>
          <a:xfrm>
            <a:off x="6729984" y="2761488"/>
            <a:ext cx="2340864" cy="722376"/>
          </a:xfrm>
          <a:prstGeom prst="rect">
            <a:avLst/>
          </a:prstGeom>
          <a:noFill/>
        </p:spPr>
        <p:txBody>
          <a:bodyPr wrap="square" lIns="9144" rIns="9144" tIns="0" bIns="0" anchor="t">
            <a:spAutoFit/>
          </a:bodyPr>
          <a:lstStyle/>
          <a:p>
            <a:pPr algn="ctr">
              <a:spcBef>
                <a:spcPts val="0"/>
              </a:spcBef>
              <a:spcAft>
                <a:spcPts val="0"/>
              </a:spcAft>
            </a:pPr>
            <a:r>
              <a:rPr sz="1500" b="1" i="0">
                <a:solidFill>
                  <a:srgbClr val="0B2A4A"/>
                </a:solidFill>
                <a:latin typeface="Aptos"/>
              </a:rPr>
              <a:t>Relevance-gated, time-constrained schedules</a:t>
            </a:r>
          </a:p>
        </p:txBody>
      </p:sp>
      <p:sp>
        <p:nvSpPr>
          <p:cNvPr id="20" name="Rounded Rectangle 19"/>
          <p:cNvSpPr/>
          <p:nvPr/>
        </p:nvSpPr>
        <p:spPr>
          <a:xfrm>
            <a:off x="9473184" y="1664208"/>
            <a:ext cx="2633472" cy="2084831"/>
          </a:xfrm>
          <a:prstGeom prst="roundRect">
            <a:avLst>
              <a:gd name="adj" fmla="val 12000"/>
            </a:avLst>
          </a:prstGeom>
          <a:solidFill>
            <a:srgbClr val="F6F9FE"/>
          </a:solidFill>
          <a:ln w="12700">
            <a:solidFill>
              <a:srgbClr val="D5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747504" y="1947672"/>
            <a:ext cx="2084831" cy="7315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65208" y="2258568"/>
            <a:ext cx="2249424" cy="402336"/>
          </a:xfrm>
          <a:prstGeom prst="rect">
            <a:avLst/>
          </a:prstGeom>
          <a:noFill/>
        </p:spPr>
        <p:txBody>
          <a:bodyPr wrap="square" lIns="9144" rIns="9144" tIns="0" bIns="0" anchor="ctr">
            <a:spAutoFit/>
          </a:bodyPr>
          <a:lstStyle/>
          <a:p>
            <a:pPr algn="ctr">
              <a:spcBef>
                <a:spcPts val="0"/>
              </a:spcBef>
              <a:spcAft>
                <a:spcPts val="0"/>
              </a:spcAft>
            </a:pPr>
            <a:r>
              <a:rPr sz="1540" b="1" i="0">
                <a:solidFill>
                  <a:srgbClr val="1769E0"/>
                </a:solidFill>
                <a:latin typeface="Aptos"/>
              </a:rPr>
              <a:t>LANDMARK</a:t>
            </a:r>
          </a:p>
        </p:txBody>
      </p:sp>
      <p:sp>
        <p:nvSpPr>
          <p:cNvPr id="23" name="TextBox 22"/>
          <p:cNvSpPr txBox="1"/>
          <p:nvPr/>
        </p:nvSpPr>
        <p:spPr>
          <a:xfrm>
            <a:off x="9619488" y="2761488"/>
            <a:ext cx="2340864" cy="722376"/>
          </a:xfrm>
          <a:prstGeom prst="rect">
            <a:avLst/>
          </a:prstGeom>
          <a:noFill/>
        </p:spPr>
        <p:txBody>
          <a:bodyPr wrap="square" lIns="9144" rIns="9144" tIns="0" bIns="0" anchor="t">
            <a:spAutoFit/>
          </a:bodyPr>
          <a:lstStyle/>
          <a:p>
            <a:pPr algn="ctr">
              <a:spcBef>
                <a:spcPts val="0"/>
              </a:spcBef>
              <a:spcAft>
                <a:spcPts val="0"/>
              </a:spcAft>
            </a:pPr>
            <a:r>
              <a:rPr sz="1500" b="1" i="0">
                <a:solidFill>
                  <a:srgbClr val="0B2A4A"/>
                </a:solidFill>
                <a:latin typeface="Aptos"/>
              </a:rPr>
              <a:t>Image recognition plus visitor information</a:t>
            </a:r>
          </a:p>
        </p:txBody>
      </p:sp>
      <p:sp>
        <p:nvSpPr>
          <p:cNvPr id="24" name="Rounded Rectangle 23"/>
          <p:cNvSpPr/>
          <p:nvPr/>
        </p:nvSpPr>
        <p:spPr>
          <a:xfrm>
            <a:off x="1097280" y="4379976"/>
            <a:ext cx="9994392" cy="1133856"/>
          </a:xfrm>
          <a:prstGeom prst="roundRect">
            <a:avLst>
              <a:gd name="adj" fmla="val 12000"/>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72184" y="4636008"/>
            <a:ext cx="9299448" cy="548640"/>
          </a:xfrm>
          <a:prstGeom prst="rect">
            <a:avLst/>
          </a:prstGeom>
          <a:noFill/>
        </p:spPr>
        <p:txBody>
          <a:bodyPr wrap="square" lIns="9144" rIns="9144" tIns="0" bIns="0" anchor="ctr">
            <a:spAutoFit/>
          </a:bodyPr>
          <a:lstStyle/>
          <a:p>
            <a:pPr algn="ctr">
              <a:spcBef>
                <a:spcPts val="0"/>
              </a:spcBef>
              <a:spcAft>
                <a:spcPts val="0"/>
              </a:spcAft>
            </a:pPr>
            <a:r>
              <a:rPr sz="1930" b="1" i="0">
                <a:solidFill>
                  <a:srgbClr val="FFFFFF"/>
                </a:solidFill>
                <a:latin typeface="Aptos"/>
              </a:rPr>
              <a:t>Implemented prototype + component-level evidence + clear limits for field validation</a:t>
            </a:r>
          </a:p>
        </p:txBody>
      </p:sp>
      <p:sp>
        <p:nvSpPr>
          <p:cNvPr id="26" name="TextBox 25"/>
          <p:cNvSpPr txBox="1"/>
          <p:nvPr/>
        </p:nvSpPr>
        <p:spPr>
          <a:xfrm>
            <a:off x="1170432" y="5888736"/>
            <a:ext cx="9893808" cy="320040"/>
          </a:xfrm>
          <a:prstGeom prst="rect">
            <a:avLst/>
          </a:prstGeom>
          <a:noFill/>
        </p:spPr>
        <p:txBody>
          <a:bodyPr wrap="square" lIns="9144" rIns="9144" tIns="0" bIns="0" anchor="ctr">
            <a:spAutoFit/>
          </a:bodyPr>
          <a:lstStyle/>
          <a:p>
            <a:pPr algn="ctr">
              <a:spcBef>
                <a:spcPts val="0"/>
              </a:spcBef>
              <a:spcAft>
                <a:spcPts val="0"/>
              </a:spcAft>
            </a:pPr>
            <a:r>
              <a:rPr sz="2100" b="1" i="0">
                <a:solidFill>
                  <a:srgbClr val="1769E0"/>
                </a:solidFill>
                <a:latin typeface="Aptos"/>
              </a:rPr>
              <a:t>Thank you  ·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569</Words>
  <Application>Microsoft Macintosh PowerPoint</Application>
  <PresentationFormat>Widescreen</PresentationFormat>
  <Paragraphs>119</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CeylonGo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CeylonGo PP2 White Blue Clear Redesign</dc:title>
  <dc:subject>CeylonGo PP2 redesigned white and blue deck</dc:subject>
  <dc:creator>OpenAI</dc:creator>
  <cp:lastModifiedBy>WIJESINGHE I.D.W. it22555458</cp:lastModifiedBy>
  <cp:revision>3</cp:revision>
  <dcterms:created xsi:type="dcterms:W3CDTF">2026-08-30T16:48:59Z</dcterms:created>
  <dcterms:modified xsi:type="dcterms:W3CDTF">2026-08-31T07:17:50Z</dcterms:modified>
</cp:coreProperties>
</file>