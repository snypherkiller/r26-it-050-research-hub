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</p:sldIdLst>
  <p:sldSz cx="18288000" cy="10287000"/>
  <p:notesSz cx="6858000" cy="9144000"/>
  <p:embeddedFontLst>
    <p:embeddedFont>
      <p:font typeface="Anton" pitchFamily="2" charset="77"/>
      <p:regular r:id="rId32"/>
    </p:embeddedFont>
    <p:embeddedFont>
      <p:font typeface="Calibri (MS) Bold" panose="020F0702030404030204" pitchFamily="34" charset="0"/>
      <p:regular r:id="rId33"/>
      <p:bold r:id="rId34"/>
    </p:embeddedFont>
    <p:embeddedFont>
      <p:font typeface="Poppins" pitchFamily="2" charset="77"/>
      <p:regular r:id="rId35"/>
      <p:bold r:id="rId36"/>
      <p:italic r:id="rId37"/>
      <p:boldItalic r:id="rId38"/>
    </p:embeddedFont>
    <p:embeddedFont>
      <p:font typeface="Poppins Bold" pitchFamily="2" charset="77"/>
      <p:regular r:id="rId39"/>
      <p:bold r:id="rId40"/>
    </p:embeddedFont>
    <p:embeddedFont>
      <p:font typeface="Poppins Light" panose="00000400000000000000" pitchFamily="2" charset="77"/>
      <p:regular r:id="rId41"/>
      <p: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 autoAdjust="0"/>
    <p:restoredTop sz="94589" autoAdjust="0"/>
  </p:normalViewPr>
  <p:slideViewPr>
    <p:cSldViewPr>
      <p:cViewPr>
        <p:scale>
          <a:sx n="64" d="100"/>
          <a:sy n="64" d="100"/>
        </p:scale>
        <p:origin x="1616" y="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039" y="603999"/>
            <a:ext cx="16897931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0"/>
              </a:lnSpc>
            </a:pPr>
            <a:r>
              <a:rPr lang="en-US" sz="5899" spc="10" dirty="0">
                <a:solidFill>
                  <a:srgbClr val="146C94"/>
                </a:solidFill>
                <a:latin typeface="Anton"/>
                <a:ea typeface="Anton"/>
                <a:cs typeface="Anton"/>
                <a:sym typeface="Anton"/>
              </a:rPr>
              <a:t>AI-Powered Unified Sri Lankan Tourism Platform</a:t>
            </a:r>
          </a:p>
          <a:p>
            <a:pPr algn="ctr">
              <a:lnSpc>
                <a:spcPts val="8850"/>
              </a:lnSpc>
            </a:pPr>
            <a:r>
              <a:rPr lang="en-US" sz="5899" spc="10" dirty="0">
                <a:solidFill>
                  <a:srgbClr val="146C94"/>
                </a:solidFill>
                <a:latin typeface="Anton"/>
                <a:ea typeface="Anton"/>
                <a:cs typeface="Anton"/>
                <a:sym typeface="Anton"/>
              </a:rPr>
              <a:t> Using </a:t>
            </a:r>
            <a:r>
              <a:rPr lang="en-US" sz="5899" spc="10" dirty="0" err="1">
                <a:solidFill>
                  <a:srgbClr val="146C94"/>
                </a:solidFill>
                <a:latin typeface="Anton"/>
                <a:ea typeface="Anton"/>
                <a:cs typeface="Anton"/>
                <a:sym typeface="Anton"/>
              </a:rPr>
              <a:t>GraphRAG</a:t>
            </a:r>
            <a:r>
              <a:rPr lang="en-US" sz="5899" spc="10" dirty="0">
                <a:solidFill>
                  <a:srgbClr val="146C94"/>
                </a:solidFill>
                <a:latin typeface="Anton"/>
                <a:ea typeface="Anton"/>
                <a:cs typeface="Anton"/>
                <a:sym typeface="Anton"/>
              </a:rPr>
              <a:t> and LLM Orchestration </a:t>
            </a:r>
          </a:p>
        </p:txBody>
      </p:sp>
      <p:sp>
        <p:nvSpPr>
          <p:cNvPr id="3" name="Freeform 3"/>
          <p:cNvSpPr/>
          <p:nvPr/>
        </p:nvSpPr>
        <p:spPr>
          <a:xfrm>
            <a:off x="-573719" y="9777070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277600" y="8946537"/>
            <a:ext cx="7620000" cy="806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Madushan M.</a:t>
            </a:r>
          </a:p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 (IT22214720)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19800" y="2833658"/>
            <a:ext cx="5557761" cy="756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 ID: </a:t>
            </a:r>
            <a:r>
              <a:rPr lang="en-US" sz="36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R26-IT-050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43951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4381310" y="1752523"/>
                </a:moveTo>
                <a:lnTo>
                  <a:pt x="0" y="1752523"/>
                </a:lnTo>
                <a:lnTo>
                  <a:pt x="0" y="0"/>
                </a:lnTo>
                <a:lnTo>
                  <a:pt x="4381310" y="0"/>
                </a:lnTo>
                <a:lnTo>
                  <a:pt x="4381310" y="17525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45964" y="3530254"/>
            <a:ext cx="5464636" cy="1493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 lang="en-US" sz="2400" b="1" dirty="0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85803" lvl="2" indent="-228601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MRS. DILANI LUNUGALAGE </a:t>
            </a:r>
            <a:br>
              <a:rPr lang="en-US" sz="30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30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(SUPERVISOR) 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F2CF9A3F-0E18-926D-E8EA-5B967475ACD6}"/>
              </a:ext>
            </a:extLst>
          </p:cNvPr>
          <p:cNvGrpSpPr>
            <a:grpSpLocks noChangeAspect="1"/>
          </p:cNvGrpSpPr>
          <p:nvPr/>
        </p:nvGrpSpPr>
        <p:grpSpPr>
          <a:xfrm>
            <a:off x="1405264" y="6264060"/>
            <a:ext cx="2429161" cy="2579629"/>
            <a:chOff x="0" y="0"/>
            <a:chExt cx="5147910" cy="5466784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79D306C-5FA2-DEAA-D79A-144F1DD3BAE3}"/>
                </a:ext>
              </a:extLst>
            </p:cNvPr>
            <p:cNvSpPr/>
            <p:nvPr/>
          </p:nvSpPr>
          <p:spPr>
            <a:xfrm>
              <a:off x="0" y="0"/>
              <a:ext cx="5147910" cy="546678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18086" t="-9790" r="-17032" b="-93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E2C5C409-A1A1-927A-FFDD-4C1E180EAF3D}"/>
              </a:ext>
            </a:extLst>
          </p:cNvPr>
          <p:cNvGrpSpPr>
            <a:grpSpLocks noChangeAspect="1"/>
          </p:cNvGrpSpPr>
          <p:nvPr/>
        </p:nvGrpSpPr>
        <p:grpSpPr>
          <a:xfrm>
            <a:off x="5356902" y="6273365"/>
            <a:ext cx="2465083" cy="2465073"/>
            <a:chOff x="0" y="0"/>
            <a:chExt cx="6350000" cy="6349975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F257F6B-2322-F724-D4B8-E2B08E578233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9328" t="-24747" r="-17650" b="-45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6">
            <a:extLst>
              <a:ext uri="{FF2B5EF4-FFF2-40B4-BE49-F238E27FC236}">
                <a16:creationId xmlns:a16="http://schemas.microsoft.com/office/drawing/2014/main" id="{3F24C78C-A4CC-7AB6-EE81-D3F6A356C0B5}"/>
              </a:ext>
            </a:extLst>
          </p:cNvPr>
          <p:cNvGrpSpPr>
            <a:grpSpLocks noChangeAspect="1"/>
          </p:cNvGrpSpPr>
          <p:nvPr/>
        </p:nvGrpSpPr>
        <p:grpSpPr>
          <a:xfrm>
            <a:off x="9491148" y="6270326"/>
            <a:ext cx="2465083" cy="2465073"/>
            <a:chOff x="0" y="0"/>
            <a:chExt cx="6350000" cy="6349975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33198BB-B1F3-E59B-0A90-E2CF04846292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t="-25047" b="-250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7">
            <a:extLst>
              <a:ext uri="{FF2B5EF4-FFF2-40B4-BE49-F238E27FC236}">
                <a16:creationId xmlns:a16="http://schemas.microsoft.com/office/drawing/2014/main" id="{3EFB98F3-7D57-AC05-19B2-367DA12D3526}"/>
              </a:ext>
            </a:extLst>
          </p:cNvPr>
          <p:cNvGrpSpPr>
            <a:grpSpLocks noChangeAspect="1"/>
          </p:cNvGrpSpPr>
          <p:nvPr/>
        </p:nvGrpSpPr>
        <p:grpSpPr>
          <a:xfrm>
            <a:off x="13797780" y="6145188"/>
            <a:ext cx="2579640" cy="2579629"/>
            <a:chOff x="0" y="0"/>
            <a:chExt cx="6350000" cy="6349975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B5CBA0E0-3AF4-A9B9-3FE5-0C74133756F5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3699" t="-58656" r="-22612" b="-839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4">
            <a:extLst>
              <a:ext uri="{FF2B5EF4-FFF2-40B4-BE49-F238E27FC236}">
                <a16:creationId xmlns:a16="http://schemas.microsoft.com/office/drawing/2014/main" id="{156D43C5-B964-345E-DD7B-93C904D60DC5}"/>
              </a:ext>
            </a:extLst>
          </p:cNvPr>
          <p:cNvSpPr txBox="1"/>
          <p:nvPr/>
        </p:nvSpPr>
        <p:spPr>
          <a:xfrm>
            <a:off x="6688620" y="8952259"/>
            <a:ext cx="7620000" cy="806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Kumarasinghe K.G.A.M.S.D.C.</a:t>
            </a:r>
          </a:p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(IT22224866)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634006CC-2E7B-5981-A5C4-9E50E1D5A738}"/>
              </a:ext>
            </a:extLst>
          </p:cNvPr>
          <p:cNvSpPr txBox="1"/>
          <p:nvPr/>
        </p:nvSpPr>
        <p:spPr>
          <a:xfrm>
            <a:off x="2216468" y="8939765"/>
            <a:ext cx="7620000" cy="806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Wijesinghe I.D.W. </a:t>
            </a:r>
          </a:p>
          <a:p>
            <a:pPr marL="350521" lvl="2" algn="ctr">
              <a:lnSpc>
                <a:spcPts val="3220"/>
              </a:lnSpc>
            </a:pP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(IT22555458)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C496E97E-66AA-4A4A-3F28-1C5F461FF061}"/>
              </a:ext>
            </a:extLst>
          </p:cNvPr>
          <p:cNvSpPr txBox="1"/>
          <p:nvPr/>
        </p:nvSpPr>
        <p:spPr>
          <a:xfrm>
            <a:off x="-1364932" y="8515912"/>
            <a:ext cx="7620000" cy="1255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endParaRPr lang="en-US" sz="2499" b="1" dirty="0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220"/>
              </a:lnSpc>
            </a:pPr>
            <a:r>
              <a:rPr lang="en-US" sz="2300" dirty="0" err="1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Deniyawatte</a:t>
            </a: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 D.G.A.D.N. </a:t>
            </a:r>
            <a:b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23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(IT22895196)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B2E034-164D-EAB5-20D4-543D8435DD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434108"/>
            <a:ext cx="2604908" cy="26049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CB64A6-4487-5AEB-0008-DBCEBD38E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606624"/>
            <a:ext cx="3278930" cy="2400388"/>
          </a:xfrm>
          <a:prstGeom prst="rect">
            <a:avLst/>
          </a:prstGeom>
        </p:spPr>
      </p:pic>
      <p:sp>
        <p:nvSpPr>
          <p:cNvPr id="33" name="TextBox 7">
            <a:extLst>
              <a:ext uri="{FF2B5EF4-FFF2-40B4-BE49-F238E27FC236}">
                <a16:creationId xmlns:a16="http://schemas.microsoft.com/office/drawing/2014/main" id="{E47F1BE1-81D0-60DB-C818-25AF4D48D846}"/>
              </a:ext>
            </a:extLst>
          </p:cNvPr>
          <p:cNvSpPr txBox="1"/>
          <p:nvPr/>
        </p:nvSpPr>
        <p:spPr>
          <a:xfrm>
            <a:off x="11577561" y="3434108"/>
            <a:ext cx="11249168" cy="149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endParaRPr lang="en-US" sz="2400" b="1" dirty="0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85800" lvl="2" indent="-228600" algn="l">
              <a:lnSpc>
                <a:spcPts val="4200"/>
              </a:lnSpc>
              <a:buFont typeface="Arial"/>
              <a:buChar char="⚬"/>
            </a:pPr>
            <a:r>
              <a:rPr lang="en-US" sz="30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MRS. DULANI JAYASINGHE</a:t>
            </a:r>
          </a:p>
          <a:p>
            <a:pPr marL="457200" lvl="2" algn="l">
              <a:lnSpc>
                <a:spcPts val="4200"/>
              </a:lnSpc>
            </a:pPr>
            <a:r>
              <a:rPr lang="en-US" sz="3000" dirty="0">
                <a:solidFill>
                  <a:srgbClr val="062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 (CO-SUPERVISOR)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104900"/>
            <a:ext cx="11040818" cy="65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USER AND STAKEHOLDERS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618936"/>
            <a:ext cx="16734854" cy="126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Users :</a:t>
            </a: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Local and foreign independent travelers seeking personalized, safe, and efficient travel experiences in Sri Lanka.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281992"/>
            <a:ext cx="16734854" cy="2101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Stakeholders : </a:t>
            </a:r>
          </a:p>
          <a:p>
            <a:pPr marL="548489" lvl="2" indent="-182830" algn="l">
              <a:lnSpc>
                <a:spcPts val="3358"/>
              </a:lnSpc>
              <a:buFont typeface="Arial"/>
              <a:buChar char="⚬"/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Service Providers: Hotel owners, vehicle suppliers, and private drivers.</a:t>
            </a:r>
          </a:p>
          <a:p>
            <a:pPr marL="548489" lvl="2" indent="-182830" algn="l">
              <a:lnSpc>
                <a:spcPts val="3358"/>
              </a:lnSpc>
              <a:buFont typeface="Arial"/>
              <a:buChar char="⚬"/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Government Authorities: Sri Lanka Tourism Board and Disaster Management Centre (DMC).</a:t>
            </a:r>
          </a:p>
          <a:p>
            <a:pPr marL="548489" lvl="2" indent="-182830" algn="l">
              <a:lnSpc>
                <a:spcPts val="3358"/>
              </a:lnSpc>
              <a:buFont typeface="Arial"/>
              <a:buChar char="⚬"/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Local Communities: Heritage sites and cultural attractions seeking better visibility.</a:t>
            </a:r>
          </a:p>
          <a:p>
            <a:pPr marL="548489" lvl="2" indent="-182830" algn="l">
              <a:lnSpc>
                <a:spcPts val="3358"/>
              </a:lnSpc>
            </a:pPr>
            <a:endParaRPr lang="en-US" sz="2399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14220939" y="955905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2810701"/>
            <a:ext cx="16734854" cy="126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399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Problem Statement </a:t>
            </a:r>
          </a:p>
          <a:p>
            <a:pPr algn="l">
              <a:lnSpc>
                <a:spcPts val="3358"/>
              </a:lnSpc>
            </a:pPr>
            <a:r>
              <a:rPr lang="en-US" sz="239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Existing tourism platforms in Sri Lanka are fragmented and lack integrated services, intelligent itinerary generation, and real-time personalization, making travel planning inefficient for tourists.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3634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56795" y="4627150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Lack of integration with real-time landslide/flood alerts and failure to account for road gradients causes mechanical failures and accidents.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62050"/>
            <a:ext cx="10458841" cy="83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8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6795" y="3209192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Tourists must use multiple disconnected apps for booking, navigation, and information, leading to a complex and time-consuming experience.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795" y="2531507"/>
            <a:ext cx="7440397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FRAGMENTED PLANNING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6795" y="3946427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MISS SAFETY HAZARD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425126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56795" y="6063434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Static maps ignore personal preferences and practical travel radii, resulting in wasted time on the road and suboptimal itineraries.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795" y="5382711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INEFFICIENT ROUTING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5687549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56795" y="7481383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Travelers often visit heritage sites without understanding their historical or cultural significance due to a lack of immediate, contextual information.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6795" y="6800669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GAP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7105507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70882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56795" y="5499621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Existing platforms offer generic itineraries that do not adapt to individual constraints like budget, dietary needs, or real-time availability.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62050"/>
            <a:ext cx="11329826" cy="1648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8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SOLUTIONS AND THEIR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6795" y="4081672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Current apps like Google Maps focus only on the shortest path, ignoring vehicle capacity , road steepness, and weather conditions.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795" y="3403978"/>
            <a:ext cx="7440397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DISTANCE-BASED NAVIGATION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6795" y="4818907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STATIC RECOMMENDATIONS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512374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56795" y="6935905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Standard LLMs often produce "hallucinations" or generic info because they lack a structured knowledge base for the Sri Lankan context.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795" y="6255191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UNRELIABLE AI OUTPUTS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6560029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3634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56795" y="4627150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Combines vehicle mechanics, geospatial boundaries, and personal preferences to provide safe and personalized travel plans.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62050"/>
            <a:ext cx="10458841" cy="83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8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PROPOSED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6795" y="3209192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 single platform integrating GraphRAG and LLM Orchestration to bridge the gap between tourism data and user needs.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795" y="2531507"/>
            <a:ext cx="744039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 AI ECOSYSTEM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6795" y="3946427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CONTEXT-AWARE REASONING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425126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56795" y="6063434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Integrates live Weather APIs, Google Elevation data, and DMC alerts to ensure itineraries are practically executable.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795" y="5382711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DATA FUSION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5687549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56795" y="7481383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Uses a Knowledge Graph to ensure all historical facts and recommendations are accurate and contextually relevant.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6795" y="6800669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GROUNDED INFORMATION GENERATION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7105507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3634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556795" y="4627150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Develops the Intelligent Mobility Engine to match vehicle engine capacity  with road gradients and real-time safety alerts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82160"/>
            <a:ext cx="16903427" cy="58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4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COMPONENTS / CONTRIBUTIONS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6795" y="3209192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Focuses on generating fully integrated, constraint-validated tour packages (Hotels, Transport, Activities) using a Knowledge Graph.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6795" y="2531507"/>
            <a:ext cx="9328118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2"/>
              </a:lnSpc>
            </a:pPr>
            <a:r>
              <a:rPr lang="en-US" sz="3200" b="1" dirty="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DENIYAWATTE D.G.A.D.N (IT22895196)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6795" y="3946427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WIJESINGHE I.D.W.  (IT22555458)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4251265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556795" y="6063434"/>
            <a:ext cx="14657622" cy="80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Implements spatiotemporal optimization to create reachable daily travel radii and time-saving day-by-day itineraries.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795" y="5382711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KUMARASINGHE K.G.A.M.S.D.C.  (IT22224866)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5687549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56795" y="7481383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Provides AI-powered landmark recognition from images and generates detailed contextual historical/cultural information using LLMs.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6795" y="6800669"/>
            <a:ext cx="9328118" cy="67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MADUSHAN M.  (IT22214720)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7105507"/>
            <a:ext cx="254651" cy="215846"/>
          </a:xfrm>
          <a:custGeom>
            <a:avLst/>
            <a:gdLst/>
            <a:ahLst/>
            <a:cxnLst/>
            <a:rect l="l" t="t" r="r" b="b"/>
            <a:pathLst>
              <a:path w="254651" h="215846">
                <a:moveTo>
                  <a:pt x="0" y="0"/>
                </a:moveTo>
                <a:lnTo>
                  <a:pt x="254651" y="0"/>
                </a:lnTo>
                <a:lnTo>
                  <a:pt x="254651" y="215846"/>
                </a:lnTo>
                <a:lnTo>
                  <a:pt x="0" y="215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230198" y="9658350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4381309" y="1752524"/>
                </a:moveTo>
                <a:lnTo>
                  <a:pt x="0" y="1752524"/>
                </a:lnTo>
                <a:lnTo>
                  <a:pt x="0" y="0"/>
                </a:lnTo>
                <a:lnTo>
                  <a:pt x="4381309" y="0"/>
                </a:lnTo>
                <a:lnTo>
                  <a:pt x="4381309" y="17525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85800" y="1583312"/>
            <a:ext cx="13335000" cy="342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600" b="1">
                <a:solidFill>
                  <a:srgbClr val="376092"/>
                </a:solidFill>
                <a:latin typeface="Poppins Bold"/>
                <a:ea typeface="Poppins Bold"/>
                <a:cs typeface="Poppins Bold"/>
                <a:sym typeface="Poppins Bold"/>
              </a:rPr>
              <a:t>Hotel and Activity Knowledge Graph Module for an AI-Based Tour Package Generator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039600" y="4074288"/>
            <a:ext cx="5922616" cy="5922592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8086" t="-9790" r="-17032" b="-93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2926" y="5442499"/>
            <a:ext cx="9855051" cy="1254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799" b="1" dirty="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DENIYAWATTE D.G.A.D.N  </a:t>
            </a:r>
          </a:p>
          <a:p>
            <a:pPr algn="l">
              <a:lnSpc>
                <a:spcPts val="4512"/>
              </a:lnSpc>
            </a:pPr>
            <a:r>
              <a:rPr lang="en-US" sz="2799" b="1" dirty="0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IT22895196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2926" y="7035584"/>
            <a:ext cx="9855051" cy="8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18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Focuses on generating fully integrated, constraint-validated tour packages (Hotels, Transport, Activities) using a Knowledge Graph.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822478" y="2310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Hotel and Activity Knowledge Graph Module for an AI-Based Tour Package Generator | IT22895196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2233866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Tourists use many apps to find hotels and activities.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Most systems recommend separate services, not full tour packages.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Hotels and activities are not properly connected in many systems.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Some AI travel tools create impractical travel plans.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 system is needed to connect hotels and activities for better trip planning.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404810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433772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Main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262828"/>
            <a:ext cx="14657622" cy="37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 knowledge graph module for hotels and activities to support tour package generation.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062808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Sub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896038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Collect hotel and activity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Define key attributes (location, price, availability).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Build a knowledge graph connecting hotels and activities.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Find compatible hotel–activity combinations.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Integrate with the vehicle module.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52170"/>
            <a:ext cx="753518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Methodology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95823"/>
            <a:ext cx="7535182" cy="18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Artificial Intelligence for travel planning.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Knowledge Graphs to connect tourism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systems for hotel and activity management.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Constraint matching based on user preferences.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97146" y="1152170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Latest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7146" y="1976146"/>
            <a:ext cx="5517205" cy="260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Knowledge Graph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GraphRAG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LLM API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Node.js &amp; Express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React.js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562094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Validate and Evaluate the 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425720"/>
            <a:ext cx="14657622" cy="408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Constraint Validation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Check whether selected hotels and activities match user preferences (location, price, availability).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Graph Validation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Verify that hotels and activities are correctly connected in the knowledge graph.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Testing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Test if the hotel and activity module works correctly with the vehicle module.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Testing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Measure system response time when generating tour packages.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User Evaluation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Collect user feedback on the relevance and practicality of the generated plans.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22478" y="2310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Hotel and Activity Knowledge Graph Module for an AI-Based Tour Package Generator | IT22895196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884366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818197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data will be collected from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public tourism websites, travel platforms, and tourism authority resources.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This data will be structured and stored in the system database for itinerary generation.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Hotel Data: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Location, Price category, Availability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Activity Data: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Location, Type of activity, Operating hours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362515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and Ethical Clearance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300978"/>
            <a:ext cx="14657622" cy="18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Protect user preference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 data only for research purposes.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Generate results using validated graph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Follow ethical AI guidelines.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22478" y="2310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Hotel and Activity Knowledge Graph Module for an AI-Based Tour Package Generator | IT22895196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19484" y="5871348"/>
            <a:ext cx="7556439" cy="3741834"/>
          </a:xfrm>
          <a:custGeom>
            <a:avLst/>
            <a:gdLst/>
            <a:ahLst/>
            <a:cxnLst/>
            <a:rect l="l" t="t" r="r" b="b"/>
            <a:pathLst>
              <a:path w="7556439" h="3741834">
                <a:moveTo>
                  <a:pt x="0" y="0"/>
                </a:moveTo>
                <a:lnTo>
                  <a:pt x="7556439" y="0"/>
                </a:lnTo>
                <a:lnTo>
                  <a:pt x="7556439" y="3741834"/>
                </a:lnTo>
                <a:lnTo>
                  <a:pt x="0" y="3741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6" r="-6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176080" y="1593659"/>
            <a:ext cx="7433140" cy="3763027"/>
          </a:xfrm>
          <a:custGeom>
            <a:avLst/>
            <a:gdLst/>
            <a:ahLst/>
            <a:cxnLst/>
            <a:rect l="l" t="t" r="r" b="b"/>
            <a:pathLst>
              <a:path w="7433140" h="3763027">
                <a:moveTo>
                  <a:pt x="0" y="0"/>
                </a:moveTo>
                <a:lnTo>
                  <a:pt x="7433140" y="0"/>
                </a:lnTo>
                <a:lnTo>
                  <a:pt x="7433140" y="3763027"/>
                </a:lnTo>
                <a:lnTo>
                  <a:pt x="0" y="3763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73915" y="1602520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 of the Individual Component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3915" y="2479201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module for hotels and tourism activities.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Store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tourism data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such as hotel details and activity information.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Extract user preferences from prompts (e.g.,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destination, hotel type, activity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Match hotels and activities using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graph relationships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constraints.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 selected results to the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GraphRAG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module for itinerary generation.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73915" y="4613944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 and Common Components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3915" y="5460404"/>
            <a:ext cx="14657622" cy="334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Vehicle Module – transport services integrated with hotel and activity results.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GraphRAG Module – retrieves graph data for itinerary generation.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LLM API – generates human-readable travel plans.</a:t>
            </a:r>
          </a:p>
          <a:p>
            <a:pPr algn="l">
              <a:lnSpc>
                <a:spcPts val="2961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Components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Backend: Node.js &amp; Express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Database: MongoDB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Frontend: React.js interface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22478" y="2310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Hotel and Activity Knowledge Graph Module for an AI-Based Tour Package Generator | IT22895196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2926" y="1597640"/>
            <a:ext cx="13335000" cy="228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600" b="1">
                <a:solidFill>
                  <a:srgbClr val="376092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Mobility and Vehicle Selection Engine</a:t>
            </a:r>
          </a:p>
        </p:txBody>
      </p:sp>
      <p:sp>
        <p:nvSpPr>
          <p:cNvPr id="3" name="Freeform 3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736396" y="3122464"/>
            <a:ext cx="5922616" cy="5922592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19328" t="-24747" r="-17650" b="-45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2926" y="5442499"/>
            <a:ext cx="9855051" cy="113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0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WIJESINGHE I.D.W. </a:t>
            </a:r>
          </a:p>
          <a:p>
            <a:pPr algn="l">
              <a:lnSpc>
                <a:spcPts val="4512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(IT22555458)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2926" y="7035584"/>
            <a:ext cx="9855051" cy="73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18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Develops the Intelligent Mobility Engine to match vehicle engine capacity with road gradients and real-time safety alerts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04675"/>
            <a:ext cx="16133342" cy="166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60"/>
              </a:lnSpc>
              <a:buFont typeface="Arial"/>
              <a:buChar char="•"/>
            </a:pPr>
            <a:r>
              <a:rPr lang="en-US" sz="2100" b="1" spc="-6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Limit: </a:t>
            </a:r>
            <a:r>
              <a:rPr lang="en-US" sz="2100" spc="-6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Navigation apps like Google Maps only show the shortest way, not if the vehicle is safe for the road</a:t>
            </a:r>
          </a:p>
          <a:p>
            <a:pPr marL="453390" lvl="1" indent="-226695" algn="l">
              <a:lnSpc>
                <a:spcPts val="3360"/>
              </a:lnSpc>
              <a:buFont typeface="Arial"/>
              <a:buChar char="•"/>
            </a:pPr>
            <a:r>
              <a:rPr lang="en-US" sz="2100" b="1" spc="-6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Power:</a:t>
            </a:r>
            <a:r>
              <a:rPr lang="en-US" sz="2100" spc="-6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Small cars with low engine capacity often struggle or fail on very steep mountain roads.</a:t>
            </a:r>
          </a:p>
          <a:p>
            <a:pPr marL="453390" lvl="1" indent="-226695" algn="l">
              <a:lnSpc>
                <a:spcPts val="3360"/>
              </a:lnSpc>
              <a:buFont typeface="Arial"/>
              <a:buChar char="•"/>
            </a:pPr>
            <a:r>
              <a:rPr lang="en-US" sz="2100" b="1" spc="-6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Safety Gaps:</a:t>
            </a:r>
            <a:r>
              <a:rPr lang="en-US" sz="2100" spc="-6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Real-time landslide or flood alerts from the DMC are not connected to current travel apps.</a:t>
            </a:r>
          </a:p>
          <a:p>
            <a:pPr marL="453390" lvl="1" indent="-226695" algn="l">
              <a:lnSpc>
                <a:spcPts val="3360"/>
              </a:lnSpc>
              <a:buFont typeface="Arial"/>
              <a:buChar char="•"/>
            </a:pPr>
            <a:r>
              <a:rPr lang="en-US" sz="2100" b="1" spc="-69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Wrong Costs: </a:t>
            </a:r>
            <a:r>
              <a:rPr lang="en-US" sz="2100" spc="-69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Travel costs are calculated only by distance, ignoring fuel used for climbing steep hills.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23903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4923854"/>
            <a:ext cx="14657622" cy="3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Build an AI engine using GraphRAG to suggest the safest vehicle and route for Sri Lankan tourists.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51948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Main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747843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Sub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490291"/>
            <a:ext cx="14657622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255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Create a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of Sri Lankan roads and vehicle specs</a:t>
            </a:r>
          </a:p>
          <a:p>
            <a:pPr marL="453390" lvl="1" indent="-226695" algn="l">
              <a:lnSpc>
                <a:spcPts val="3255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Build a logic to match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Engine CC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Road Steepness.</a:t>
            </a:r>
          </a:p>
          <a:p>
            <a:pPr marL="453390" lvl="1" indent="-226695" algn="l">
              <a:lnSpc>
                <a:spcPts val="3255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Connect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DMC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alerts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for live safety updates.</a:t>
            </a:r>
          </a:p>
          <a:p>
            <a:pPr marL="453390" lvl="1" indent="-226695" algn="l">
              <a:lnSpc>
                <a:spcPts val="3255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Calculate "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True Trip Cost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" based on engine strain.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22478" y="165526"/>
            <a:ext cx="9715054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Mobility and Vehicle Selection Engine   |  IT22555458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399771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Methodology – Knowledge Domain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24052"/>
            <a:ext cx="9328118" cy="3727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7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 (Neo4j):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Storing road gradients and vehicle mechanical data to help the AI "reason" better than a normal database</a:t>
            </a:r>
          </a:p>
          <a:p>
            <a:pPr algn="l">
              <a:lnSpc>
                <a:spcPts val="1050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317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Reasoning Engine: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Linking a Large Language Model (LLM) with the graph to find facts about vehicle limits.</a:t>
            </a:r>
          </a:p>
          <a:p>
            <a:pPr algn="l">
              <a:lnSpc>
                <a:spcPts val="317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317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Safety Score Logic: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 special formula that checks engine power, passenger weight, and road steepness.</a:t>
            </a:r>
          </a:p>
          <a:p>
            <a:pPr algn="l">
              <a:lnSpc>
                <a:spcPts val="317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401720" y="1399771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Latest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01720" y="2234421"/>
            <a:ext cx="6886280" cy="227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Knowledge Graph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GraphRAG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Gemini 1.5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External APIs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862000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Validate and Evaluate the 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31826"/>
            <a:ext cx="14657622" cy="1989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129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Testing: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Comparing AI suggestions with real-world road scenarios in Sri Lanka.</a:t>
            </a:r>
          </a:p>
          <a:p>
            <a:pPr marL="453390" lvl="1" indent="-226695" algn="l">
              <a:lnSpc>
                <a:spcPts val="3129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Expert Review: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Asking travel experts to check if the safety warnings are correct and helpful.</a:t>
            </a:r>
          </a:p>
          <a:p>
            <a:pPr marL="453390" lvl="1" indent="-226695" algn="l">
              <a:lnSpc>
                <a:spcPts val="3129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 Check: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Comparing results against standard apps like Google Maps to prove better safety.</a:t>
            </a:r>
          </a:p>
          <a:p>
            <a:pPr marL="453390" lvl="1" indent="-226695" algn="l">
              <a:lnSpc>
                <a:spcPts val="3129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Testing: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Using Postman to ensure all APIs and reasoning logic work without errors</a:t>
            </a:r>
          </a:p>
          <a:p>
            <a:pPr algn="l">
              <a:lnSpc>
                <a:spcPts val="3129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22478" y="165526"/>
            <a:ext cx="9715054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Mobility and Vehicle Selection Engine   |  IT22555458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378536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39856"/>
            <a:ext cx="15259372" cy="39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Specifications: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Technical data like Engine Capacity and Torque are collected for various vehicle types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Road &amp; Terrain Data: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Elevation and steepness (gradient) details are pulled from the Google Elevation API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Road Network: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Structured info about Sri Lankan road types and connections is stored in the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Neo4j Knowledge Graph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Live Safety Data: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Real-time hazard alerts (landslides/floods) come directly from the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Disaster Management Centre (DMC)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Conditions: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Live environmental data like rain or mist is fetched from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APIs.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of Interest (POIs):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Verified data for "Scenic Routes" is stored in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MongoDB</a:t>
            </a:r>
          </a:p>
          <a:p>
            <a:pPr algn="l">
              <a:lnSpc>
                <a:spcPts val="3381"/>
              </a:lnSpc>
            </a:pPr>
            <a:endParaRPr lang="en-US" sz="2100" b="1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945284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&amp; Ethics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679090"/>
            <a:ext cx="15259372" cy="1351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654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Storage: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All personal traveler profiles and past trip logs are kept safe in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MongoDB Atlas</a:t>
            </a:r>
          </a:p>
          <a:p>
            <a:pPr marL="453390" lvl="1" indent="-226695" algn="l">
              <a:lnSpc>
                <a:spcPts val="3654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Ethical Goal: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The AI is designed to save lives by giving "Explainable AI" reasons it tells the user exactly why a vehicle is dangerous for a specific road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2478" y="165526"/>
            <a:ext cx="9715054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Mobility and Vehicle Selection Engine   |  IT22555458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822478" y="165526"/>
            <a:ext cx="9715054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Intelligent Mobility and Vehicle Selection Engine   |  IT22555458</a:t>
            </a:r>
          </a:p>
        </p:txBody>
      </p:sp>
      <p:sp>
        <p:nvSpPr>
          <p:cNvPr id="5" name="Freeform 5"/>
          <p:cNvSpPr/>
          <p:nvPr/>
        </p:nvSpPr>
        <p:spPr>
          <a:xfrm>
            <a:off x="9560801" y="866612"/>
            <a:ext cx="8395602" cy="5879424"/>
          </a:xfrm>
          <a:custGeom>
            <a:avLst/>
            <a:gdLst/>
            <a:ahLst/>
            <a:cxnLst/>
            <a:rect l="l" t="t" r="r" b="b"/>
            <a:pathLst>
              <a:path w="8395602" h="5879424">
                <a:moveTo>
                  <a:pt x="0" y="0"/>
                </a:moveTo>
                <a:lnTo>
                  <a:pt x="8395602" y="0"/>
                </a:lnTo>
                <a:lnTo>
                  <a:pt x="8395602" y="5879424"/>
                </a:lnTo>
                <a:lnTo>
                  <a:pt x="0" y="587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75" r="-23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63094" y="921109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 of the Individual Component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3094" y="1562003"/>
            <a:ext cx="8016911" cy="263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956" lvl="1" indent="-172978" algn="l">
              <a:lnSpc>
                <a:spcPts val="2579"/>
              </a:lnSpc>
              <a:buFont typeface="Arial"/>
              <a:buChar char="•"/>
            </a:pP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GraphRAG Reasoning Engine: 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Links the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LLM 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with a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Neo4j Knowledge Graph 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for accurate, safe travel advice.</a:t>
            </a:r>
          </a:p>
          <a:p>
            <a:pPr marL="345956" lvl="1" indent="-172978" algn="l">
              <a:lnSpc>
                <a:spcPts val="2579"/>
              </a:lnSpc>
              <a:buFont typeface="Arial"/>
              <a:buChar char="•"/>
            </a:pP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Safety Score Calculator: Logic that matches 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Engine CC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against 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Road Gradient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passenger load</a:t>
            </a:r>
          </a:p>
          <a:p>
            <a:pPr marL="345956" lvl="1" indent="-172978" algn="l">
              <a:lnSpc>
                <a:spcPts val="2579"/>
              </a:lnSpc>
              <a:buFont typeface="Arial"/>
              <a:buChar char="•"/>
            </a:pP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Hazard Integration: Fetches live landslide and flood alerts from the 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DMC API</a:t>
            </a: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602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API.</a:t>
            </a:r>
          </a:p>
          <a:p>
            <a:pPr marL="345956" lvl="1" indent="-172978" algn="l">
              <a:lnSpc>
                <a:spcPts val="2579"/>
              </a:lnSpc>
              <a:buFont typeface="Arial"/>
              <a:buChar char="•"/>
            </a:pPr>
            <a:r>
              <a:rPr lang="en-US" sz="1602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Smart Optimizer: Generates Safe Vehicle Recommendations, Scenic Routes, and True Trip Costs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2314" y="5897930"/>
            <a:ext cx="902848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 and Common Components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3094" y="6698411"/>
            <a:ext cx="10682540" cy="310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Terrain Module: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Matches vehicle power with road steepness using Google </a:t>
            </a: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Elevation API.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GraphRAG Module: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Retrieves structured facts from the </a:t>
            </a: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"hallucination-free" plans.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LLM API: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Uses </a:t>
            </a: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Gemini 1.5 Pro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generate human-readable justifications for recommendations.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 API Layer: 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Continuous data streams from the </a:t>
            </a: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DMC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services</a:t>
            </a: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live safety.</a:t>
            </a:r>
          </a:p>
          <a:p>
            <a:pPr algn="l">
              <a:lnSpc>
                <a:spcPts val="2208"/>
              </a:lnSpc>
            </a:pPr>
            <a:endParaRPr lang="en-US" sz="1566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208"/>
              </a:lnSpc>
            </a:pPr>
            <a:r>
              <a:rPr lang="en-US" sz="1566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Components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Backend: Node.js &amp; Express.js for logic and REST APIs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Database: Neo4j (Graph data) and MongoDB Atlas</a:t>
            </a:r>
          </a:p>
          <a:p>
            <a:pPr marL="338188" lvl="1" indent="-169094" algn="l">
              <a:lnSpc>
                <a:spcPts val="2208"/>
              </a:lnSpc>
              <a:buFont typeface="Arial"/>
              <a:buChar char="•"/>
            </a:pPr>
            <a:r>
              <a:rPr lang="en-US" sz="1566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Frontend: React Native mobile interface for real-time alerts and maps.</a:t>
            </a:r>
          </a:p>
          <a:p>
            <a:pPr algn="l">
              <a:lnSpc>
                <a:spcPts val="2208"/>
              </a:lnSpc>
            </a:pPr>
            <a:endParaRPr lang="en-US" sz="1566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6432" y="-10033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14382598" y="9810750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4381309" y="1752524"/>
                </a:moveTo>
                <a:lnTo>
                  <a:pt x="0" y="1752524"/>
                </a:lnTo>
                <a:lnTo>
                  <a:pt x="0" y="0"/>
                </a:lnTo>
                <a:lnTo>
                  <a:pt x="4381309" y="0"/>
                </a:lnTo>
                <a:lnTo>
                  <a:pt x="4381309" y="17525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845098" y="4243366"/>
            <a:ext cx="5922616" cy="5922592"/>
            <a:chOff x="0" y="0"/>
            <a:chExt cx="6350000" cy="63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25047" b="-2504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8200" y="1735712"/>
            <a:ext cx="15242516" cy="228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600" b="1">
                <a:solidFill>
                  <a:srgbClr val="376092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Context-Aware Spatio-Temporal Itinerary Optimization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326" y="5594899"/>
            <a:ext cx="9855051" cy="113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Kumarasinghe  K.G.A.M.S.D.C.</a:t>
            </a:r>
          </a:p>
          <a:p>
            <a:pPr algn="l">
              <a:lnSpc>
                <a:spcPts val="4512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IT22224866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326" y="7187984"/>
            <a:ext cx="9855051" cy="73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18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Develops the Spatio-Temporal Itinerary Engine to match tourist preferences with time-constrained travel boundaries and optimized shortest-path routing.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6432" y="-10033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974878" y="3834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Context-Aware Spatio-Temporal Itinerary Optimization System - IT22224866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14850104" y="97655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81100" y="2386266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Tourists face the complex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Tourist Trip Design Problem.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Existing maps provide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point-to-point routing.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They do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not automatically optimize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places based on strict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time limits.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Balancing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interests, distances, and time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is difficult.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This lack of automation causes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time loss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travel fatigue.</a:t>
            </a:r>
          </a:p>
          <a:p>
            <a:pPr algn="l">
              <a:lnSpc>
                <a:spcPts val="2961"/>
              </a:lnSpc>
            </a:pPr>
            <a:endParaRPr lang="en-US" sz="2100" b="1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81100" y="1547648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" y="4548072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Main 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5415228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an AI-assisted itinerary optimization engine to automatically generate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time-efficient, day-by-day travel plans.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100" y="6215208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Sub Objectives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" y="7048438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Collect Sri Lankan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Points of Interest (POI)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Apply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ML profiling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identify tourist interests.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Generate a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geo-spatial travel radius.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 a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Genetic Algorithm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 determine the shortest route.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Convert optimized routes into human-readable text using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AI.</a:t>
            </a:r>
          </a:p>
          <a:p>
            <a:pPr algn="l">
              <a:lnSpc>
                <a:spcPts val="2961"/>
              </a:lnSpc>
            </a:pPr>
            <a:endParaRPr lang="en-US" sz="2100" b="1">
              <a:solidFill>
                <a:srgbClr val="06293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6432" y="-10033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4850104" y="97655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974878" y="3834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Context-Aware Spatio-Temporal Itinerary Optimization System - IT22224866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100" y="1547648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Methodology – Knowledge Domain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100" y="2424542"/>
            <a:ext cx="9169500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user preference profiling.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Metaheuristic Optimization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complex routing problems.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Geospatial Computing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calculate travel boundaries.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Solving the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Tourist Trip Design Problem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, an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NP-hard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optimization problem.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174663" y="1547648"/>
            <a:ext cx="6084637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Latest Technologies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90494" y="2170557"/>
            <a:ext cx="6122211" cy="297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scikit-learn (K-Means)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Genetic Algorithm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Node.js &amp; Express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MongoDB &amp; Redis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React.js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Gemini API (Strictly for XAI text formatting)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862000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Validate and Evaluate the Proposed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466652"/>
            <a:ext cx="16834200" cy="234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014" lvl="1" indent="-227507" algn="l">
              <a:lnSpc>
                <a:spcPts val="3140"/>
              </a:lnSpc>
              <a:buFont typeface="Arial"/>
              <a:buChar char="•"/>
            </a:pPr>
            <a:r>
              <a:rPr lang="en-US" sz="2107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Testing:</a:t>
            </a:r>
            <a:r>
              <a:rPr lang="en-US" sz="2107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Testing the algorithm to ensure it generates logical, time-efficient, day-by-day travel plans.</a:t>
            </a:r>
          </a:p>
          <a:p>
            <a:pPr marL="455014" lvl="1" indent="-227507" algn="l">
              <a:lnSpc>
                <a:spcPts val="3140"/>
              </a:lnSpc>
              <a:buFont typeface="Arial"/>
              <a:buChar char="•"/>
            </a:pPr>
            <a:r>
              <a:rPr lang="en-US" sz="2107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Expert Review</a:t>
            </a:r>
            <a:r>
              <a:rPr lang="en-US" sz="2107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: Asking local tour guides and travel agents to check if the generated travel sequences are practical.</a:t>
            </a:r>
          </a:p>
          <a:p>
            <a:pPr marL="455014" lvl="1" indent="-227507" algn="l">
              <a:lnSpc>
                <a:spcPts val="3140"/>
              </a:lnSpc>
              <a:buFont typeface="Arial"/>
              <a:buChar char="•"/>
            </a:pPr>
            <a:r>
              <a:rPr lang="en-US" sz="2107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 Check</a:t>
            </a:r>
            <a:r>
              <a:rPr lang="en-US" sz="2107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: Comparing total travel distance and time against standard apps like Google Maps to prove better efficiency.</a:t>
            </a:r>
          </a:p>
          <a:p>
            <a:pPr marL="455014" lvl="1" indent="-227507" algn="l">
              <a:lnSpc>
                <a:spcPts val="3140"/>
              </a:lnSpc>
              <a:buFont typeface="Arial"/>
              <a:buChar char="•"/>
            </a:pPr>
            <a:r>
              <a:rPr lang="en-US" sz="2107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Component Testing</a:t>
            </a:r>
            <a:r>
              <a:rPr lang="en-US" sz="2107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: Using Postman to ensure the Python routing microservice and APIs work without errors.</a:t>
            </a:r>
          </a:p>
          <a:p>
            <a:pPr algn="l">
              <a:lnSpc>
                <a:spcPts val="3140"/>
              </a:lnSpc>
            </a:pPr>
            <a:endParaRPr lang="en-US" sz="2107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6432" y="-10033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4850104" y="97655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974878" y="3834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Context-Aware Spatio-Temporal Itinerary Optimization System - IT22224866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100" y="2036766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100" y="2970597"/>
            <a:ext cx="1465762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and geospatial data will be collected from official tourism authorities (e.g., SLTDA) and mapping platforms (e.g., OpenStreetMap).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This data will be structured and stored in the system database for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routing optimization.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POI Data: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Location coordinates, Tourist category (beaches, culture), Operating hours.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User Travel Data: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Available time limits, Hotel location, Personal interests.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1100" y="5514915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and Ethical Clearance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6453378"/>
            <a:ext cx="14657622" cy="1858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Protect user preference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location data.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 data strictly for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purposes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Generate results using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validated algorithmic routing.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Follow ethical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AI guidelines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06432" y="-10033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4850104" y="97655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321988" y="4833894"/>
            <a:ext cx="6571376" cy="4001945"/>
          </a:xfrm>
          <a:custGeom>
            <a:avLst/>
            <a:gdLst/>
            <a:ahLst/>
            <a:cxnLst/>
            <a:rect l="l" t="t" r="r" b="b"/>
            <a:pathLst>
              <a:path w="6571376" h="4001945">
                <a:moveTo>
                  <a:pt x="0" y="0"/>
                </a:moveTo>
                <a:lnTo>
                  <a:pt x="6571376" y="0"/>
                </a:lnTo>
                <a:lnTo>
                  <a:pt x="6571376" y="4001944"/>
                </a:lnTo>
                <a:lnTo>
                  <a:pt x="0" y="4001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41" t="-3005" r="-75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587187" y="2422734"/>
            <a:ext cx="6221033" cy="1630110"/>
          </a:xfrm>
          <a:custGeom>
            <a:avLst/>
            <a:gdLst/>
            <a:ahLst/>
            <a:cxnLst/>
            <a:rect l="l" t="t" r="r" b="b"/>
            <a:pathLst>
              <a:path w="6221033" h="1630110">
                <a:moveTo>
                  <a:pt x="0" y="0"/>
                </a:moveTo>
                <a:lnTo>
                  <a:pt x="6221033" y="0"/>
                </a:lnTo>
                <a:lnTo>
                  <a:pt x="6221033" y="1630110"/>
                </a:lnTo>
                <a:lnTo>
                  <a:pt x="0" y="1630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15494" y="1569869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 of the Individual Component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5494" y="2331190"/>
            <a:ext cx="10506494" cy="345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 </a:t>
            </a:r>
            <a:r>
              <a:rPr lang="en-US" sz="2100" b="1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outing engine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using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 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and a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Genetic Algorithm.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Extract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user preferences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(e.g., interests, hotel location, available time).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Filter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Point of Interest (POI)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data based on tourist preferences.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Calculate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travel boundaries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and find the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shortest travel paths.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 optimized map coordinates to the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 XAI layer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human-readable text generation.</a:t>
            </a:r>
          </a:p>
          <a:p>
            <a:pPr algn="l">
              <a:lnSpc>
                <a:spcPts val="3381"/>
              </a:lnSpc>
            </a:pPr>
            <a:endParaRPr lang="en-US" sz="2100" dirty="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5494" y="5534025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 and Common Components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5494" y="6199632"/>
            <a:ext cx="10827931" cy="371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Gemini API: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Utilized strictly as an Explainable AI (XAI) text formatter.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Redis Cache: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Caches frequently generated routes for low-latency retrieval.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Maps API: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Provides real-world map distances and location data.</a:t>
            </a:r>
          </a:p>
          <a:p>
            <a:pPr algn="l">
              <a:lnSpc>
                <a:spcPts val="2961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Components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Node.js &amp; Express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React.js interface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74878" y="383456"/>
            <a:ext cx="16903427" cy="36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Context-Aware Spatio-Temporal Itinerary Optimization System - IT22224866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230198" y="9658350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4381309" y="1752524"/>
                </a:moveTo>
                <a:lnTo>
                  <a:pt x="0" y="1752524"/>
                </a:lnTo>
                <a:lnTo>
                  <a:pt x="0" y="0"/>
                </a:lnTo>
                <a:lnTo>
                  <a:pt x="4381309" y="0"/>
                </a:lnTo>
                <a:lnTo>
                  <a:pt x="4381309" y="17525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85800" y="1583312"/>
            <a:ext cx="11953622" cy="3420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8"/>
              </a:lnSpc>
            </a:pPr>
            <a:r>
              <a:rPr lang="en-US" sz="6600" b="1">
                <a:solidFill>
                  <a:srgbClr val="376092"/>
                </a:solidFill>
                <a:latin typeface="Poppins Bold"/>
                <a:ea typeface="Poppins Bold"/>
                <a:cs typeface="Poppins Bold"/>
                <a:sym typeface="Poppins Bold"/>
              </a:rPr>
              <a:t>AI Landmark Recognition and Tourist Information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2926" y="5442499"/>
            <a:ext cx="9855051" cy="113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Madushan.M  </a:t>
            </a:r>
          </a:p>
          <a:p>
            <a:pPr algn="l">
              <a:lnSpc>
                <a:spcPts val="4512"/>
              </a:lnSpc>
            </a:pPr>
            <a:r>
              <a:rPr lang="en-US" sz="2799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IT22214720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2926" y="7035584"/>
            <a:ext cx="9855051" cy="73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18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Provides AI-based landmark recognition from tourist images and delivers contextual historical and cultural information using large language models.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711174" y="2949346"/>
            <a:ext cx="5922616" cy="5922592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3699" t="-58656" r="-22612" b="-839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395248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34042"/>
            <a:ext cx="14657622" cy="212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Tourists visiting Sri Lanka often encounter landmarks but do not know their names or historical importance.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Existing tourism apps mainly require manual search or map navigation.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These systems cannot automatically identify landmarks using images.</a:t>
            </a:r>
          </a:p>
          <a:p>
            <a:pPr marL="453390" lvl="1" indent="-226695" algn="l">
              <a:lnSpc>
                <a:spcPts val="338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Tourists therefore miss important historical, cultural, and tourism information about locations they visit.</a:t>
            </a:r>
          </a:p>
          <a:p>
            <a:pPr algn="l">
              <a:lnSpc>
                <a:spcPts val="338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012392"/>
            <a:ext cx="14657622" cy="74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an AI-powered landmark recognition system that identifies tourist landmarks from images and provides detailed tourism information.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195565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Main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004135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Sub 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09366"/>
            <a:ext cx="14657622" cy="213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402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an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image recognition model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identify Sri Lankan landmarks.</a:t>
            </a:r>
          </a:p>
          <a:p>
            <a:pPr marL="453390" lvl="1" indent="-226695" algn="l">
              <a:lnSpc>
                <a:spcPts val="3402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Integrate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information generation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provide historical and tourism details.</a:t>
            </a:r>
          </a:p>
          <a:p>
            <a:pPr marL="453390" lvl="1" indent="-226695" algn="l">
              <a:lnSpc>
                <a:spcPts val="3402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Create a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application interface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where users can capture or upload images.</a:t>
            </a:r>
          </a:p>
          <a:p>
            <a:pPr marL="453390" lvl="1" indent="-226695" algn="l">
              <a:lnSpc>
                <a:spcPts val="3402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 </a:t>
            </a: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landmark identification and tourist guidance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402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57626" y="165526"/>
            <a:ext cx="11027718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Landmark Recognition and Tourist Information System   |  IT22214720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52170"/>
            <a:ext cx="753518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Methodology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95823"/>
            <a:ext cx="8732052" cy="222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Computer Vision for image-based landmark recognition.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Deep Learning models for landmark classification.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 for tourism information generation.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Information Systems for managing landmark data.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986145" y="1152170"/>
            <a:ext cx="9328118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Latest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86145" y="1976146"/>
            <a:ext cx="5517205" cy="2601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Convolutional Neural Network(CNN)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Large Language Models (LLM)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TensorFlow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Node.js &amp; Express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React.js</a:t>
            </a:r>
          </a:p>
          <a:p>
            <a:pPr algn="l">
              <a:lnSpc>
                <a:spcPts val="2961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4562094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Validate and Evaluate the Proposed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425720"/>
            <a:ext cx="15687839" cy="445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Landmark Recognition Validation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Check whether the system correctly identifies landmarks from user-uploaded images.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Accuracy Evaluation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Measure the performance of the deep learning model using metrics such as accuracy, precision, and recall.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 Generation Validation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Verify that the generated historical and cultural information about landmarks is correct and relevant.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Testing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Test whether the image recognition module and the tourism information module work together properly.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Testing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Measure the system response time for processing images and generating tourism information.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User Evaluation</a:t>
            </a:r>
          </a:p>
          <a:p>
            <a:pPr algn="l">
              <a:lnSpc>
                <a:spcPts val="2961"/>
              </a:lnSpc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          Collect feedback from users about the usefulness, clarity, and accuracy of the information provided.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57626" y="165526"/>
            <a:ext cx="11027718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Landmark Recognition and Tourist Information System   |  IT22214720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483479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Data Availability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70078"/>
            <a:ext cx="15596937" cy="348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486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landmark data will be collected from public tourism websites, open travel platforms, and official tourism authority resources.</a:t>
            </a:r>
          </a:p>
          <a:p>
            <a:pPr marL="453390" lvl="1" indent="-226695" algn="l">
              <a:lnSpc>
                <a:spcPts val="3486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This data will be organized and stored in the system database to support landmark recognition and information retrieval.</a:t>
            </a:r>
          </a:p>
          <a:p>
            <a:pPr marL="453390" lvl="1" indent="-226695" algn="l">
              <a:lnSpc>
                <a:spcPts val="3486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Landmark Image Data: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Images of tourist landmarks used for training and testing the recognition model.</a:t>
            </a:r>
          </a:p>
          <a:p>
            <a:pPr marL="453390" lvl="1" indent="-226695" algn="l">
              <a:lnSpc>
                <a:spcPts val="3486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Landmark Information Data: 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Historical background, cultural significance, and tourism descriptions of landmarks.</a:t>
            </a:r>
          </a:p>
          <a:p>
            <a:pPr marL="453390" lvl="1" indent="-226695" algn="l">
              <a:lnSpc>
                <a:spcPts val="3486"/>
              </a:lnSpc>
              <a:buFont typeface="Arial"/>
              <a:buChar char="•"/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Location Data</a:t>
            </a: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: Geographic location and basic visiting information of tourist sites such as Sigiriya Rock Fortress and Temple of the Sacred Tooth Relic.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943540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and Ethical Clearance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853428"/>
            <a:ext cx="14657622" cy="163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Protect user-uploaded images and personal data.</a:t>
            </a:r>
          </a:p>
          <a:p>
            <a:pPr marL="453390" lvl="1" indent="-226695" algn="l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 collected data only for academic research purposes.</a:t>
            </a:r>
          </a:p>
          <a:p>
            <a:pPr marL="453390" lvl="1" indent="-226695" algn="l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Ensure that tourism information is generated from verified tourism sources.</a:t>
            </a:r>
          </a:p>
          <a:p>
            <a:pPr marL="453390" lvl="1" indent="-226695" algn="l">
              <a:lnSpc>
                <a:spcPts val="3234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Follow responsible AI and data privacy guidelines in the system design.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57626" y="165526"/>
            <a:ext cx="11027718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Landmark Recognition and Tourist Information System   |  IT22214720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820885" y="1585240"/>
            <a:ext cx="6528917" cy="3558260"/>
          </a:xfrm>
          <a:custGeom>
            <a:avLst/>
            <a:gdLst/>
            <a:ahLst/>
            <a:cxnLst/>
            <a:rect l="l" t="t" r="r" b="b"/>
            <a:pathLst>
              <a:path w="6528917" h="3558260">
                <a:moveTo>
                  <a:pt x="0" y="0"/>
                </a:moveTo>
                <a:lnTo>
                  <a:pt x="6528917" y="0"/>
                </a:lnTo>
                <a:lnTo>
                  <a:pt x="6528917" y="3558260"/>
                </a:lnTo>
                <a:lnTo>
                  <a:pt x="0" y="3558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56308"/>
            <a:ext cx="11245491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Overview of the Individual Component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38115"/>
            <a:ext cx="10730383" cy="3831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Develop an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landmark recognition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module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to identify tourist landmarks from images.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Store structured tourism information 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such as historical details and cultural descriptions of landmarks.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Process images uploaded 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by users to extract visual features for landmark identification.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b="1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Generate contextual tourism information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for the identified landmark using AI language models.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Provide recognized landmark details and tourism information to the user interface.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687358"/>
            <a:ext cx="9063856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 and Common Components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444234"/>
            <a:ext cx="10346331" cy="391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Dependencies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Image Recognition Model – identifies landmarks using deep learning techniques.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LLM API – generates contextual tourism descriptions and explanations.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Data Sources – provide historical and cultural information about landmarks.</a:t>
            </a:r>
          </a:p>
          <a:p>
            <a:pPr algn="l">
              <a:lnSpc>
                <a:spcPts val="3213"/>
              </a:lnSpc>
            </a:pP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Components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Backend: Node.js &amp; Express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Database: MongoDB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Frontend: </a:t>
            </a:r>
            <a:r>
              <a:rPr lang="en-US" sz="2100" dirty="0" err="1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React.js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 interface</a:t>
            </a:r>
          </a:p>
          <a:p>
            <a:pPr algn="l">
              <a:lnSpc>
                <a:spcPts val="3213"/>
              </a:lnSpc>
            </a:pPr>
            <a:endParaRPr lang="en-US" sz="2100" dirty="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57626" y="165526"/>
            <a:ext cx="11027718" cy="43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4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Landmark Recognition and Tourist Information System   |  IT22214720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375031" y="5423480"/>
            <a:ext cx="6932019" cy="4004973"/>
            <a:chOff x="0" y="0"/>
            <a:chExt cx="9242692" cy="5339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42692" cy="5339963"/>
            </a:xfrm>
            <a:custGeom>
              <a:avLst/>
              <a:gdLst/>
              <a:ahLst/>
              <a:cxnLst/>
              <a:rect l="l" t="t" r="r" b="b"/>
              <a:pathLst>
                <a:path w="9242692" h="5339963">
                  <a:moveTo>
                    <a:pt x="0" y="0"/>
                  </a:moveTo>
                  <a:lnTo>
                    <a:pt x="9242692" y="0"/>
                  </a:lnTo>
                  <a:lnTo>
                    <a:pt x="9242692" y="5339963"/>
                  </a:lnTo>
                  <a:lnTo>
                    <a:pt x="0" y="5339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60" r="-2040"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8836292" y="4713043"/>
              <a:ext cx="381000" cy="435610"/>
              <a:chOff x="0" y="0"/>
              <a:chExt cx="381000" cy="43561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0639" y="49990"/>
                <a:ext cx="280587" cy="334218"/>
              </a:xfrm>
              <a:custGeom>
                <a:avLst/>
                <a:gdLst/>
                <a:ahLst/>
                <a:cxnLst/>
                <a:rect l="l" t="t" r="r" b="b"/>
                <a:pathLst>
                  <a:path w="280587" h="334218">
                    <a:moveTo>
                      <a:pt x="162721" y="292910"/>
                    </a:moveTo>
                    <a:cubicBezTo>
                      <a:pt x="199551" y="85900"/>
                      <a:pt x="203361" y="78280"/>
                      <a:pt x="210981" y="75740"/>
                    </a:cubicBezTo>
                    <a:cubicBezTo>
                      <a:pt x="221141" y="74470"/>
                      <a:pt x="240191" y="83360"/>
                      <a:pt x="249081" y="92250"/>
                    </a:cubicBezTo>
                    <a:cubicBezTo>
                      <a:pt x="257971" y="101140"/>
                      <a:pt x="257971" y="116380"/>
                      <a:pt x="261781" y="132890"/>
                    </a:cubicBezTo>
                    <a:cubicBezTo>
                      <a:pt x="266861" y="157020"/>
                      <a:pt x="273211" y="207820"/>
                      <a:pt x="269401" y="228140"/>
                    </a:cubicBezTo>
                    <a:cubicBezTo>
                      <a:pt x="266861" y="237030"/>
                      <a:pt x="264321" y="244650"/>
                      <a:pt x="257971" y="248460"/>
                    </a:cubicBezTo>
                    <a:cubicBezTo>
                      <a:pt x="251621" y="252270"/>
                      <a:pt x="236381" y="252270"/>
                      <a:pt x="230031" y="248460"/>
                    </a:cubicBezTo>
                    <a:cubicBezTo>
                      <a:pt x="223681" y="244650"/>
                      <a:pt x="221141" y="238300"/>
                      <a:pt x="218601" y="228140"/>
                    </a:cubicBezTo>
                    <a:cubicBezTo>
                      <a:pt x="213521" y="205280"/>
                      <a:pt x="212251" y="136700"/>
                      <a:pt x="223681" y="116380"/>
                    </a:cubicBezTo>
                    <a:cubicBezTo>
                      <a:pt x="230031" y="104950"/>
                      <a:pt x="242731" y="97330"/>
                      <a:pt x="251621" y="97330"/>
                    </a:cubicBezTo>
                    <a:cubicBezTo>
                      <a:pt x="257971" y="97330"/>
                      <a:pt x="265591" y="103680"/>
                      <a:pt x="270671" y="110030"/>
                    </a:cubicBezTo>
                    <a:cubicBezTo>
                      <a:pt x="277021" y="121460"/>
                      <a:pt x="277021" y="146860"/>
                      <a:pt x="278291" y="165910"/>
                    </a:cubicBezTo>
                    <a:cubicBezTo>
                      <a:pt x="279561" y="184960"/>
                      <a:pt x="283371" y="209090"/>
                      <a:pt x="277021" y="223060"/>
                    </a:cubicBezTo>
                    <a:cubicBezTo>
                      <a:pt x="273211" y="234490"/>
                      <a:pt x="266861" y="240840"/>
                      <a:pt x="255431" y="247190"/>
                    </a:cubicBezTo>
                    <a:cubicBezTo>
                      <a:pt x="237651" y="256080"/>
                      <a:pt x="185581" y="266240"/>
                      <a:pt x="175421" y="257350"/>
                    </a:cubicBezTo>
                    <a:cubicBezTo>
                      <a:pt x="170341" y="253540"/>
                      <a:pt x="177961" y="239570"/>
                      <a:pt x="174151" y="231950"/>
                    </a:cubicBezTo>
                    <a:cubicBezTo>
                      <a:pt x="171611" y="224330"/>
                      <a:pt x="153831" y="217980"/>
                      <a:pt x="155101" y="214170"/>
                    </a:cubicBezTo>
                    <a:cubicBezTo>
                      <a:pt x="155101" y="211630"/>
                      <a:pt x="165261" y="209090"/>
                      <a:pt x="170341" y="210360"/>
                    </a:cubicBezTo>
                    <a:cubicBezTo>
                      <a:pt x="177961" y="212900"/>
                      <a:pt x="194471" y="224330"/>
                      <a:pt x="195741" y="233220"/>
                    </a:cubicBezTo>
                    <a:cubicBezTo>
                      <a:pt x="197011" y="240840"/>
                      <a:pt x="188121" y="253540"/>
                      <a:pt x="176691" y="259890"/>
                    </a:cubicBezTo>
                    <a:cubicBezTo>
                      <a:pt x="150021" y="275130"/>
                      <a:pt x="48421" y="282750"/>
                      <a:pt x="21751" y="270050"/>
                    </a:cubicBezTo>
                    <a:cubicBezTo>
                      <a:pt x="9051" y="264970"/>
                      <a:pt x="-1109" y="253540"/>
                      <a:pt x="161" y="244650"/>
                    </a:cubicBezTo>
                    <a:cubicBezTo>
                      <a:pt x="161" y="237030"/>
                      <a:pt x="10321" y="223060"/>
                      <a:pt x="23021" y="220520"/>
                    </a:cubicBezTo>
                    <a:cubicBezTo>
                      <a:pt x="48421" y="212900"/>
                      <a:pt x="136051" y="245920"/>
                      <a:pt x="158911" y="261160"/>
                    </a:cubicBezTo>
                    <a:cubicBezTo>
                      <a:pt x="167801" y="267510"/>
                      <a:pt x="172881" y="273860"/>
                      <a:pt x="174151" y="281480"/>
                    </a:cubicBezTo>
                    <a:cubicBezTo>
                      <a:pt x="175421" y="287830"/>
                      <a:pt x="171611" y="299260"/>
                      <a:pt x="166531" y="303070"/>
                    </a:cubicBezTo>
                    <a:cubicBezTo>
                      <a:pt x="161451" y="309420"/>
                      <a:pt x="138591" y="309420"/>
                      <a:pt x="138591" y="308150"/>
                    </a:cubicBezTo>
                    <a:cubicBezTo>
                      <a:pt x="138591" y="308150"/>
                      <a:pt x="165261" y="306880"/>
                      <a:pt x="167801" y="299260"/>
                    </a:cubicBezTo>
                    <a:cubicBezTo>
                      <a:pt x="171611" y="290370"/>
                      <a:pt x="147481" y="266240"/>
                      <a:pt x="143671" y="252270"/>
                    </a:cubicBezTo>
                    <a:cubicBezTo>
                      <a:pt x="141131" y="242110"/>
                      <a:pt x="142401" y="231950"/>
                      <a:pt x="144941" y="221790"/>
                    </a:cubicBezTo>
                    <a:cubicBezTo>
                      <a:pt x="148751" y="211630"/>
                      <a:pt x="158911" y="197660"/>
                      <a:pt x="166531" y="192580"/>
                    </a:cubicBezTo>
                    <a:cubicBezTo>
                      <a:pt x="174151" y="188770"/>
                      <a:pt x="184311" y="188770"/>
                      <a:pt x="190661" y="192580"/>
                    </a:cubicBezTo>
                    <a:cubicBezTo>
                      <a:pt x="197011" y="197660"/>
                      <a:pt x="207171" y="214170"/>
                      <a:pt x="203361" y="224330"/>
                    </a:cubicBezTo>
                    <a:cubicBezTo>
                      <a:pt x="197011" y="238300"/>
                      <a:pt x="146211" y="257350"/>
                      <a:pt x="118271" y="258620"/>
                    </a:cubicBezTo>
                    <a:cubicBezTo>
                      <a:pt x="92871" y="259890"/>
                      <a:pt x="54771" y="248460"/>
                      <a:pt x="40801" y="237030"/>
                    </a:cubicBezTo>
                    <a:cubicBezTo>
                      <a:pt x="31911" y="229410"/>
                      <a:pt x="24291" y="219250"/>
                      <a:pt x="25561" y="211630"/>
                    </a:cubicBezTo>
                    <a:cubicBezTo>
                      <a:pt x="26831" y="202740"/>
                      <a:pt x="38261" y="192580"/>
                      <a:pt x="49691" y="187500"/>
                    </a:cubicBezTo>
                    <a:cubicBezTo>
                      <a:pt x="71281" y="181150"/>
                      <a:pt x="132241" y="214170"/>
                      <a:pt x="153831" y="202740"/>
                    </a:cubicBezTo>
                    <a:cubicBezTo>
                      <a:pt x="170341" y="193850"/>
                      <a:pt x="175421" y="173530"/>
                      <a:pt x="180501" y="150670"/>
                    </a:cubicBezTo>
                    <a:cubicBezTo>
                      <a:pt x="186851" y="117650"/>
                      <a:pt x="158911" y="42720"/>
                      <a:pt x="170341" y="19860"/>
                    </a:cubicBezTo>
                    <a:cubicBezTo>
                      <a:pt x="176691" y="7160"/>
                      <a:pt x="193201" y="-1730"/>
                      <a:pt x="202091" y="810"/>
                    </a:cubicBezTo>
                    <a:cubicBezTo>
                      <a:pt x="209711" y="2080"/>
                      <a:pt x="219871" y="16050"/>
                      <a:pt x="221141" y="24940"/>
                    </a:cubicBezTo>
                    <a:cubicBezTo>
                      <a:pt x="222411" y="31290"/>
                      <a:pt x="216061" y="41450"/>
                      <a:pt x="209711" y="45260"/>
                    </a:cubicBezTo>
                    <a:cubicBezTo>
                      <a:pt x="204631" y="50340"/>
                      <a:pt x="193201" y="51610"/>
                      <a:pt x="186851" y="49070"/>
                    </a:cubicBezTo>
                    <a:cubicBezTo>
                      <a:pt x="180501" y="46530"/>
                      <a:pt x="171611" y="37640"/>
                      <a:pt x="171611" y="31290"/>
                    </a:cubicBezTo>
                    <a:cubicBezTo>
                      <a:pt x="170341" y="22400"/>
                      <a:pt x="176691" y="7160"/>
                      <a:pt x="183041" y="2080"/>
                    </a:cubicBezTo>
                    <a:cubicBezTo>
                      <a:pt x="190661" y="-1730"/>
                      <a:pt x="205901" y="-460"/>
                      <a:pt x="213521" y="7160"/>
                    </a:cubicBezTo>
                    <a:cubicBezTo>
                      <a:pt x="227491" y="19860"/>
                      <a:pt x="231301" y="66850"/>
                      <a:pt x="233841" y="96060"/>
                    </a:cubicBezTo>
                    <a:cubicBezTo>
                      <a:pt x="236381" y="122730"/>
                      <a:pt x="236381" y="153210"/>
                      <a:pt x="230031" y="176070"/>
                    </a:cubicBezTo>
                    <a:cubicBezTo>
                      <a:pt x="224951" y="196390"/>
                      <a:pt x="214791" y="214170"/>
                      <a:pt x="202091" y="228140"/>
                    </a:cubicBezTo>
                    <a:cubicBezTo>
                      <a:pt x="189391" y="240840"/>
                      <a:pt x="169071" y="249730"/>
                      <a:pt x="153831" y="253540"/>
                    </a:cubicBezTo>
                    <a:cubicBezTo>
                      <a:pt x="143671" y="256080"/>
                      <a:pt x="137321" y="254810"/>
                      <a:pt x="124621" y="253540"/>
                    </a:cubicBezTo>
                    <a:cubicBezTo>
                      <a:pt x="104301" y="251000"/>
                      <a:pt x="56041" y="247190"/>
                      <a:pt x="40801" y="237030"/>
                    </a:cubicBezTo>
                    <a:cubicBezTo>
                      <a:pt x="30641" y="229410"/>
                      <a:pt x="24291" y="219250"/>
                      <a:pt x="25561" y="211630"/>
                    </a:cubicBezTo>
                    <a:cubicBezTo>
                      <a:pt x="26831" y="202740"/>
                      <a:pt x="38261" y="191310"/>
                      <a:pt x="49691" y="187500"/>
                    </a:cubicBezTo>
                    <a:cubicBezTo>
                      <a:pt x="66201" y="183690"/>
                      <a:pt x="97951" y="209090"/>
                      <a:pt x="120811" y="209090"/>
                    </a:cubicBezTo>
                    <a:cubicBezTo>
                      <a:pt x="143671" y="210360"/>
                      <a:pt x="176691" y="187500"/>
                      <a:pt x="190661" y="192580"/>
                    </a:cubicBezTo>
                    <a:cubicBezTo>
                      <a:pt x="198281" y="195120"/>
                      <a:pt x="203361" y="205280"/>
                      <a:pt x="204631" y="211630"/>
                    </a:cubicBezTo>
                    <a:cubicBezTo>
                      <a:pt x="204631" y="219250"/>
                      <a:pt x="194471" y="225600"/>
                      <a:pt x="193201" y="237030"/>
                    </a:cubicBezTo>
                    <a:cubicBezTo>
                      <a:pt x="191931" y="252270"/>
                      <a:pt x="210981" y="281480"/>
                      <a:pt x="209711" y="296720"/>
                    </a:cubicBezTo>
                    <a:cubicBezTo>
                      <a:pt x="208441" y="308150"/>
                      <a:pt x="204631" y="318310"/>
                      <a:pt x="197011" y="324660"/>
                    </a:cubicBezTo>
                    <a:cubicBezTo>
                      <a:pt x="188121" y="331010"/>
                      <a:pt x="171611" y="336090"/>
                      <a:pt x="160181" y="333550"/>
                    </a:cubicBezTo>
                    <a:cubicBezTo>
                      <a:pt x="148751" y="332280"/>
                      <a:pt x="134781" y="323390"/>
                      <a:pt x="128431" y="313230"/>
                    </a:cubicBezTo>
                    <a:cubicBezTo>
                      <a:pt x="122081" y="304340"/>
                      <a:pt x="118271" y="285290"/>
                      <a:pt x="123351" y="276400"/>
                    </a:cubicBezTo>
                    <a:cubicBezTo>
                      <a:pt x="128431" y="267510"/>
                      <a:pt x="151291" y="258620"/>
                      <a:pt x="158911" y="262430"/>
                    </a:cubicBezTo>
                    <a:cubicBezTo>
                      <a:pt x="167801" y="266240"/>
                      <a:pt x="175421" y="285290"/>
                      <a:pt x="172881" y="292910"/>
                    </a:cubicBezTo>
                    <a:cubicBezTo>
                      <a:pt x="170341" y="301800"/>
                      <a:pt x="157641" y="309420"/>
                      <a:pt x="143671" y="310690"/>
                    </a:cubicBezTo>
                    <a:cubicBezTo>
                      <a:pt x="117001" y="313230"/>
                      <a:pt x="36991" y="285290"/>
                      <a:pt x="15401" y="268780"/>
                    </a:cubicBezTo>
                    <a:cubicBezTo>
                      <a:pt x="5241" y="261160"/>
                      <a:pt x="-1109" y="252270"/>
                      <a:pt x="161" y="244650"/>
                    </a:cubicBezTo>
                    <a:cubicBezTo>
                      <a:pt x="161" y="237030"/>
                      <a:pt x="10321" y="226870"/>
                      <a:pt x="23021" y="220520"/>
                    </a:cubicBezTo>
                    <a:cubicBezTo>
                      <a:pt x="49691" y="207820"/>
                      <a:pt x="143671" y="202740"/>
                      <a:pt x="170341" y="210360"/>
                    </a:cubicBezTo>
                    <a:cubicBezTo>
                      <a:pt x="183041" y="214170"/>
                      <a:pt x="191931" y="219250"/>
                      <a:pt x="194471" y="226870"/>
                    </a:cubicBezTo>
                    <a:cubicBezTo>
                      <a:pt x="197011" y="234490"/>
                      <a:pt x="190661" y="253540"/>
                      <a:pt x="181771" y="258620"/>
                    </a:cubicBezTo>
                    <a:cubicBezTo>
                      <a:pt x="174151" y="263700"/>
                      <a:pt x="155101" y="261160"/>
                      <a:pt x="144941" y="257350"/>
                    </a:cubicBezTo>
                    <a:cubicBezTo>
                      <a:pt x="137321" y="253540"/>
                      <a:pt x="125891" y="245920"/>
                      <a:pt x="125891" y="238300"/>
                    </a:cubicBezTo>
                    <a:cubicBezTo>
                      <a:pt x="125891" y="229410"/>
                      <a:pt x="142401" y="212900"/>
                      <a:pt x="156371" y="207820"/>
                    </a:cubicBezTo>
                    <a:cubicBezTo>
                      <a:pt x="174151" y="200200"/>
                      <a:pt x="216061" y="223060"/>
                      <a:pt x="228761" y="210360"/>
                    </a:cubicBezTo>
                    <a:cubicBezTo>
                      <a:pt x="242731" y="196390"/>
                      <a:pt x="213521" y="134160"/>
                      <a:pt x="223681" y="116380"/>
                    </a:cubicBezTo>
                    <a:cubicBezTo>
                      <a:pt x="230031" y="104950"/>
                      <a:pt x="247811" y="96060"/>
                      <a:pt x="256701" y="98600"/>
                    </a:cubicBezTo>
                    <a:cubicBezTo>
                      <a:pt x="264321" y="99870"/>
                      <a:pt x="270671" y="110030"/>
                      <a:pt x="273211" y="122730"/>
                    </a:cubicBezTo>
                    <a:cubicBezTo>
                      <a:pt x="279561" y="145590"/>
                      <a:pt x="277021" y="220520"/>
                      <a:pt x="266861" y="239570"/>
                    </a:cubicBezTo>
                    <a:cubicBezTo>
                      <a:pt x="261781" y="248460"/>
                      <a:pt x="254161" y="252270"/>
                      <a:pt x="246541" y="252270"/>
                    </a:cubicBezTo>
                    <a:cubicBezTo>
                      <a:pt x="238921" y="253540"/>
                      <a:pt x="228761" y="248460"/>
                      <a:pt x="221141" y="239570"/>
                    </a:cubicBezTo>
                    <a:cubicBezTo>
                      <a:pt x="207171" y="219250"/>
                      <a:pt x="191931" y="117650"/>
                      <a:pt x="204631" y="104950"/>
                    </a:cubicBezTo>
                    <a:cubicBezTo>
                      <a:pt x="212251" y="98600"/>
                      <a:pt x="233841" y="101140"/>
                      <a:pt x="241461" y="111300"/>
                    </a:cubicBezTo>
                    <a:cubicBezTo>
                      <a:pt x="257971" y="134160"/>
                      <a:pt x="230031" y="268780"/>
                      <a:pt x="213521" y="300530"/>
                    </a:cubicBezTo>
                    <a:cubicBezTo>
                      <a:pt x="205901" y="313230"/>
                      <a:pt x="195741" y="322120"/>
                      <a:pt x="188121" y="322120"/>
                    </a:cubicBezTo>
                    <a:cubicBezTo>
                      <a:pt x="179231" y="322120"/>
                      <a:pt x="162721" y="292910"/>
                      <a:pt x="162721" y="292910"/>
                    </a:cubicBezTo>
                  </a:path>
                </a:pathLst>
              </a:custGeom>
              <a:solidFill>
                <a:srgbClr val="E1EB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876932" y="4883223"/>
              <a:ext cx="320040" cy="307340"/>
              <a:chOff x="0" y="0"/>
              <a:chExt cx="320040" cy="30734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0800" y="50606"/>
                <a:ext cx="218440" cy="205816"/>
              </a:xfrm>
              <a:custGeom>
                <a:avLst/>
                <a:gdLst/>
                <a:ahLst/>
                <a:cxnLst/>
                <a:rect l="l" t="t" r="r" b="b"/>
                <a:pathLst>
                  <a:path w="218440" h="205816">
                    <a:moveTo>
                      <a:pt x="218440" y="40834"/>
                    </a:moveTo>
                    <a:cubicBezTo>
                      <a:pt x="186690" y="144974"/>
                      <a:pt x="170180" y="151324"/>
                      <a:pt x="161290" y="150054"/>
                    </a:cubicBezTo>
                    <a:cubicBezTo>
                      <a:pt x="153670" y="147514"/>
                      <a:pt x="147320" y="138624"/>
                      <a:pt x="143510" y="127194"/>
                    </a:cubicBezTo>
                    <a:cubicBezTo>
                      <a:pt x="137160" y="105604"/>
                      <a:pt x="146050" y="35754"/>
                      <a:pt x="157480" y="15434"/>
                    </a:cubicBezTo>
                    <a:cubicBezTo>
                      <a:pt x="163830" y="6544"/>
                      <a:pt x="173990" y="194"/>
                      <a:pt x="181610" y="194"/>
                    </a:cubicBezTo>
                    <a:cubicBezTo>
                      <a:pt x="189230" y="-1076"/>
                      <a:pt x="198120" y="4004"/>
                      <a:pt x="203200" y="11624"/>
                    </a:cubicBezTo>
                    <a:cubicBezTo>
                      <a:pt x="212090" y="25594"/>
                      <a:pt x="208280" y="70044"/>
                      <a:pt x="204470" y="96714"/>
                    </a:cubicBezTo>
                    <a:cubicBezTo>
                      <a:pt x="201930" y="120844"/>
                      <a:pt x="196850" y="151324"/>
                      <a:pt x="185420" y="164024"/>
                    </a:cubicBezTo>
                    <a:cubicBezTo>
                      <a:pt x="179070" y="171644"/>
                      <a:pt x="167640" y="177994"/>
                      <a:pt x="160020" y="176724"/>
                    </a:cubicBezTo>
                    <a:cubicBezTo>
                      <a:pt x="152400" y="175454"/>
                      <a:pt x="142240" y="166564"/>
                      <a:pt x="138430" y="156404"/>
                    </a:cubicBezTo>
                    <a:cubicBezTo>
                      <a:pt x="132080" y="141164"/>
                      <a:pt x="134620" y="99254"/>
                      <a:pt x="143510" y="81474"/>
                    </a:cubicBezTo>
                    <a:cubicBezTo>
                      <a:pt x="151130" y="67504"/>
                      <a:pt x="168910" y="52264"/>
                      <a:pt x="177800" y="53534"/>
                    </a:cubicBezTo>
                    <a:cubicBezTo>
                      <a:pt x="185420" y="54804"/>
                      <a:pt x="193040" y="67504"/>
                      <a:pt x="195580" y="78934"/>
                    </a:cubicBezTo>
                    <a:cubicBezTo>
                      <a:pt x="198120" y="101794"/>
                      <a:pt x="177800" y="155134"/>
                      <a:pt x="165100" y="176724"/>
                    </a:cubicBezTo>
                    <a:cubicBezTo>
                      <a:pt x="158750" y="190694"/>
                      <a:pt x="153670" y="202124"/>
                      <a:pt x="142240" y="204664"/>
                    </a:cubicBezTo>
                    <a:cubicBezTo>
                      <a:pt x="128270" y="209744"/>
                      <a:pt x="100330" y="197044"/>
                      <a:pt x="81280" y="185614"/>
                    </a:cubicBezTo>
                    <a:cubicBezTo>
                      <a:pt x="58420" y="170374"/>
                      <a:pt x="21590" y="138624"/>
                      <a:pt x="19050" y="119574"/>
                    </a:cubicBezTo>
                    <a:cubicBezTo>
                      <a:pt x="16510" y="109414"/>
                      <a:pt x="22860" y="95444"/>
                      <a:pt x="31750" y="90364"/>
                    </a:cubicBezTo>
                    <a:cubicBezTo>
                      <a:pt x="43180" y="84014"/>
                      <a:pt x="74930" y="86554"/>
                      <a:pt x="87630" y="91634"/>
                    </a:cubicBezTo>
                    <a:cubicBezTo>
                      <a:pt x="96520" y="96714"/>
                      <a:pt x="102870" y="104334"/>
                      <a:pt x="105410" y="111954"/>
                    </a:cubicBezTo>
                    <a:cubicBezTo>
                      <a:pt x="110490" y="122114"/>
                      <a:pt x="113030" y="139894"/>
                      <a:pt x="109220" y="148784"/>
                    </a:cubicBezTo>
                    <a:cubicBezTo>
                      <a:pt x="105410" y="157674"/>
                      <a:pt x="96520" y="164024"/>
                      <a:pt x="88900" y="169104"/>
                    </a:cubicBezTo>
                    <a:cubicBezTo>
                      <a:pt x="81280" y="172914"/>
                      <a:pt x="69850" y="174184"/>
                      <a:pt x="60960" y="172914"/>
                    </a:cubicBezTo>
                    <a:cubicBezTo>
                      <a:pt x="52070" y="170374"/>
                      <a:pt x="43180" y="164024"/>
                      <a:pt x="35560" y="156404"/>
                    </a:cubicBezTo>
                    <a:cubicBezTo>
                      <a:pt x="22860" y="144974"/>
                      <a:pt x="1270" y="120844"/>
                      <a:pt x="0" y="106874"/>
                    </a:cubicBezTo>
                    <a:cubicBezTo>
                      <a:pt x="0" y="97984"/>
                      <a:pt x="6350" y="89094"/>
                      <a:pt x="13970" y="84014"/>
                    </a:cubicBezTo>
                    <a:cubicBezTo>
                      <a:pt x="20320" y="77664"/>
                      <a:pt x="30480" y="72584"/>
                      <a:pt x="40640" y="73854"/>
                    </a:cubicBezTo>
                    <a:cubicBezTo>
                      <a:pt x="57150" y="77664"/>
                      <a:pt x="78740" y="123384"/>
                      <a:pt x="99060" y="124654"/>
                    </a:cubicBezTo>
                    <a:cubicBezTo>
                      <a:pt x="120650" y="125924"/>
                      <a:pt x="151130" y="78934"/>
                      <a:pt x="166370" y="81474"/>
                    </a:cubicBezTo>
                    <a:cubicBezTo>
                      <a:pt x="175260" y="82744"/>
                      <a:pt x="185420" y="96714"/>
                      <a:pt x="185420" y="105604"/>
                    </a:cubicBezTo>
                    <a:cubicBezTo>
                      <a:pt x="185420" y="113224"/>
                      <a:pt x="175260" y="127194"/>
                      <a:pt x="167640" y="129734"/>
                    </a:cubicBezTo>
                    <a:cubicBezTo>
                      <a:pt x="161290" y="132274"/>
                      <a:pt x="149860" y="129734"/>
                      <a:pt x="143510" y="125924"/>
                    </a:cubicBezTo>
                    <a:cubicBezTo>
                      <a:pt x="138430" y="120844"/>
                      <a:pt x="134620" y="110684"/>
                      <a:pt x="134620" y="103064"/>
                    </a:cubicBezTo>
                    <a:cubicBezTo>
                      <a:pt x="135890" y="96714"/>
                      <a:pt x="140970" y="86554"/>
                      <a:pt x="147320" y="84014"/>
                    </a:cubicBezTo>
                    <a:cubicBezTo>
                      <a:pt x="153670" y="80204"/>
                      <a:pt x="165100" y="80204"/>
                      <a:pt x="171450" y="82744"/>
                    </a:cubicBezTo>
                    <a:cubicBezTo>
                      <a:pt x="177800" y="86554"/>
                      <a:pt x="185420" y="94174"/>
                      <a:pt x="185420" y="101794"/>
                    </a:cubicBezTo>
                    <a:cubicBezTo>
                      <a:pt x="184150" y="117034"/>
                      <a:pt x="149860" y="156404"/>
                      <a:pt x="129540" y="166564"/>
                    </a:cubicBezTo>
                    <a:cubicBezTo>
                      <a:pt x="113030" y="174184"/>
                      <a:pt x="91440" y="172914"/>
                      <a:pt x="76200" y="166564"/>
                    </a:cubicBezTo>
                    <a:cubicBezTo>
                      <a:pt x="59690" y="160214"/>
                      <a:pt x="36830" y="138624"/>
                      <a:pt x="36830" y="127194"/>
                    </a:cubicBezTo>
                    <a:cubicBezTo>
                      <a:pt x="36830" y="118304"/>
                      <a:pt x="52070" y="104334"/>
                      <a:pt x="55880" y="105604"/>
                    </a:cubicBezTo>
                    <a:cubicBezTo>
                      <a:pt x="59690" y="106874"/>
                      <a:pt x="53340" y="129734"/>
                      <a:pt x="58420" y="132274"/>
                    </a:cubicBezTo>
                    <a:cubicBezTo>
                      <a:pt x="62230" y="134814"/>
                      <a:pt x="72390" y="117034"/>
                      <a:pt x="80010" y="118304"/>
                    </a:cubicBezTo>
                    <a:cubicBezTo>
                      <a:pt x="91440" y="119574"/>
                      <a:pt x="106680" y="162754"/>
                      <a:pt x="118110" y="160214"/>
                    </a:cubicBezTo>
                    <a:cubicBezTo>
                      <a:pt x="130810" y="157674"/>
                      <a:pt x="139700" y="76394"/>
                      <a:pt x="148590" y="75124"/>
                    </a:cubicBezTo>
                    <a:cubicBezTo>
                      <a:pt x="154940" y="75124"/>
                      <a:pt x="157480" y="97984"/>
                      <a:pt x="165100" y="101794"/>
                    </a:cubicBezTo>
                    <a:cubicBezTo>
                      <a:pt x="171450" y="105604"/>
                      <a:pt x="187960" y="94174"/>
                      <a:pt x="193040" y="99254"/>
                    </a:cubicBezTo>
                    <a:cubicBezTo>
                      <a:pt x="200660" y="106874"/>
                      <a:pt x="191770" y="151324"/>
                      <a:pt x="185420" y="164024"/>
                    </a:cubicBezTo>
                    <a:cubicBezTo>
                      <a:pt x="181610" y="170374"/>
                      <a:pt x="177800" y="174184"/>
                      <a:pt x="171450" y="175454"/>
                    </a:cubicBezTo>
                    <a:cubicBezTo>
                      <a:pt x="165100" y="176724"/>
                      <a:pt x="153670" y="175454"/>
                      <a:pt x="148590" y="171644"/>
                    </a:cubicBezTo>
                    <a:cubicBezTo>
                      <a:pt x="143510" y="167834"/>
                      <a:pt x="139700" y="161484"/>
                      <a:pt x="138430" y="150054"/>
                    </a:cubicBezTo>
                    <a:cubicBezTo>
                      <a:pt x="134620" y="125924"/>
                      <a:pt x="142240" y="38294"/>
                      <a:pt x="157480" y="15434"/>
                    </a:cubicBezTo>
                    <a:cubicBezTo>
                      <a:pt x="166370" y="5274"/>
                      <a:pt x="180340" y="-1076"/>
                      <a:pt x="187960" y="194"/>
                    </a:cubicBezTo>
                    <a:cubicBezTo>
                      <a:pt x="195580" y="2734"/>
                      <a:pt x="203200" y="11624"/>
                      <a:pt x="207010" y="23054"/>
                    </a:cubicBezTo>
                    <a:cubicBezTo>
                      <a:pt x="213360" y="44644"/>
                      <a:pt x="205740" y="115764"/>
                      <a:pt x="191770" y="134814"/>
                    </a:cubicBezTo>
                    <a:cubicBezTo>
                      <a:pt x="185420" y="146244"/>
                      <a:pt x="170180" y="152594"/>
                      <a:pt x="161290" y="150054"/>
                    </a:cubicBezTo>
                    <a:cubicBezTo>
                      <a:pt x="153670" y="147514"/>
                      <a:pt x="146050" y="133544"/>
                      <a:pt x="143510" y="120844"/>
                    </a:cubicBezTo>
                    <a:cubicBezTo>
                      <a:pt x="140970" y="99254"/>
                      <a:pt x="156210" y="44644"/>
                      <a:pt x="168910" y="28134"/>
                    </a:cubicBezTo>
                    <a:cubicBezTo>
                      <a:pt x="177800" y="17974"/>
                      <a:pt x="191770" y="10354"/>
                      <a:pt x="199390" y="12894"/>
                    </a:cubicBezTo>
                    <a:cubicBezTo>
                      <a:pt x="207010" y="14164"/>
                      <a:pt x="218440" y="40834"/>
                      <a:pt x="218440" y="40834"/>
                    </a:cubicBezTo>
                  </a:path>
                </a:pathLst>
              </a:custGeom>
              <a:solidFill>
                <a:srgbClr val="E1EB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803272" y="4705423"/>
              <a:ext cx="368300" cy="419100"/>
              <a:chOff x="0" y="0"/>
              <a:chExt cx="368300" cy="4191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0800" y="50800"/>
                <a:ext cx="266700" cy="320358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20358">
                    <a:moveTo>
                      <a:pt x="0" y="232410"/>
                    </a:moveTo>
                    <a:cubicBezTo>
                      <a:pt x="6350" y="181610"/>
                      <a:pt x="19050" y="181610"/>
                      <a:pt x="27940" y="181610"/>
                    </a:cubicBezTo>
                    <a:cubicBezTo>
                      <a:pt x="36830" y="181610"/>
                      <a:pt x="45720" y="189230"/>
                      <a:pt x="53340" y="189230"/>
                    </a:cubicBezTo>
                    <a:cubicBezTo>
                      <a:pt x="62230" y="189230"/>
                      <a:pt x="69850" y="182880"/>
                      <a:pt x="77470" y="182880"/>
                    </a:cubicBezTo>
                    <a:cubicBezTo>
                      <a:pt x="87630" y="185420"/>
                      <a:pt x="105410" y="196850"/>
                      <a:pt x="107950" y="200660"/>
                    </a:cubicBezTo>
                    <a:cubicBezTo>
                      <a:pt x="109220" y="201930"/>
                      <a:pt x="109220" y="203200"/>
                      <a:pt x="109220" y="203200"/>
                    </a:cubicBezTo>
                    <a:cubicBezTo>
                      <a:pt x="110490" y="204470"/>
                      <a:pt x="110490" y="204470"/>
                      <a:pt x="110490" y="204470"/>
                    </a:cubicBezTo>
                    <a:cubicBezTo>
                      <a:pt x="110490" y="204470"/>
                      <a:pt x="111760" y="204470"/>
                      <a:pt x="113030" y="204470"/>
                    </a:cubicBezTo>
                    <a:cubicBezTo>
                      <a:pt x="118110" y="204470"/>
                      <a:pt x="133350" y="204470"/>
                      <a:pt x="139700" y="204470"/>
                    </a:cubicBezTo>
                    <a:cubicBezTo>
                      <a:pt x="143510" y="204470"/>
                      <a:pt x="147320" y="205740"/>
                      <a:pt x="149860" y="203200"/>
                    </a:cubicBezTo>
                    <a:cubicBezTo>
                      <a:pt x="154940" y="199390"/>
                      <a:pt x="158750" y="185420"/>
                      <a:pt x="161290" y="175260"/>
                    </a:cubicBezTo>
                    <a:cubicBezTo>
                      <a:pt x="163830" y="166370"/>
                      <a:pt x="166370" y="158750"/>
                      <a:pt x="167640" y="148590"/>
                    </a:cubicBezTo>
                    <a:cubicBezTo>
                      <a:pt x="170180" y="138430"/>
                      <a:pt x="172720" y="128270"/>
                      <a:pt x="173990" y="116840"/>
                    </a:cubicBezTo>
                    <a:cubicBezTo>
                      <a:pt x="175260" y="105410"/>
                      <a:pt x="177800" y="90170"/>
                      <a:pt x="177800" y="80010"/>
                    </a:cubicBezTo>
                    <a:cubicBezTo>
                      <a:pt x="176530" y="73660"/>
                      <a:pt x="176530" y="66040"/>
                      <a:pt x="175260" y="64770"/>
                    </a:cubicBezTo>
                    <a:cubicBezTo>
                      <a:pt x="173990" y="63500"/>
                      <a:pt x="172720" y="63500"/>
                      <a:pt x="172720" y="63500"/>
                    </a:cubicBezTo>
                    <a:cubicBezTo>
                      <a:pt x="172720" y="63500"/>
                      <a:pt x="170180" y="62230"/>
                      <a:pt x="170180" y="60960"/>
                    </a:cubicBezTo>
                    <a:cubicBezTo>
                      <a:pt x="168910" y="60960"/>
                      <a:pt x="167640" y="59690"/>
                      <a:pt x="167640" y="59690"/>
                    </a:cubicBezTo>
                    <a:cubicBezTo>
                      <a:pt x="167640" y="59690"/>
                      <a:pt x="166370" y="58420"/>
                      <a:pt x="165100" y="57150"/>
                    </a:cubicBezTo>
                    <a:cubicBezTo>
                      <a:pt x="165100" y="55880"/>
                      <a:pt x="163830" y="54610"/>
                      <a:pt x="163830" y="54610"/>
                    </a:cubicBezTo>
                    <a:cubicBezTo>
                      <a:pt x="163830" y="54610"/>
                      <a:pt x="162560" y="53340"/>
                      <a:pt x="162560" y="52070"/>
                    </a:cubicBezTo>
                    <a:cubicBezTo>
                      <a:pt x="161290" y="50800"/>
                      <a:pt x="161290" y="49530"/>
                      <a:pt x="161290" y="49530"/>
                    </a:cubicBezTo>
                    <a:cubicBezTo>
                      <a:pt x="161290" y="49530"/>
                      <a:pt x="160020" y="46990"/>
                      <a:pt x="160020" y="45720"/>
                    </a:cubicBezTo>
                    <a:cubicBezTo>
                      <a:pt x="160020" y="44450"/>
                      <a:pt x="160020" y="43180"/>
                      <a:pt x="160020" y="43180"/>
                    </a:cubicBezTo>
                    <a:cubicBezTo>
                      <a:pt x="160020" y="43180"/>
                      <a:pt x="160020" y="40640"/>
                      <a:pt x="160020" y="39370"/>
                    </a:cubicBezTo>
                    <a:cubicBezTo>
                      <a:pt x="160020" y="39370"/>
                      <a:pt x="160020" y="36830"/>
                      <a:pt x="160020" y="36830"/>
                    </a:cubicBezTo>
                    <a:cubicBezTo>
                      <a:pt x="160020" y="36830"/>
                      <a:pt x="161290" y="35560"/>
                      <a:pt x="161290" y="34290"/>
                    </a:cubicBezTo>
                    <a:cubicBezTo>
                      <a:pt x="161290" y="33020"/>
                      <a:pt x="161290" y="31750"/>
                      <a:pt x="162560" y="30480"/>
                    </a:cubicBezTo>
                    <a:cubicBezTo>
                      <a:pt x="162560" y="30480"/>
                      <a:pt x="162560" y="29210"/>
                      <a:pt x="163830" y="27940"/>
                    </a:cubicBezTo>
                    <a:cubicBezTo>
                      <a:pt x="163830" y="27940"/>
                      <a:pt x="165100" y="25400"/>
                      <a:pt x="165100" y="25400"/>
                    </a:cubicBezTo>
                    <a:cubicBezTo>
                      <a:pt x="165100" y="25400"/>
                      <a:pt x="166370" y="24130"/>
                      <a:pt x="167640" y="24130"/>
                    </a:cubicBezTo>
                    <a:cubicBezTo>
                      <a:pt x="167640" y="22860"/>
                      <a:pt x="168910" y="21590"/>
                      <a:pt x="168910" y="21590"/>
                    </a:cubicBezTo>
                    <a:cubicBezTo>
                      <a:pt x="168910" y="21590"/>
                      <a:pt x="171450" y="20320"/>
                      <a:pt x="171450" y="20320"/>
                    </a:cubicBezTo>
                    <a:cubicBezTo>
                      <a:pt x="172720" y="19050"/>
                      <a:pt x="173990" y="17780"/>
                      <a:pt x="173990" y="17780"/>
                    </a:cubicBezTo>
                    <a:cubicBezTo>
                      <a:pt x="173990" y="17780"/>
                      <a:pt x="176530" y="17780"/>
                      <a:pt x="177800" y="17780"/>
                    </a:cubicBezTo>
                    <a:cubicBezTo>
                      <a:pt x="177800" y="16510"/>
                      <a:pt x="179070" y="16510"/>
                      <a:pt x="180340" y="16510"/>
                    </a:cubicBezTo>
                    <a:cubicBezTo>
                      <a:pt x="180340" y="16510"/>
                      <a:pt x="180340" y="15240"/>
                      <a:pt x="180340" y="15240"/>
                    </a:cubicBezTo>
                    <a:cubicBezTo>
                      <a:pt x="180340" y="13970"/>
                      <a:pt x="181610" y="12700"/>
                      <a:pt x="181610" y="12700"/>
                    </a:cubicBezTo>
                    <a:cubicBezTo>
                      <a:pt x="181610" y="11430"/>
                      <a:pt x="182880" y="10160"/>
                      <a:pt x="184150" y="10160"/>
                    </a:cubicBezTo>
                    <a:cubicBezTo>
                      <a:pt x="184150" y="8890"/>
                      <a:pt x="185420" y="7620"/>
                      <a:pt x="185420" y="7620"/>
                    </a:cubicBezTo>
                    <a:cubicBezTo>
                      <a:pt x="185420" y="7620"/>
                      <a:pt x="186690" y="6350"/>
                      <a:pt x="187960" y="5080"/>
                    </a:cubicBezTo>
                    <a:cubicBezTo>
                      <a:pt x="189230" y="5080"/>
                      <a:pt x="190500" y="3810"/>
                      <a:pt x="190500" y="3810"/>
                    </a:cubicBezTo>
                    <a:cubicBezTo>
                      <a:pt x="190500" y="3810"/>
                      <a:pt x="191770" y="2540"/>
                      <a:pt x="193040" y="2540"/>
                    </a:cubicBezTo>
                    <a:cubicBezTo>
                      <a:pt x="194310" y="1270"/>
                      <a:pt x="195580" y="1270"/>
                      <a:pt x="195580" y="1270"/>
                    </a:cubicBezTo>
                    <a:cubicBezTo>
                      <a:pt x="195580" y="1270"/>
                      <a:pt x="198120" y="0"/>
                      <a:pt x="199390" y="0"/>
                    </a:cubicBezTo>
                    <a:cubicBezTo>
                      <a:pt x="200660" y="0"/>
                      <a:pt x="201930" y="0"/>
                      <a:pt x="201930" y="0"/>
                    </a:cubicBezTo>
                    <a:cubicBezTo>
                      <a:pt x="201930" y="0"/>
                      <a:pt x="204470" y="0"/>
                      <a:pt x="205740" y="0"/>
                    </a:cubicBezTo>
                    <a:cubicBezTo>
                      <a:pt x="205740" y="0"/>
                      <a:pt x="208280" y="0"/>
                      <a:pt x="208280" y="0"/>
                    </a:cubicBezTo>
                    <a:cubicBezTo>
                      <a:pt x="208280" y="0"/>
                      <a:pt x="209550" y="1270"/>
                      <a:pt x="210820" y="1270"/>
                    </a:cubicBezTo>
                    <a:cubicBezTo>
                      <a:pt x="212090" y="1270"/>
                      <a:pt x="213360" y="2540"/>
                      <a:pt x="214630" y="2540"/>
                    </a:cubicBezTo>
                    <a:cubicBezTo>
                      <a:pt x="214630" y="2540"/>
                      <a:pt x="215900" y="2540"/>
                      <a:pt x="217170" y="3810"/>
                    </a:cubicBezTo>
                    <a:cubicBezTo>
                      <a:pt x="217170" y="3810"/>
                      <a:pt x="219710" y="5080"/>
                      <a:pt x="219710" y="5080"/>
                    </a:cubicBezTo>
                    <a:cubicBezTo>
                      <a:pt x="219710" y="5080"/>
                      <a:pt x="220980" y="6350"/>
                      <a:pt x="220980" y="7620"/>
                    </a:cubicBezTo>
                    <a:cubicBezTo>
                      <a:pt x="222250" y="7620"/>
                      <a:pt x="223520" y="10160"/>
                      <a:pt x="223520" y="10160"/>
                    </a:cubicBezTo>
                    <a:cubicBezTo>
                      <a:pt x="223520" y="10160"/>
                      <a:pt x="224790" y="11430"/>
                      <a:pt x="224790" y="12700"/>
                    </a:cubicBezTo>
                    <a:cubicBezTo>
                      <a:pt x="226060" y="12700"/>
                      <a:pt x="226060" y="13970"/>
                      <a:pt x="227330" y="15240"/>
                    </a:cubicBezTo>
                    <a:cubicBezTo>
                      <a:pt x="227330" y="16510"/>
                      <a:pt x="228600" y="16510"/>
                      <a:pt x="229870" y="17780"/>
                    </a:cubicBezTo>
                    <a:cubicBezTo>
                      <a:pt x="233680" y="21590"/>
                      <a:pt x="245110" y="30480"/>
                      <a:pt x="248920" y="39370"/>
                    </a:cubicBezTo>
                    <a:cubicBezTo>
                      <a:pt x="252730" y="46990"/>
                      <a:pt x="254000" y="57150"/>
                      <a:pt x="254000" y="66040"/>
                    </a:cubicBezTo>
                    <a:cubicBezTo>
                      <a:pt x="254000" y="74930"/>
                      <a:pt x="250190" y="86360"/>
                      <a:pt x="248920" y="93980"/>
                    </a:cubicBezTo>
                    <a:cubicBezTo>
                      <a:pt x="247650" y="97790"/>
                      <a:pt x="246380" y="100330"/>
                      <a:pt x="246380" y="104140"/>
                    </a:cubicBezTo>
                    <a:cubicBezTo>
                      <a:pt x="246380" y="110490"/>
                      <a:pt x="251460" y="121920"/>
                      <a:pt x="251460" y="127000"/>
                    </a:cubicBezTo>
                    <a:cubicBezTo>
                      <a:pt x="251460" y="130810"/>
                      <a:pt x="250190" y="134620"/>
                      <a:pt x="251460" y="135890"/>
                    </a:cubicBezTo>
                    <a:cubicBezTo>
                      <a:pt x="251460" y="135890"/>
                      <a:pt x="251460" y="135890"/>
                      <a:pt x="252730" y="135890"/>
                    </a:cubicBezTo>
                    <a:cubicBezTo>
                      <a:pt x="252730" y="135890"/>
                      <a:pt x="255270" y="137160"/>
                      <a:pt x="257810" y="138430"/>
                    </a:cubicBezTo>
                    <a:cubicBezTo>
                      <a:pt x="259080" y="139700"/>
                      <a:pt x="260350" y="142240"/>
                      <a:pt x="261620" y="143510"/>
                    </a:cubicBezTo>
                    <a:cubicBezTo>
                      <a:pt x="262890" y="144780"/>
                      <a:pt x="264160" y="147320"/>
                      <a:pt x="264160" y="148590"/>
                    </a:cubicBezTo>
                    <a:cubicBezTo>
                      <a:pt x="265430" y="151130"/>
                      <a:pt x="265430" y="152400"/>
                      <a:pt x="266700" y="154940"/>
                    </a:cubicBezTo>
                    <a:cubicBezTo>
                      <a:pt x="266700" y="156210"/>
                      <a:pt x="266700" y="161290"/>
                      <a:pt x="266700" y="161290"/>
                    </a:cubicBezTo>
                    <a:cubicBezTo>
                      <a:pt x="266700" y="161290"/>
                      <a:pt x="266700" y="172720"/>
                      <a:pt x="265430" y="179070"/>
                    </a:cubicBezTo>
                    <a:cubicBezTo>
                      <a:pt x="262890" y="189230"/>
                      <a:pt x="260350" y="201930"/>
                      <a:pt x="256540" y="210820"/>
                    </a:cubicBezTo>
                    <a:cubicBezTo>
                      <a:pt x="251460" y="219710"/>
                      <a:pt x="245110" y="227330"/>
                      <a:pt x="238760" y="233680"/>
                    </a:cubicBezTo>
                    <a:cubicBezTo>
                      <a:pt x="231140" y="240030"/>
                      <a:pt x="215900" y="250190"/>
                      <a:pt x="215900" y="250190"/>
                    </a:cubicBezTo>
                    <a:cubicBezTo>
                      <a:pt x="214630" y="248920"/>
                      <a:pt x="220980" y="243840"/>
                      <a:pt x="220980" y="243840"/>
                    </a:cubicBezTo>
                    <a:cubicBezTo>
                      <a:pt x="220980" y="243840"/>
                      <a:pt x="219710" y="245110"/>
                      <a:pt x="218440" y="245110"/>
                    </a:cubicBezTo>
                    <a:cubicBezTo>
                      <a:pt x="218440" y="246380"/>
                      <a:pt x="217170" y="247650"/>
                      <a:pt x="217170" y="247650"/>
                    </a:cubicBezTo>
                    <a:cubicBezTo>
                      <a:pt x="217170" y="247650"/>
                      <a:pt x="214630" y="248920"/>
                      <a:pt x="214630" y="250190"/>
                    </a:cubicBezTo>
                    <a:cubicBezTo>
                      <a:pt x="213360" y="250190"/>
                      <a:pt x="212090" y="251460"/>
                      <a:pt x="212090" y="251460"/>
                    </a:cubicBezTo>
                    <a:cubicBezTo>
                      <a:pt x="212090" y="251460"/>
                      <a:pt x="210820" y="251460"/>
                      <a:pt x="210820" y="251460"/>
                    </a:cubicBezTo>
                    <a:cubicBezTo>
                      <a:pt x="210820" y="252730"/>
                      <a:pt x="209550" y="255270"/>
                      <a:pt x="208280" y="257810"/>
                    </a:cubicBezTo>
                    <a:cubicBezTo>
                      <a:pt x="204470" y="262890"/>
                      <a:pt x="191770" y="276860"/>
                      <a:pt x="186690" y="279400"/>
                    </a:cubicBezTo>
                    <a:cubicBezTo>
                      <a:pt x="185420" y="280670"/>
                      <a:pt x="184150" y="280670"/>
                      <a:pt x="184150" y="280670"/>
                    </a:cubicBezTo>
                    <a:cubicBezTo>
                      <a:pt x="182880" y="280670"/>
                      <a:pt x="182880" y="280670"/>
                      <a:pt x="182880" y="281940"/>
                    </a:cubicBezTo>
                    <a:cubicBezTo>
                      <a:pt x="181610" y="281940"/>
                      <a:pt x="181610" y="284480"/>
                      <a:pt x="179070" y="285750"/>
                    </a:cubicBezTo>
                    <a:cubicBezTo>
                      <a:pt x="173990" y="289560"/>
                      <a:pt x="160020" y="294640"/>
                      <a:pt x="151130" y="295910"/>
                    </a:cubicBezTo>
                    <a:cubicBezTo>
                      <a:pt x="140970" y="297180"/>
                      <a:pt x="130810" y="295910"/>
                      <a:pt x="121920" y="295910"/>
                    </a:cubicBezTo>
                    <a:cubicBezTo>
                      <a:pt x="113030" y="295910"/>
                      <a:pt x="100330" y="295910"/>
                      <a:pt x="96520" y="295910"/>
                    </a:cubicBezTo>
                    <a:cubicBezTo>
                      <a:pt x="93980" y="295910"/>
                      <a:pt x="93980" y="294640"/>
                      <a:pt x="92710" y="295910"/>
                    </a:cubicBezTo>
                    <a:cubicBezTo>
                      <a:pt x="90170" y="297180"/>
                      <a:pt x="87630" y="313690"/>
                      <a:pt x="81280" y="317500"/>
                    </a:cubicBezTo>
                    <a:cubicBezTo>
                      <a:pt x="74930" y="321310"/>
                      <a:pt x="62230" y="321310"/>
                      <a:pt x="54610" y="317500"/>
                    </a:cubicBezTo>
                    <a:cubicBezTo>
                      <a:pt x="45720" y="313690"/>
                      <a:pt x="38100" y="304800"/>
                      <a:pt x="34290" y="295910"/>
                    </a:cubicBezTo>
                    <a:cubicBezTo>
                      <a:pt x="27940" y="285750"/>
                      <a:pt x="30480" y="260350"/>
                      <a:pt x="26670" y="254000"/>
                    </a:cubicBezTo>
                    <a:cubicBezTo>
                      <a:pt x="24130" y="252730"/>
                      <a:pt x="22860" y="252730"/>
                      <a:pt x="20320" y="251460"/>
                    </a:cubicBezTo>
                    <a:cubicBezTo>
                      <a:pt x="16510" y="248920"/>
                      <a:pt x="0" y="232410"/>
                      <a:pt x="0" y="232410"/>
                    </a:cubicBezTo>
                  </a:path>
                </a:pathLst>
              </a:custGeom>
              <a:solidFill>
                <a:srgbClr val="E1EB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802002" y="4890843"/>
              <a:ext cx="234950" cy="232410"/>
              <a:chOff x="0" y="0"/>
              <a:chExt cx="234950" cy="23241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9804" y="50800"/>
                <a:ext cx="135222" cy="130810"/>
              </a:xfrm>
              <a:custGeom>
                <a:avLst/>
                <a:gdLst/>
                <a:ahLst/>
                <a:cxnLst/>
                <a:rect l="l" t="t" r="r" b="b"/>
                <a:pathLst>
                  <a:path w="135222" h="130810">
                    <a:moveTo>
                      <a:pt x="83546" y="110490"/>
                    </a:moveTo>
                    <a:cubicBezTo>
                      <a:pt x="60686" y="31750"/>
                      <a:pt x="36556" y="60960"/>
                      <a:pt x="25126" y="59690"/>
                    </a:cubicBezTo>
                    <a:cubicBezTo>
                      <a:pt x="14966" y="58420"/>
                      <a:pt x="3536" y="48260"/>
                      <a:pt x="996" y="40640"/>
                    </a:cubicBezTo>
                    <a:cubicBezTo>
                      <a:pt x="-1544" y="34290"/>
                      <a:pt x="996" y="22860"/>
                      <a:pt x="6076" y="17780"/>
                    </a:cubicBezTo>
                    <a:cubicBezTo>
                      <a:pt x="12426" y="11430"/>
                      <a:pt x="28936" y="8890"/>
                      <a:pt x="36556" y="11430"/>
                    </a:cubicBezTo>
                    <a:cubicBezTo>
                      <a:pt x="42906" y="13970"/>
                      <a:pt x="49256" y="24130"/>
                      <a:pt x="50526" y="30480"/>
                    </a:cubicBezTo>
                    <a:cubicBezTo>
                      <a:pt x="50526" y="39370"/>
                      <a:pt x="42906" y="54610"/>
                      <a:pt x="35286" y="57150"/>
                    </a:cubicBezTo>
                    <a:cubicBezTo>
                      <a:pt x="27666" y="60960"/>
                      <a:pt x="9886" y="57150"/>
                      <a:pt x="4806" y="50800"/>
                    </a:cubicBezTo>
                    <a:cubicBezTo>
                      <a:pt x="-274" y="44450"/>
                      <a:pt x="-1544" y="27940"/>
                      <a:pt x="4806" y="19050"/>
                    </a:cubicBezTo>
                    <a:cubicBezTo>
                      <a:pt x="13696" y="7620"/>
                      <a:pt x="56876" y="0"/>
                      <a:pt x="75926" y="0"/>
                    </a:cubicBezTo>
                    <a:cubicBezTo>
                      <a:pt x="89896" y="0"/>
                      <a:pt x="102596" y="0"/>
                      <a:pt x="111486" y="8890"/>
                    </a:cubicBezTo>
                    <a:cubicBezTo>
                      <a:pt x="126726" y="25400"/>
                      <a:pt x="140696" y="92710"/>
                      <a:pt x="133076" y="111760"/>
                    </a:cubicBezTo>
                    <a:cubicBezTo>
                      <a:pt x="129266" y="121920"/>
                      <a:pt x="119106" y="130810"/>
                      <a:pt x="111486" y="130810"/>
                    </a:cubicBezTo>
                    <a:cubicBezTo>
                      <a:pt x="102596" y="130810"/>
                      <a:pt x="83546" y="110490"/>
                      <a:pt x="83546" y="110490"/>
                    </a:cubicBezTo>
                  </a:path>
                </a:pathLst>
              </a:custGeom>
              <a:solidFill>
                <a:srgbClr val="E1EB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7974627" y="9081135"/>
            <a:ext cx="163830" cy="136208"/>
            <a:chOff x="0" y="0"/>
            <a:chExt cx="218440" cy="181610"/>
          </a:xfrm>
        </p:grpSpPr>
        <p:sp>
          <p:nvSpPr>
            <p:cNvPr id="21" name="Freeform 21"/>
            <p:cNvSpPr/>
            <p:nvPr/>
          </p:nvSpPr>
          <p:spPr>
            <a:xfrm>
              <a:off x="48719" y="49658"/>
              <a:ext cx="119485" cy="82942"/>
            </a:xfrm>
            <a:custGeom>
              <a:avLst/>
              <a:gdLst/>
              <a:ahLst/>
              <a:cxnLst/>
              <a:rect l="l" t="t" r="r" b="b"/>
              <a:pathLst>
                <a:path w="119485" h="82942">
                  <a:moveTo>
                    <a:pt x="64311" y="48132"/>
                  </a:moveTo>
                  <a:cubicBezTo>
                    <a:pt x="73201" y="36702"/>
                    <a:pt x="85901" y="54482"/>
                    <a:pt x="83361" y="58292"/>
                  </a:cubicBezTo>
                  <a:cubicBezTo>
                    <a:pt x="78281" y="65912"/>
                    <a:pt x="27481" y="68452"/>
                    <a:pt x="14781" y="59562"/>
                  </a:cubicBezTo>
                  <a:cubicBezTo>
                    <a:pt x="5891" y="53212"/>
                    <a:pt x="-459" y="31622"/>
                    <a:pt x="4621" y="22732"/>
                  </a:cubicBezTo>
                  <a:cubicBezTo>
                    <a:pt x="13511" y="8762"/>
                    <a:pt x="77011" y="-3938"/>
                    <a:pt x="94791" y="1142"/>
                  </a:cubicBezTo>
                  <a:cubicBezTo>
                    <a:pt x="106221" y="4952"/>
                    <a:pt x="115111" y="17652"/>
                    <a:pt x="115111" y="25272"/>
                  </a:cubicBezTo>
                  <a:cubicBezTo>
                    <a:pt x="115111" y="32892"/>
                    <a:pt x="104951" y="46862"/>
                    <a:pt x="97331" y="50672"/>
                  </a:cubicBezTo>
                  <a:cubicBezTo>
                    <a:pt x="90981" y="53212"/>
                    <a:pt x="79551" y="50672"/>
                    <a:pt x="74471" y="46862"/>
                  </a:cubicBezTo>
                  <a:cubicBezTo>
                    <a:pt x="68121" y="43052"/>
                    <a:pt x="64311" y="31622"/>
                    <a:pt x="64311" y="25272"/>
                  </a:cubicBezTo>
                  <a:cubicBezTo>
                    <a:pt x="64311" y="17652"/>
                    <a:pt x="70661" y="8762"/>
                    <a:pt x="77011" y="4952"/>
                  </a:cubicBezTo>
                  <a:cubicBezTo>
                    <a:pt x="82091" y="1142"/>
                    <a:pt x="94791" y="-128"/>
                    <a:pt x="99871" y="3682"/>
                  </a:cubicBezTo>
                  <a:cubicBezTo>
                    <a:pt x="107491" y="7492"/>
                    <a:pt x="116381" y="22732"/>
                    <a:pt x="115111" y="30352"/>
                  </a:cubicBezTo>
                  <a:cubicBezTo>
                    <a:pt x="113841" y="39242"/>
                    <a:pt x="103681" y="46862"/>
                    <a:pt x="92251" y="51942"/>
                  </a:cubicBezTo>
                  <a:cubicBezTo>
                    <a:pt x="75741" y="59562"/>
                    <a:pt x="36371" y="65912"/>
                    <a:pt x="21131" y="62102"/>
                  </a:cubicBezTo>
                  <a:cubicBezTo>
                    <a:pt x="12241" y="59562"/>
                    <a:pt x="4621" y="53212"/>
                    <a:pt x="2081" y="46862"/>
                  </a:cubicBezTo>
                  <a:cubicBezTo>
                    <a:pt x="-459" y="40512"/>
                    <a:pt x="-1729" y="29082"/>
                    <a:pt x="4621" y="22732"/>
                  </a:cubicBezTo>
                  <a:cubicBezTo>
                    <a:pt x="16051" y="11302"/>
                    <a:pt x="80821" y="3682"/>
                    <a:pt x="99871" y="11302"/>
                  </a:cubicBezTo>
                  <a:cubicBezTo>
                    <a:pt x="110031" y="15112"/>
                    <a:pt x="116381" y="22732"/>
                    <a:pt x="118921" y="31622"/>
                  </a:cubicBezTo>
                  <a:cubicBezTo>
                    <a:pt x="121461" y="43052"/>
                    <a:pt x="115111" y="68452"/>
                    <a:pt x="106221" y="76072"/>
                  </a:cubicBezTo>
                  <a:cubicBezTo>
                    <a:pt x="98601" y="82422"/>
                    <a:pt x="79551" y="84962"/>
                    <a:pt x="73201" y="81152"/>
                  </a:cubicBezTo>
                  <a:cubicBezTo>
                    <a:pt x="65581" y="76072"/>
                    <a:pt x="64311" y="48132"/>
                    <a:pt x="64311" y="48132"/>
                  </a:cubicBezTo>
                </a:path>
              </a:pathLst>
            </a:custGeom>
            <a:solidFill>
              <a:srgbClr val="E1EB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065115" y="9067800"/>
            <a:ext cx="85725" cy="82868"/>
            <a:chOff x="0" y="0"/>
            <a:chExt cx="114300" cy="110490"/>
          </a:xfrm>
        </p:grpSpPr>
        <p:sp>
          <p:nvSpPr>
            <p:cNvPr id="23" name="Freeform 23"/>
            <p:cNvSpPr/>
            <p:nvPr/>
          </p:nvSpPr>
          <p:spPr>
            <a:xfrm>
              <a:off x="56798" y="50800"/>
              <a:ext cx="5432" cy="4877"/>
            </a:xfrm>
            <a:custGeom>
              <a:avLst/>
              <a:gdLst/>
              <a:ahLst/>
              <a:cxnLst/>
              <a:rect l="l" t="t" r="r" b="b"/>
              <a:pathLst>
                <a:path w="5432" h="4877">
                  <a:moveTo>
                    <a:pt x="5432" y="3810"/>
                  </a:moveTo>
                  <a:cubicBezTo>
                    <a:pt x="-5998" y="7620"/>
                    <a:pt x="4162" y="0"/>
                    <a:pt x="4162" y="0"/>
                  </a:cubicBezTo>
                </a:path>
              </a:pathLst>
            </a:custGeom>
            <a:solidFill>
              <a:srgbClr val="E1EB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65115" y="9067800"/>
            <a:ext cx="85725" cy="82868"/>
            <a:chOff x="0" y="0"/>
            <a:chExt cx="114300" cy="110490"/>
          </a:xfrm>
        </p:grpSpPr>
        <p:sp>
          <p:nvSpPr>
            <p:cNvPr id="25" name="Freeform 25"/>
            <p:cNvSpPr/>
            <p:nvPr/>
          </p:nvSpPr>
          <p:spPr>
            <a:xfrm>
              <a:off x="56798" y="50800"/>
              <a:ext cx="5432" cy="4877"/>
            </a:xfrm>
            <a:custGeom>
              <a:avLst/>
              <a:gdLst/>
              <a:ahLst/>
              <a:cxnLst/>
              <a:rect l="l" t="t" r="r" b="b"/>
              <a:pathLst>
                <a:path w="5432" h="4877">
                  <a:moveTo>
                    <a:pt x="5432" y="3810"/>
                  </a:moveTo>
                  <a:cubicBezTo>
                    <a:pt x="-5998" y="7620"/>
                    <a:pt x="4162" y="0"/>
                    <a:pt x="4162" y="0"/>
                  </a:cubicBezTo>
                </a:path>
              </a:pathLst>
            </a:custGeom>
            <a:solidFill>
              <a:srgbClr val="E1EB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083212" y="9043988"/>
            <a:ext cx="112395" cy="199072"/>
            <a:chOff x="0" y="0"/>
            <a:chExt cx="149860" cy="265430"/>
          </a:xfrm>
        </p:grpSpPr>
        <p:sp>
          <p:nvSpPr>
            <p:cNvPr id="27" name="Freeform 27"/>
            <p:cNvSpPr/>
            <p:nvPr/>
          </p:nvSpPr>
          <p:spPr>
            <a:xfrm>
              <a:off x="49202" y="49927"/>
              <a:ext cx="49858" cy="163576"/>
            </a:xfrm>
            <a:custGeom>
              <a:avLst/>
              <a:gdLst/>
              <a:ahLst/>
              <a:cxnLst/>
              <a:rect l="l" t="t" r="r" b="b"/>
              <a:pathLst>
                <a:path w="49858" h="163576">
                  <a:moveTo>
                    <a:pt x="49858" y="2143"/>
                  </a:moveTo>
                  <a:cubicBezTo>
                    <a:pt x="26998" y="134223"/>
                    <a:pt x="19378" y="160893"/>
                    <a:pt x="13028" y="163433"/>
                  </a:cubicBezTo>
                  <a:cubicBezTo>
                    <a:pt x="9218" y="164703"/>
                    <a:pt x="1598" y="157083"/>
                    <a:pt x="2868" y="157083"/>
                  </a:cubicBezTo>
                  <a:cubicBezTo>
                    <a:pt x="2868" y="157083"/>
                    <a:pt x="13028" y="162163"/>
                    <a:pt x="13028" y="163433"/>
                  </a:cubicBezTo>
                  <a:cubicBezTo>
                    <a:pt x="13028" y="163433"/>
                    <a:pt x="4138" y="163433"/>
                    <a:pt x="1598" y="159623"/>
                  </a:cubicBezTo>
                  <a:cubicBezTo>
                    <a:pt x="-7292" y="144383"/>
                    <a:pt x="23188" y="11033"/>
                    <a:pt x="37158" y="873"/>
                  </a:cubicBezTo>
                  <a:cubicBezTo>
                    <a:pt x="40968" y="-1667"/>
                    <a:pt x="49858" y="2143"/>
                    <a:pt x="49858" y="2143"/>
                  </a:cubicBezTo>
                </a:path>
              </a:pathLst>
            </a:custGeom>
            <a:solidFill>
              <a:srgbClr val="E1EB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8035588" y="9063990"/>
            <a:ext cx="114300" cy="121920"/>
            <a:chOff x="0" y="0"/>
            <a:chExt cx="152400" cy="162560"/>
          </a:xfrm>
        </p:grpSpPr>
        <p:sp>
          <p:nvSpPr>
            <p:cNvPr id="29" name="Freeform 29"/>
            <p:cNvSpPr/>
            <p:nvPr/>
          </p:nvSpPr>
          <p:spPr>
            <a:xfrm>
              <a:off x="50800" y="50800"/>
              <a:ext cx="50800" cy="59812"/>
            </a:xfrm>
            <a:custGeom>
              <a:avLst/>
              <a:gdLst/>
              <a:ahLst/>
              <a:cxnLst/>
              <a:rect l="l" t="t" r="r" b="b"/>
              <a:pathLst>
                <a:path w="50800" h="59812">
                  <a:moveTo>
                    <a:pt x="0" y="48260"/>
                  </a:moveTo>
                  <a:cubicBezTo>
                    <a:pt x="44450" y="0"/>
                    <a:pt x="48260" y="10160"/>
                    <a:pt x="48260" y="10160"/>
                  </a:cubicBezTo>
                  <a:cubicBezTo>
                    <a:pt x="48260" y="10160"/>
                    <a:pt x="40640" y="0"/>
                    <a:pt x="40640" y="0"/>
                  </a:cubicBezTo>
                  <a:cubicBezTo>
                    <a:pt x="40640" y="0"/>
                    <a:pt x="49530" y="3810"/>
                    <a:pt x="50800" y="7620"/>
                  </a:cubicBezTo>
                  <a:cubicBezTo>
                    <a:pt x="50800" y="15240"/>
                    <a:pt x="31750" y="36830"/>
                    <a:pt x="22860" y="45720"/>
                  </a:cubicBezTo>
                  <a:cubicBezTo>
                    <a:pt x="16510" y="52070"/>
                    <a:pt x="8890" y="60960"/>
                    <a:pt x="5080" y="59690"/>
                  </a:cubicBezTo>
                  <a:cubicBezTo>
                    <a:pt x="2540" y="58420"/>
                    <a:pt x="0" y="48260"/>
                    <a:pt x="0" y="48260"/>
                  </a:cubicBezTo>
                </a:path>
              </a:pathLst>
            </a:custGeom>
            <a:solidFill>
              <a:srgbClr val="E1EBF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220373" y="9062085"/>
            <a:ext cx="85725" cy="130492"/>
            <a:chOff x="0" y="0"/>
            <a:chExt cx="114300" cy="173990"/>
          </a:xfrm>
        </p:grpSpPr>
        <p:sp>
          <p:nvSpPr>
            <p:cNvPr id="31" name="Freeform 31"/>
            <p:cNvSpPr/>
            <p:nvPr/>
          </p:nvSpPr>
          <p:spPr>
            <a:xfrm>
              <a:off x="49176" y="49671"/>
              <a:ext cx="14324" cy="35063"/>
            </a:xfrm>
            <a:custGeom>
              <a:avLst/>
              <a:gdLst/>
              <a:ahLst/>
              <a:cxnLst/>
              <a:rect l="l" t="t" r="r" b="b"/>
              <a:pathLst>
                <a:path w="14324" h="35063">
                  <a:moveTo>
                    <a:pt x="14324" y="1129"/>
                  </a:moveTo>
                  <a:cubicBezTo>
                    <a:pt x="9244" y="73519"/>
                    <a:pt x="-4726" y="8749"/>
                    <a:pt x="1624" y="1129"/>
                  </a:cubicBezTo>
                  <a:cubicBezTo>
                    <a:pt x="4164" y="-1411"/>
                    <a:pt x="14324" y="1129"/>
                    <a:pt x="14324" y="1129"/>
                  </a:cubicBezTo>
                </a:path>
              </a:pathLst>
            </a:custGeom>
            <a:solidFill>
              <a:srgbClr val="3047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8220373" y="9063990"/>
            <a:ext cx="85725" cy="138112"/>
            <a:chOff x="0" y="0"/>
            <a:chExt cx="114300" cy="184150"/>
          </a:xfrm>
        </p:grpSpPr>
        <p:sp>
          <p:nvSpPr>
            <p:cNvPr id="33" name="Freeform 33"/>
            <p:cNvSpPr/>
            <p:nvPr/>
          </p:nvSpPr>
          <p:spPr>
            <a:xfrm>
              <a:off x="48450" y="49671"/>
              <a:ext cx="15050" cy="39571"/>
            </a:xfrm>
            <a:custGeom>
              <a:avLst/>
              <a:gdLst/>
              <a:ahLst/>
              <a:cxnLst/>
              <a:rect l="l" t="t" r="r" b="b"/>
              <a:pathLst>
                <a:path w="15050" h="39571">
                  <a:moveTo>
                    <a:pt x="15050" y="1129"/>
                  </a:moveTo>
                  <a:cubicBezTo>
                    <a:pt x="7430" y="83679"/>
                    <a:pt x="-5270" y="8749"/>
                    <a:pt x="2350" y="1129"/>
                  </a:cubicBezTo>
                  <a:cubicBezTo>
                    <a:pt x="4890" y="-1411"/>
                    <a:pt x="15050" y="1129"/>
                    <a:pt x="15050" y="1129"/>
                  </a:cubicBezTo>
                </a:path>
              </a:pathLst>
            </a:custGeom>
            <a:solidFill>
              <a:srgbClr val="3047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218468" y="9073515"/>
            <a:ext cx="86677" cy="147638"/>
            <a:chOff x="0" y="0"/>
            <a:chExt cx="115570" cy="196850"/>
          </a:xfrm>
        </p:grpSpPr>
        <p:sp>
          <p:nvSpPr>
            <p:cNvPr id="35" name="Freeform 35"/>
            <p:cNvSpPr/>
            <p:nvPr/>
          </p:nvSpPr>
          <p:spPr>
            <a:xfrm>
              <a:off x="49007" y="49671"/>
              <a:ext cx="14493" cy="45508"/>
            </a:xfrm>
            <a:custGeom>
              <a:avLst/>
              <a:gdLst/>
              <a:ahLst/>
              <a:cxnLst/>
              <a:rect l="l" t="t" r="r" b="b"/>
              <a:pathLst>
                <a:path w="14493" h="45508">
                  <a:moveTo>
                    <a:pt x="14493" y="1129"/>
                  </a:moveTo>
                  <a:cubicBezTo>
                    <a:pt x="13223" y="96379"/>
                    <a:pt x="-5827" y="10019"/>
                    <a:pt x="1793" y="1129"/>
                  </a:cubicBezTo>
                  <a:cubicBezTo>
                    <a:pt x="4333" y="-1411"/>
                    <a:pt x="14493" y="1129"/>
                    <a:pt x="14493" y="1129"/>
                  </a:cubicBezTo>
                </a:path>
              </a:pathLst>
            </a:custGeom>
            <a:solidFill>
              <a:srgbClr val="3047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8218468" y="9026843"/>
            <a:ext cx="91440" cy="189548"/>
            <a:chOff x="0" y="0"/>
            <a:chExt cx="121920" cy="252730"/>
          </a:xfrm>
        </p:grpSpPr>
        <p:sp>
          <p:nvSpPr>
            <p:cNvPr id="37" name="Freeform 37"/>
            <p:cNvSpPr/>
            <p:nvPr/>
          </p:nvSpPr>
          <p:spPr>
            <a:xfrm>
              <a:off x="46714" y="107474"/>
              <a:ext cx="27324" cy="96044"/>
            </a:xfrm>
            <a:custGeom>
              <a:avLst/>
              <a:gdLst/>
              <a:ahLst/>
              <a:cxnLst/>
              <a:rect l="l" t="t" r="r" b="b"/>
              <a:pathLst>
                <a:path w="27324" h="96044">
                  <a:moveTo>
                    <a:pt x="11706" y="69056"/>
                  </a:moveTo>
                  <a:cubicBezTo>
                    <a:pt x="9166" y="-56674"/>
                    <a:pt x="26946" y="81756"/>
                    <a:pt x="16786" y="93186"/>
                  </a:cubicBezTo>
                  <a:cubicBezTo>
                    <a:pt x="14246" y="96996"/>
                    <a:pt x="6626" y="96996"/>
                    <a:pt x="4086" y="93186"/>
                  </a:cubicBezTo>
                  <a:cubicBezTo>
                    <a:pt x="-3534" y="85566"/>
                    <a:pt x="276" y="6826"/>
                    <a:pt x="9166" y="476"/>
                  </a:cubicBezTo>
                  <a:cubicBezTo>
                    <a:pt x="11706" y="-794"/>
                    <a:pt x="16786" y="476"/>
                    <a:pt x="19326" y="4286"/>
                  </a:cubicBezTo>
                  <a:cubicBezTo>
                    <a:pt x="25676" y="11906"/>
                    <a:pt x="30756" y="62706"/>
                    <a:pt x="24406" y="69056"/>
                  </a:cubicBezTo>
                  <a:cubicBezTo>
                    <a:pt x="21866" y="71596"/>
                    <a:pt x="11706" y="69056"/>
                    <a:pt x="11706" y="69056"/>
                  </a:cubicBezTo>
                </a:path>
              </a:pathLst>
            </a:custGeom>
            <a:solidFill>
              <a:srgbClr val="3047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6308"/>
            <a:ext cx="11611745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Commercialization Potential of the AI Tourism Platform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33014"/>
            <a:ext cx="10346331" cy="540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Investment / Cost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System development by student team (no external labour cost)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Cloud hosting and servers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API services (maps, traffic, LLM)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Database and system maintenance</a:t>
            </a:r>
          </a:p>
          <a:p>
            <a:pPr algn="l">
              <a:lnSpc>
                <a:spcPts val="3213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Cost Recovery (Pricing)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Subscription service for travel agencies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Commission from hotel and activity bookings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Premium AI travel planning service for tourists</a:t>
            </a:r>
          </a:p>
          <a:p>
            <a:pPr algn="l">
              <a:lnSpc>
                <a:spcPts val="3213"/>
              </a:lnSpc>
            </a:pPr>
            <a:r>
              <a:rPr lang="en-US" sz="2100" b="1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Market &amp; Customers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Target Market: Tourism industry in Sri Lanka</a:t>
            </a:r>
          </a:p>
          <a:p>
            <a:pPr marL="453390" lvl="1" indent="-226695" algn="l">
              <a:lnSpc>
                <a:spcPts val="3213"/>
              </a:lnSpc>
              <a:buFont typeface="Arial"/>
              <a:buChar char="•"/>
            </a:pPr>
            <a:r>
              <a:rPr lang="en-US" sz="210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Customers: International tourists, travel agencies, tour operators</a:t>
            </a:r>
          </a:p>
          <a:p>
            <a:pPr algn="l">
              <a:lnSpc>
                <a:spcPts val="3213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213"/>
              </a:lnSpc>
            </a:pPr>
            <a:endParaRPr lang="en-US" sz="210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21517" y="2133014"/>
            <a:ext cx="7702935" cy="4458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Intellectual Property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AI-based tour package generation system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Tourism knowledge graph dataset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Custom </a:t>
            </a:r>
            <a:r>
              <a:rPr lang="en-US" sz="2100" dirty="0" err="1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GraphRAG</a:t>
            </a: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-based itinerary generation framework</a:t>
            </a:r>
          </a:p>
          <a:p>
            <a:pPr algn="l">
              <a:lnSpc>
                <a:spcPts val="2961"/>
              </a:lnSpc>
            </a:pPr>
            <a:r>
              <a:rPr lang="en-US" sz="2100" b="1" dirty="0">
                <a:solidFill>
                  <a:srgbClr val="062939"/>
                </a:solidFill>
                <a:latin typeface="Poppins Bold"/>
                <a:ea typeface="Poppins Bold"/>
                <a:cs typeface="Poppins Bold"/>
                <a:sym typeface="Poppins Bold"/>
              </a:rPr>
              <a:t>Value Proposition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Generates personalized tour packages automatically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Integrates hotels, activities, and transport in one system</a:t>
            </a:r>
          </a:p>
          <a:p>
            <a:pPr marL="453390" lvl="1" indent="-226695" algn="l">
              <a:lnSpc>
                <a:spcPts val="2961"/>
              </a:lnSpc>
              <a:buFont typeface="Arial"/>
              <a:buChar char="•"/>
            </a:pPr>
            <a:r>
              <a:rPr lang="en-US" sz="2100" dirty="0">
                <a:solidFill>
                  <a:srgbClr val="062939"/>
                </a:solidFill>
                <a:latin typeface="Poppins"/>
                <a:ea typeface="Poppins"/>
                <a:cs typeface="Poppins"/>
                <a:sym typeface="Poppins"/>
              </a:rPr>
              <a:t>Uses AI + Knowledge Graph for smart travel planning</a:t>
            </a:r>
          </a:p>
          <a:p>
            <a:pPr algn="l">
              <a:lnSpc>
                <a:spcPts val="2961"/>
              </a:lnSpc>
            </a:pPr>
            <a:endParaRPr lang="en-US" sz="2100" dirty="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61"/>
              </a:lnSpc>
            </a:pPr>
            <a:endParaRPr lang="en-US" sz="2100" dirty="0">
              <a:solidFill>
                <a:srgbClr val="0629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418569" y="2067086"/>
            <a:ext cx="10279135" cy="5965183"/>
          </a:xfrm>
          <a:custGeom>
            <a:avLst/>
            <a:gdLst/>
            <a:ahLst/>
            <a:cxnLst/>
            <a:rect l="l" t="t" r="r" b="b"/>
            <a:pathLst>
              <a:path w="10279135" h="5965183">
                <a:moveTo>
                  <a:pt x="0" y="0"/>
                </a:moveTo>
                <a:lnTo>
                  <a:pt x="10279135" y="0"/>
                </a:lnTo>
                <a:lnTo>
                  <a:pt x="10279135" y="5965183"/>
                </a:lnTo>
                <a:lnTo>
                  <a:pt x="0" y="596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56308"/>
            <a:ext cx="11611745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Grant Chart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8832" y="-1155706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10" y="0"/>
                </a:lnTo>
                <a:lnTo>
                  <a:pt x="4381310" y="1752523"/>
                </a:lnTo>
                <a:lnTo>
                  <a:pt x="0" y="17525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4697704" y="9613182"/>
            <a:ext cx="4381310" cy="1752524"/>
          </a:xfrm>
          <a:custGeom>
            <a:avLst/>
            <a:gdLst/>
            <a:ahLst/>
            <a:cxnLst/>
            <a:rect l="l" t="t" r="r" b="b"/>
            <a:pathLst>
              <a:path w="4381310" h="1752524">
                <a:moveTo>
                  <a:pt x="0" y="0"/>
                </a:moveTo>
                <a:lnTo>
                  <a:pt x="4381309" y="0"/>
                </a:lnTo>
                <a:lnTo>
                  <a:pt x="4381309" y="1752524"/>
                </a:lnTo>
                <a:lnTo>
                  <a:pt x="0" y="17525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6308"/>
            <a:ext cx="11611745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00" b="1">
                <a:solidFill>
                  <a:srgbClr val="146C94"/>
                </a:solidFill>
                <a:latin typeface="Poppins Bold"/>
                <a:ea typeface="Poppins Bold"/>
                <a:cs typeface="Poppins Bold"/>
                <a:sym typeface="Poppins Bold"/>
              </a:rPr>
              <a:t>Work breakdown structure</a:t>
            </a:r>
          </a:p>
          <a:p>
            <a:pPr algn="l">
              <a:lnSpc>
                <a:spcPts val="4512"/>
              </a:lnSpc>
            </a:pPr>
            <a:endParaRPr lang="en-US" sz="3200" b="1">
              <a:solidFill>
                <a:srgbClr val="146C9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3279620" y="2761664"/>
            <a:ext cx="10531145" cy="6152828"/>
          </a:xfrm>
          <a:custGeom>
            <a:avLst/>
            <a:gdLst/>
            <a:ahLst/>
            <a:cxnLst/>
            <a:rect l="l" t="t" r="r" b="b"/>
            <a:pathLst>
              <a:path w="10531145" h="6152828">
                <a:moveTo>
                  <a:pt x="0" y="0"/>
                </a:moveTo>
                <a:lnTo>
                  <a:pt x="10531144" y="0"/>
                </a:lnTo>
                <a:lnTo>
                  <a:pt x="10531144" y="6152828"/>
                </a:lnTo>
                <a:lnTo>
                  <a:pt x="0" y="6152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3" ma:contentTypeDescription="Create a new document." ma:contentTypeScope="" ma:versionID="ed8957265f396ef1a05f01d558c99f69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1597c9238c56ccca7c2d5e0a413be07c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1DF740-80C4-4310-B13B-345AEC6927CD}"/>
</file>

<file path=customXml/itemProps2.xml><?xml version="1.0" encoding="utf-8"?>
<ds:datastoreItem xmlns:ds="http://schemas.openxmlformats.org/officeDocument/2006/customXml" ds:itemID="{D9629BDA-251E-4B71-B33D-79C6D59093AC}"/>
</file>

<file path=customXml/itemProps3.xml><?xml version="1.0" encoding="utf-8"?>
<ds:datastoreItem xmlns:ds="http://schemas.openxmlformats.org/officeDocument/2006/customXml" ds:itemID="{BA22F9A4-7EC1-43CB-8B95-432F08CE6E2F}"/>
</file>

<file path=docProps/app.xml><?xml version="1.0" encoding="utf-8"?>
<Properties xmlns="http://schemas.openxmlformats.org/officeDocument/2006/extended-properties" xmlns:vt="http://schemas.openxmlformats.org/officeDocument/2006/docPropsVTypes">
  <TotalTime>2061</TotalTime>
  <Words>3159</Words>
  <Application>Microsoft Macintosh PowerPoint</Application>
  <PresentationFormat>Custom</PresentationFormat>
  <Paragraphs>357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Calibri (MS) Bold</vt:lpstr>
      <vt:lpstr>Poppins Light</vt:lpstr>
      <vt:lpstr>Arial</vt:lpstr>
      <vt:lpstr>Poppins</vt:lpstr>
      <vt:lpstr>Calibri</vt:lpstr>
      <vt:lpstr>Poppins Bold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Unified Sri Lankan Tourism Platform </dc:title>
  <cp:lastModifiedBy>WIJESINGHE I.D.W. it22555458</cp:lastModifiedBy>
  <cp:revision>2</cp:revision>
  <dcterms:created xsi:type="dcterms:W3CDTF">2006-08-16T00:00:00Z</dcterms:created>
  <dcterms:modified xsi:type="dcterms:W3CDTF">2026-03-18T14:49:25Z</dcterms:modified>
  <dc:identifier>DAHEAjvrYRI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